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56" r:id="rId2"/>
    <p:sldId id="258" r:id="rId3"/>
    <p:sldId id="274" r:id="rId4"/>
    <p:sldId id="275" r:id="rId5"/>
    <p:sldId id="259" r:id="rId6"/>
    <p:sldId id="260" r:id="rId7"/>
    <p:sldId id="277" r:id="rId8"/>
    <p:sldId id="465" r:id="rId9"/>
    <p:sldId id="326" r:id="rId10"/>
    <p:sldId id="469" r:id="rId11"/>
    <p:sldId id="381" r:id="rId12"/>
    <p:sldId id="324" r:id="rId13"/>
    <p:sldId id="452" r:id="rId14"/>
    <p:sldId id="466" r:id="rId15"/>
    <p:sldId id="426" r:id="rId16"/>
    <p:sldId id="446" r:id="rId17"/>
    <p:sldId id="447" r:id="rId18"/>
    <p:sldId id="448" r:id="rId19"/>
    <p:sldId id="449" r:id="rId20"/>
    <p:sldId id="450" r:id="rId21"/>
    <p:sldId id="451" r:id="rId22"/>
    <p:sldId id="422" r:id="rId23"/>
    <p:sldId id="456" r:id="rId24"/>
    <p:sldId id="444" r:id="rId25"/>
    <p:sldId id="436" r:id="rId26"/>
    <p:sldId id="397" r:id="rId27"/>
    <p:sldId id="336" r:id="rId28"/>
    <p:sldId id="337" r:id="rId29"/>
    <p:sldId id="417" r:id="rId30"/>
    <p:sldId id="282" r:id="rId31"/>
    <p:sldId id="283" r:id="rId32"/>
    <p:sldId id="467" r:id="rId33"/>
    <p:sldId id="424" r:id="rId34"/>
    <p:sldId id="430" r:id="rId35"/>
    <p:sldId id="470" r:id="rId36"/>
    <p:sldId id="471" r:id="rId3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38" autoAdjust="0"/>
    <p:restoredTop sz="94660"/>
  </p:normalViewPr>
  <p:slideViewPr>
    <p:cSldViewPr snapToGrid="0" showGuides="1">
      <p:cViewPr>
        <p:scale>
          <a:sx n="66" d="100"/>
          <a:sy n="66" d="100"/>
        </p:scale>
        <p:origin x="2238" y="9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20C9D2-E7F0-4459-8354-8B29A71D44C0}" type="datetimeFigureOut">
              <a:rPr lang="de-DE" smtClean="0"/>
              <a:t>19.09.2025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023CB7-2CB8-4190-8847-B25E01E6710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28508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D3A09A-1B8A-44B0-BA9A-5FE5E833DE28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42828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5125481-B8D9-45E6-A659-E1666BA5B369}" type="slidenum">
              <a:rPr kumimoji="0" lang="de-DE" altLang="de-DE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de-DE" altLang="de-DE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467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5725" y="744538"/>
            <a:ext cx="6610350" cy="3719512"/>
          </a:xfrm>
          <a:ln/>
        </p:spPr>
      </p:sp>
      <p:sp>
        <p:nvSpPr>
          <p:cNvPr id="1467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de-DE"/>
          </a:p>
        </p:txBody>
      </p:sp>
    </p:spTree>
    <p:extLst>
      <p:ext uri="{BB962C8B-B14F-4D97-AF65-F5344CB8AC3E}">
        <p14:creationId xmlns:p14="http://schemas.microsoft.com/office/powerpoint/2010/main" val="34459749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1e3d1021c37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1e3d1021c37_0_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g1e3d1021c37_0_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de-DE"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280649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de-DE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fld>
            <a:endParaRPr lang="de-DE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885230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Titelmasterformat durch Klicken bearbeiten</a:t>
            </a:r>
            <a:endParaRPr lang="en-GB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  <a:endParaRPr lang="en-GB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4E16C-33D9-4B19-9FAC-DCF90033C15B}" type="datetimeFigureOut">
              <a:rPr lang="en-GB" smtClean="0"/>
              <a:t>19/09/2025</a:t>
            </a:fld>
            <a:endParaRPr lang="en-GB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864B6-4CE0-4546-8217-BE4A9A9B8A69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19189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 b="1">
                <a:solidFill>
                  <a:srgbClr val="C00000"/>
                </a:solidFill>
              </a:defRPr>
            </a:lvl1pPr>
          </a:lstStyle>
          <a:p>
            <a:r>
              <a:rPr lang="de-DE" dirty="0"/>
              <a:t>Titelmasterformat durch Klicken bearbeiten</a:t>
            </a:r>
            <a:endParaRPr lang="en-GB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28473" y="1660124"/>
            <a:ext cx="11425561" cy="4929362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1159970" y="6475058"/>
            <a:ext cx="594064" cy="365125"/>
          </a:xfrm>
        </p:spPr>
        <p:txBody>
          <a:bodyPr/>
          <a:lstStyle/>
          <a:p>
            <a:fld id="{567864B6-4CE0-4546-8217-BE4A9A9B8A69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03544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Titelmasterformat durch Klicken bearbeiten</a:t>
            </a:r>
            <a:endParaRPr lang="en-GB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4E16C-33D9-4B19-9FAC-DCF90033C15B}" type="datetimeFigureOut">
              <a:rPr lang="en-GB" smtClean="0"/>
              <a:t>19/09/2025</a:t>
            </a:fld>
            <a:endParaRPr lang="en-GB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864B6-4CE0-4546-8217-BE4A9A9B8A69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6912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GB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4E16C-33D9-4B19-9FAC-DCF90033C15B}" type="datetimeFigureOut">
              <a:rPr lang="en-GB" smtClean="0"/>
              <a:t>19/09/2025</a:t>
            </a:fld>
            <a:endParaRPr lang="en-GB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864B6-4CE0-4546-8217-BE4A9A9B8A69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6233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en-GB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4E16C-33D9-4B19-9FAC-DCF90033C15B}" type="datetimeFigureOut">
              <a:rPr lang="en-GB" smtClean="0"/>
              <a:t>19/09/2025</a:t>
            </a:fld>
            <a:endParaRPr lang="en-GB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864B6-4CE0-4546-8217-BE4A9A9B8A69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3876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GB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4E16C-33D9-4B19-9FAC-DCF90033C15B}" type="datetimeFigureOut">
              <a:rPr lang="en-GB" smtClean="0"/>
              <a:t>19/09/2025</a:t>
            </a:fld>
            <a:endParaRPr lang="en-GB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864B6-4CE0-4546-8217-BE4A9A9B8A69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0529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4E16C-33D9-4B19-9FAC-DCF90033C15B}" type="datetimeFigureOut">
              <a:rPr lang="en-GB" smtClean="0"/>
              <a:t>19/09/2025</a:t>
            </a:fld>
            <a:endParaRPr lang="en-GB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864B6-4CE0-4546-8217-BE4A9A9B8A69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0410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  <a:endParaRPr lang="en-GB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4E16C-33D9-4B19-9FAC-DCF90033C15B}" type="datetimeFigureOut">
              <a:rPr lang="en-GB" smtClean="0"/>
              <a:t>19/09/2025</a:t>
            </a:fld>
            <a:endParaRPr lang="en-GB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864B6-4CE0-4546-8217-BE4A9A9B8A69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99647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  <a:endParaRPr lang="en-GB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4E16C-33D9-4B19-9FAC-DCF90033C15B}" type="datetimeFigureOut">
              <a:rPr lang="en-GB" smtClean="0"/>
              <a:t>19/09/2025</a:t>
            </a:fld>
            <a:endParaRPr lang="en-GB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864B6-4CE0-4546-8217-BE4A9A9B8A69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71788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GB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4E16C-33D9-4B19-9FAC-DCF90033C15B}" type="datetimeFigureOut">
              <a:rPr lang="en-GB" smtClean="0"/>
              <a:t>19/09/2025</a:t>
            </a:fld>
            <a:endParaRPr lang="en-GB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864B6-4CE0-4546-8217-BE4A9A9B8A69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8482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  <a:endParaRPr lang="en-GB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4E16C-33D9-4B19-9FAC-DCF90033C15B}" type="datetimeFigureOut">
              <a:rPr lang="en-GB" smtClean="0"/>
              <a:t>19/09/2025</a:t>
            </a:fld>
            <a:endParaRPr lang="en-GB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864B6-4CE0-4546-8217-BE4A9A9B8A69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66031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  <a:endParaRPr lang="en-GB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04E16C-33D9-4B19-9FAC-DCF90033C15B}" type="datetimeFigureOut">
              <a:rPr lang="en-GB" smtClean="0"/>
              <a:t>19/09/2025</a:t>
            </a:fld>
            <a:endParaRPr lang="en-GB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7864B6-4CE0-4546-8217-BE4A9A9B8A69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2333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hyperlink" Target="https://www.ncbi.nlm.nih.gov/mesh/" TargetMode="Externa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en-word.net/" TargetMode="Externa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browser.ihtsdotools.org/?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w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w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hyperlink" Target="https://docs.google.com/document/d/1BQPL8sNIMorRb9qdvsZL0ckpmx2DILsZF6bewRduvWI/edit?tab=t.0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forms/d/1PNgSbI_9NTzVH4VzREOvvRJFdC00aNF_Lcx-K4XH_bk/edit#responses" TargetMode="External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://purl.org/steschu" TargetMode="External"/><Relationship Id="rId2" Type="http://schemas.openxmlformats.org/officeDocument/2006/relationships/hyperlink" Target="mailto:stefan.Schulz@medunigraz.at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788894" y="2325637"/>
            <a:ext cx="10614212" cy="2148433"/>
          </a:xfrm>
        </p:spPr>
        <p:txBody>
          <a:bodyPr>
            <a:noAutofit/>
          </a:bodyPr>
          <a:lstStyle/>
          <a:p>
            <a:r>
              <a:rPr lang="en-GB" sz="4800" b="1" dirty="0">
                <a:solidFill>
                  <a:srgbClr val="C00000"/>
                </a:solidFill>
              </a:rPr>
              <a:t>Ontology, Terminology and Natural Language</a:t>
            </a:r>
            <a:br>
              <a:rPr lang="en-GB" sz="4800" b="1" dirty="0">
                <a:solidFill>
                  <a:srgbClr val="C00000"/>
                </a:solidFill>
              </a:rPr>
            </a:br>
            <a:endParaRPr lang="en-GB" sz="4800" dirty="0">
              <a:solidFill>
                <a:srgbClr val="C00000"/>
              </a:solidFill>
            </a:endParaRP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4680346"/>
            <a:ext cx="9144000" cy="870821"/>
          </a:xfrm>
        </p:spPr>
        <p:txBody>
          <a:bodyPr/>
          <a:lstStyle/>
          <a:p>
            <a:pPr hangingPunct="0"/>
            <a:r>
              <a:rPr lang="en-GB" dirty="0"/>
              <a:t>Stefan Schulz</a:t>
            </a:r>
            <a:r>
              <a:rPr lang="en-GB" baseline="30000" dirty="0"/>
              <a:t>1,2 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090FC9CD-403A-7BFE-6C71-5DF539B8A135}"/>
              </a:ext>
            </a:extLst>
          </p:cNvPr>
          <p:cNvSpPr txBox="1"/>
          <p:nvPr/>
        </p:nvSpPr>
        <p:spPr>
          <a:xfrm>
            <a:off x="1107141" y="5757443"/>
            <a:ext cx="999564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600" baseline="30000" dirty="0"/>
              <a:t>1</a:t>
            </a:r>
            <a:r>
              <a:rPr lang="en-GB" sz="1600" dirty="0"/>
              <a:t>Institute for Medical Informatics, Statistics and Documentation, Medical University of Graz, Austria</a:t>
            </a:r>
            <a:br>
              <a:rPr lang="en-GB" sz="1600" dirty="0"/>
            </a:br>
            <a:r>
              <a:rPr lang="en-GB" sz="1600" baseline="30000" dirty="0"/>
              <a:t>2</a:t>
            </a:r>
            <a:r>
              <a:rPr lang="en-GB" sz="1600" dirty="0"/>
              <a:t>Averbis GmbH, Freiburg, Germany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EAD353B-4A80-7B32-BC60-2E498E1830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5037"/>
            <a:ext cx="12185781" cy="1425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628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F26EFD-B87C-14AB-2367-F850BC285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Motivation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197C3DC-3016-17A0-FB73-44636D8F21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8473" y="1660124"/>
            <a:ext cx="11425561" cy="5197876"/>
          </a:xfrm>
        </p:spPr>
        <p:txBody>
          <a:bodyPr>
            <a:normAutofit/>
          </a:bodyPr>
          <a:lstStyle/>
          <a:p>
            <a:r>
              <a:rPr lang="en-GB" dirty="0"/>
              <a:t>Ontologies depend on precise terminology. Natural language is ambiguous, but terminologies enforce consistency</a:t>
            </a:r>
          </a:p>
          <a:p>
            <a:r>
              <a:rPr lang="en-GB" dirty="0"/>
              <a:t>Domain ontologies</a:t>
            </a:r>
          </a:p>
          <a:p>
            <a:pPr lvl="1"/>
            <a:r>
              <a:rPr lang="en-GB" dirty="0"/>
              <a:t>If seen as a theory of types of domain entities, their elements need to be linked to natural language terms used by denoting those entities</a:t>
            </a:r>
          </a:p>
          <a:p>
            <a:pPr lvl="1"/>
            <a:r>
              <a:rPr lang="en-GB" dirty="0"/>
              <a:t>If seen as specifications what terms mean in a shared way, their elements need to be linked to these natural language terms (or groups thereof)</a:t>
            </a:r>
          </a:p>
          <a:p>
            <a:r>
              <a:rPr lang="en-GB" dirty="0"/>
              <a:t>Domain terminology systems (thesauri, vocabularies, lexicons)</a:t>
            </a:r>
          </a:p>
          <a:p>
            <a:pPr lvl="1"/>
            <a:r>
              <a:rPr lang="en-GB" dirty="0"/>
              <a:t>Collect and describe lexical items (words, multiword expressions) in terms of</a:t>
            </a:r>
          </a:p>
          <a:p>
            <a:pPr lvl="2"/>
            <a:r>
              <a:rPr lang="en-GB" dirty="0"/>
              <a:t>Synonyms, broader / narrower terms, translations</a:t>
            </a:r>
          </a:p>
          <a:p>
            <a:pPr lvl="2"/>
            <a:r>
              <a:rPr lang="en-GB" dirty="0"/>
              <a:t>Grammar, morphology</a:t>
            </a:r>
          </a:p>
          <a:p>
            <a:pPr lvl="2"/>
            <a:r>
              <a:rPr lang="en-GB" dirty="0"/>
              <a:t>Free-text definitions to standardize meanings</a:t>
            </a:r>
          </a:p>
          <a:p>
            <a:pPr lvl="2"/>
            <a:r>
              <a:rPr lang="en-GB" dirty="0"/>
              <a:t>Preferred terms / labels: unambiguous, self explaining, not necessarily "popular"</a:t>
            </a:r>
          </a:p>
          <a:p>
            <a:pPr lvl="1"/>
            <a:endParaRPr lang="en-GB" dirty="0"/>
          </a:p>
          <a:p>
            <a:pPr lvl="1"/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00873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24343F-C9CA-D3F2-2ACE-89AC4E73C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Example: </a:t>
            </a:r>
            <a:br>
              <a:rPr lang="en-GB"/>
            </a:br>
            <a:r>
              <a:rPr lang="en-GB"/>
              <a:t>MeSH</a:t>
            </a:r>
            <a:endParaRPr lang="en-GB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023D93DF-3F91-DB6B-E9D9-C3B48E0693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266" y="1468120"/>
            <a:ext cx="4882173" cy="940112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1670675B-4356-60D2-515E-D972D65710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637" y="2694607"/>
            <a:ext cx="5939799" cy="2916484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7B423A94-1601-4622-1423-65259B6275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6303" y="1418466"/>
            <a:ext cx="5087060" cy="5439534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04BF461D-7A3C-009C-8A50-92074F4ABB61}"/>
              </a:ext>
            </a:extLst>
          </p:cNvPr>
          <p:cNvSpPr txBox="1"/>
          <p:nvPr/>
        </p:nvSpPr>
        <p:spPr>
          <a:xfrm>
            <a:off x="272266" y="6447190"/>
            <a:ext cx="622150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>
                <a:hlinkClick r:id="rId5"/>
              </a:rPr>
              <a:t>https://www.ncbi.nlm.nih.gov/mesh/</a:t>
            </a:r>
            <a:r>
              <a:rPr lang="en-GB" sz="1400"/>
              <a:t> </a:t>
            </a:r>
            <a:endParaRPr lang="en-GB" sz="1400" dirty="0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00159FFC-20D1-F2F0-AA8E-1EE38FC283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13352" y="426926"/>
            <a:ext cx="9247041" cy="598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9215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E895D-EC6E-857F-C6C1-8785571E8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E71C06-ECE6-3C91-BF1F-2AD98278C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Example: WordNet</a:t>
            </a:r>
            <a:endParaRPr lang="en-GB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3737FF9C-DAD1-FD5B-A4DA-CD5B2458A2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2236" y="140150"/>
            <a:ext cx="4524596" cy="1045262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A57CFCFB-3A5B-B575-B7C9-B175EC6C70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922" y="1325562"/>
            <a:ext cx="10536120" cy="504895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C4B86AD9-C5FC-1ACB-F33F-7776B77AF3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3066" y="1830457"/>
            <a:ext cx="8875831" cy="4880207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0519FEE1-A4C7-2EFE-8EBA-B0A06A82E6B6}"/>
              </a:ext>
            </a:extLst>
          </p:cNvPr>
          <p:cNvSpPr txBox="1"/>
          <p:nvPr/>
        </p:nvSpPr>
        <p:spPr>
          <a:xfrm>
            <a:off x="10306945" y="6410073"/>
            <a:ext cx="17839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>
                <a:hlinkClick r:id="rId5"/>
              </a:rPr>
              <a:t>https://en-word.net/</a:t>
            </a:r>
            <a:r>
              <a:rPr lang="en-GB" sz="1400"/>
              <a:t> 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939192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074F0-1172-0385-BBBD-2713370CC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25B613-3236-60C7-7DB2-8064109D4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Bringing ontology and terminology together:</a:t>
            </a:r>
            <a:br>
              <a:rPr lang="en-GB" dirty="0"/>
            </a:br>
            <a:r>
              <a:rPr lang="en-GB" dirty="0"/>
              <a:t>Example: SNOMED CT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DF82207D-C81D-7370-8DFC-58B178F057AB}"/>
              </a:ext>
            </a:extLst>
          </p:cNvPr>
          <p:cNvSpPr/>
          <p:nvPr/>
        </p:nvSpPr>
        <p:spPr>
          <a:xfrm>
            <a:off x="5217952" y="2491766"/>
            <a:ext cx="1872208" cy="57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SNOMED IDs</a:t>
            </a: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3216FF0C-E27A-59E7-9C1E-97C6E1E839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5743" y="3099885"/>
            <a:ext cx="2234797" cy="751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29B2858C-96CE-2C04-EF85-ED7CEBD7C003}"/>
              </a:ext>
            </a:extLst>
          </p:cNvPr>
          <p:cNvSpPr txBox="1"/>
          <p:nvPr/>
        </p:nvSpPr>
        <p:spPr>
          <a:xfrm>
            <a:off x="0" y="1583002"/>
            <a:ext cx="6106430" cy="40011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solidFill>
                  <a:schemeClr val="bg1"/>
                </a:solidFill>
              </a:rPr>
              <a:t>Ontology: Description of the domain</a:t>
            </a:r>
            <a:endParaRPr lang="en-GB" sz="2000" dirty="0">
              <a:solidFill>
                <a:schemeClr val="bg1"/>
              </a:solidFill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531C9863-B5C6-E5B5-6D0C-C46F37A44A1C}"/>
              </a:ext>
            </a:extLst>
          </p:cNvPr>
          <p:cNvSpPr txBox="1"/>
          <p:nvPr/>
        </p:nvSpPr>
        <p:spPr>
          <a:xfrm>
            <a:off x="6201682" y="1583002"/>
            <a:ext cx="5990318" cy="40011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wrap="square" rtlCol="0">
            <a:spAutoFit/>
          </a:bodyPr>
          <a:lstStyle>
            <a:defPPr>
              <a:defRPr lang="de-DE"/>
            </a:defPPr>
            <a:lvl1pPr algn="ctr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Terminology: Description of the domain language</a:t>
            </a:r>
            <a:endParaRPr lang="en-GB" b="0" dirty="0"/>
          </a:p>
        </p:txBody>
      </p:sp>
      <p:pic>
        <p:nvPicPr>
          <p:cNvPr id="12" name="Picture 2" descr="World Globe Earth - Free image on Pixabay">
            <a:extLst>
              <a:ext uri="{FF2B5EF4-FFF2-40B4-BE49-F238E27FC236}">
                <a16:creationId xmlns:a16="http://schemas.microsoft.com/office/drawing/2014/main" id="{B47FF4E1-4001-D0D4-B6E5-4AB0CF2480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336" y="5064868"/>
            <a:ext cx="1641924" cy="1641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16710450-3450-1310-A404-C43DFFC129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6740" y="5305045"/>
            <a:ext cx="1715520" cy="1552955"/>
          </a:xfrm>
          <a:prstGeom prst="rect">
            <a:avLst/>
          </a:prstGeom>
        </p:spPr>
      </p:pic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92F8DB6A-5E7A-668D-CABF-32F1C7227F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5260" y="2176589"/>
            <a:ext cx="4039101" cy="3655431"/>
          </a:xfrm>
        </p:spPr>
        <p:txBody>
          <a:bodyPr vert="horz" lIns="0" tIns="0" rIns="0" bIns="0" rtlCol="0">
            <a:noAutofit/>
          </a:bodyPr>
          <a:lstStyle/>
          <a:p>
            <a:pPr marL="324000" lvl="2" indent="-324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75000"/>
              <a:buFont typeface="Wingdings 3" panose="05040102010807070707" pitchFamily="18" charset="2"/>
              <a:buChar char=""/>
            </a:pPr>
            <a:r>
              <a:rPr lang="en-GB" sz="3200" dirty="0"/>
              <a:t>SNOMED CT concepts</a:t>
            </a:r>
          </a:p>
          <a:p>
            <a:pPr marL="648000" lvl="3" indent="-324000">
              <a:spcBef>
                <a:spcPts val="0"/>
              </a:spcBef>
              <a:buClr>
                <a:schemeClr val="accent1"/>
              </a:buClr>
              <a:buSzPct val="75000"/>
              <a:buFont typeface="Wingdings 3" panose="05040102010807070707" pitchFamily="18" charset="2"/>
              <a:buChar char=""/>
            </a:pPr>
            <a:r>
              <a:rPr lang="en-GB" sz="2400" dirty="0"/>
              <a:t>Classes</a:t>
            </a:r>
          </a:p>
          <a:p>
            <a:pPr marL="648000" lvl="3" indent="-324000">
              <a:spcBef>
                <a:spcPts val="0"/>
              </a:spcBef>
              <a:buClr>
                <a:schemeClr val="accent1"/>
              </a:buClr>
              <a:buSzPct val="75000"/>
              <a:buFont typeface="Wingdings 3" panose="05040102010807070707" pitchFamily="18" charset="2"/>
              <a:buChar char=""/>
            </a:pPr>
            <a:r>
              <a:rPr lang="en-GB" sz="2400" dirty="0"/>
              <a:t>Attributes (relations)</a:t>
            </a:r>
          </a:p>
          <a:p>
            <a:pPr marL="324000" lvl="2" indent="-324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75000"/>
              <a:buFont typeface="Wingdings 3" panose="05040102010807070707" pitchFamily="18" charset="2"/>
              <a:buChar char=""/>
            </a:pPr>
            <a:r>
              <a:rPr lang="en-GB" sz="3200" dirty="0"/>
              <a:t>(Poly)Hierarchies</a:t>
            </a:r>
          </a:p>
          <a:p>
            <a:pPr marL="324000" lvl="2" indent="-324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75000"/>
              <a:buFont typeface="Wingdings 3" panose="05040102010807070707" pitchFamily="18" charset="2"/>
              <a:buChar char=""/>
            </a:pPr>
            <a:r>
              <a:rPr lang="en-GB" sz="3200" dirty="0"/>
              <a:t>Axioms</a:t>
            </a:r>
          </a:p>
          <a:p>
            <a:pPr marL="648000" lvl="3" indent="-324000">
              <a:spcBef>
                <a:spcPts val="0"/>
              </a:spcBef>
              <a:buClr>
                <a:schemeClr val="accent1"/>
              </a:buClr>
              <a:buSzPct val="75000"/>
              <a:buFont typeface="Wingdings 3" panose="05040102010807070707" pitchFamily="18" charset="2"/>
              <a:buChar char=""/>
            </a:pPr>
            <a:r>
              <a:rPr lang="en-GB" sz="2400" dirty="0"/>
              <a:t>Relationships (Triples +)</a:t>
            </a:r>
          </a:p>
          <a:p>
            <a:pPr marL="648000" lvl="3" indent="-324000">
              <a:spcBef>
                <a:spcPts val="0"/>
              </a:spcBef>
              <a:buClr>
                <a:schemeClr val="accent1"/>
              </a:buClr>
              <a:buSzPct val="75000"/>
              <a:buFont typeface="Wingdings 3" panose="05040102010807070707" pitchFamily="18" charset="2"/>
              <a:buChar char=""/>
            </a:pPr>
            <a:r>
              <a:rPr lang="en-GB" sz="2400" dirty="0"/>
              <a:t>OWL expressions</a:t>
            </a:r>
          </a:p>
          <a:p>
            <a:pPr marL="648000" lvl="3" indent="-324000">
              <a:spcBef>
                <a:spcPts val="0"/>
              </a:spcBef>
              <a:buClr>
                <a:schemeClr val="accent1"/>
              </a:buClr>
              <a:buSzPct val="75000"/>
              <a:buFont typeface="Wingdings 3" panose="05040102010807070707" pitchFamily="18" charset="2"/>
              <a:buChar char=""/>
            </a:pPr>
            <a:r>
              <a:rPr lang="en-GB" sz="2400" dirty="0"/>
              <a:t>Transferrable to EL++  </a:t>
            </a:r>
          </a:p>
          <a:p>
            <a:pPr marL="190800" lvl="2" indent="-324000">
              <a:spcBef>
                <a:spcPts val="0"/>
              </a:spcBef>
              <a:buClr>
                <a:schemeClr val="accent1"/>
              </a:buClr>
              <a:buSzPct val="75000"/>
              <a:buFont typeface="Wingdings 3" panose="05040102010807070707" pitchFamily="18" charset="2"/>
              <a:buChar char=""/>
            </a:pPr>
            <a:r>
              <a:rPr lang="en-GB" sz="3200" dirty="0"/>
              <a:t>Mappings</a:t>
            </a:r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9EA2C0E4-9406-DFBE-C0F4-CD00246698B9}"/>
              </a:ext>
            </a:extLst>
          </p:cNvPr>
          <p:cNvSpPr txBox="1">
            <a:spLocks/>
          </p:cNvSpPr>
          <p:nvPr/>
        </p:nvSpPr>
        <p:spPr>
          <a:xfrm>
            <a:off x="6900287" y="2230399"/>
            <a:ext cx="3825769" cy="365543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Font typeface="Arial" panose="020B0604020202020204" pitchFamily="34" charset="0"/>
              <a:buNone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24000" indent="-324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75000"/>
              <a:buFont typeface="Wingdings 3" panose="05040102010807070707" pitchFamily="18" charset="2"/>
              <a:buChar char="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48000" indent="-324000" algn="l" defTabSz="914400" rtl="0" eaLnBrk="1" latinLnBrk="0" hangingPunct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Wingdings 3" panose="05040102010807070707" pitchFamily="18" charset="2"/>
              <a:buChar char="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72000" indent="-324000" algn="l" defTabSz="914400" rtl="0" eaLnBrk="1" latinLnBrk="0" hangingPunct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Calibri" panose="020F050202020403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4000" indent="-324000" algn="l" defTabSz="914400" rtl="0" eaLnBrk="1" latinLnBrk="0" hangingPunct="1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+mj-lt"/>
              <a:buAutoNum type="arabicPeriod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48000" indent="-324000" algn="l" defTabSz="914400" rtl="0" eaLnBrk="1" latinLnBrk="0" hangingPunct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+mj-lt"/>
              <a:buAutoNum type="arabi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72000" indent="-324000" algn="l" defTabSz="914400" rtl="0" eaLnBrk="1" latinLnBrk="0" hangingPunct="1">
              <a:spcBef>
                <a:spcPts val="0"/>
              </a:spcBef>
              <a:buClr>
                <a:schemeClr val="accent1"/>
              </a:buClr>
              <a:buSzPct val="100000"/>
              <a:buFont typeface="Calibri" panose="020F050202020403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spcBef>
                <a:spcPts val="6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r>
              <a:rPr lang="en-GB" sz="3200" dirty="0"/>
              <a:t>SNOMED CT terms</a:t>
            </a:r>
          </a:p>
          <a:p>
            <a:pPr lvl="3"/>
            <a:r>
              <a:rPr lang="en-GB" sz="2400" dirty="0"/>
              <a:t>Synonyms</a:t>
            </a:r>
          </a:p>
          <a:p>
            <a:pPr lvl="3"/>
            <a:r>
              <a:rPr lang="en-GB" sz="2400" dirty="0"/>
              <a:t>Preferred terms</a:t>
            </a:r>
          </a:p>
          <a:p>
            <a:pPr lvl="3"/>
            <a:r>
              <a:rPr lang="en-GB" sz="2400" dirty="0"/>
              <a:t>Fully specified names</a:t>
            </a:r>
          </a:p>
          <a:p>
            <a:pPr lvl="2"/>
            <a:r>
              <a:rPr lang="en-GB" sz="3200" dirty="0"/>
              <a:t>Descriptions</a:t>
            </a:r>
          </a:p>
          <a:p>
            <a:pPr lvl="3"/>
            <a:r>
              <a:rPr lang="en-GB" sz="2400" dirty="0"/>
              <a:t>Terms + Concept ID </a:t>
            </a:r>
          </a:p>
          <a:p>
            <a:pPr lvl="2"/>
            <a:r>
              <a:rPr lang="en-GB" sz="3200" dirty="0"/>
              <a:t>Free text definitions</a:t>
            </a:r>
          </a:p>
        </p:txBody>
      </p:sp>
      <p:sp>
        <p:nvSpPr>
          <p:cNvPr id="20" name="Abgerundete rechteckige Legende 3">
            <a:extLst>
              <a:ext uri="{FF2B5EF4-FFF2-40B4-BE49-F238E27FC236}">
                <a16:creationId xmlns:a16="http://schemas.microsoft.com/office/drawing/2014/main" id="{A957F728-4D34-418D-152D-CDFC6FE4A8B1}"/>
              </a:ext>
            </a:extLst>
          </p:cNvPr>
          <p:cNvSpPr/>
          <p:nvPr/>
        </p:nvSpPr>
        <p:spPr>
          <a:xfrm>
            <a:off x="2153675" y="6008831"/>
            <a:ext cx="2750903" cy="343652"/>
          </a:xfrm>
          <a:prstGeom prst="wedgeRoundRectCallout">
            <a:avLst>
              <a:gd name="adj1" fmla="val -77236"/>
              <a:gd name="adj2" fmla="val 32352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domain knowledge</a:t>
            </a:r>
          </a:p>
        </p:txBody>
      </p:sp>
      <p:sp>
        <p:nvSpPr>
          <p:cNvPr id="21" name="Abgerundete rechteckige Legende 23">
            <a:extLst>
              <a:ext uri="{FF2B5EF4-FFF2-40B4-BE49-F238E27FC236}">
                <a16:creationId xmlns:a16="http://schemas.microsoft.com/office/drawing/2014/main" id="{C267487B-151F-0DFD-DD96-65A5AAAC624E}"/>
              </a:ext>
            </a:extLst>
          </p:cNvPr>
          <p:cNvSpPr/>
          <p:nvPr/>
        </p:nvSpPr>
        <p:spPr>
          <a:xfrm>
            <a:off x="7260540" y="5961291"/>
            <a:ext cx="2750903" cy="343652"/>
          </a:xfrm>
          <a:prstGeom prst="wedgeRoundRectCallout">
            <a:avLst>
              <a:gd name="adj1" fmla="val 69885"/>
              <a:gd name="adj2" fmla="val 42688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linguistic knowledge</a:t>
            </a:r>
          </a:p>
        </p:txBody>
      </p:sp>
    </p:spTree>
    <p:extLst>
      <p:ext uri="{BB962C8B-B14F-4D97-AF65-F5344CB8AC3E}">
        <p14:creationId xmlns:p14="http://schemas.microsoft.com/office/powerpoint/2010/main" val="1663352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4" grpId="0" build="p"/>
      <p:bldP spid="15" grpId="0"/>
      <p:bldP spid="20" grpId="0" animBg="1"/>
      <p:bldP spid="2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A78350B0-5F81-96F0-2D30-760C285BE6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87602"/>
            <a:ext cx="12192000" cy="5363252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7C8D16A0-DB97-331E-41E8-90C69AEF5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r>
              <a:rPr lang="en-GB" dirty="0"/>
              <a:t>Bringing ontology and terminology together:</a:t>
            </a:r>
            <a:br>
              <a:rPr lang="en-GB" dirty="0"/>
            </a:br>
            <a:r>
              <a:rPr lang="en-GB" dirty="0"/>
              <a:t>Example: SNOMED CT                                             </a:t>
            </a:r>
            <a:r>
              <a:rPr lang="en-GB" sz="2400" dirty="0"/>
              <a:t>(</a:t>
            </a:r>
            <a:r>
              <a:rPr lang="en-GB" sz="2400" dirty="0">
                <a:hlinkClick r:id="rId3"/>
              </a:rPr>
              <a:t>browse</a:t>
            </a:r>
            <a:r>
              <a:rPr lang="en-GB" sz="2400" dirty="0"/>
              <a:t>)</a:t>
            </a:r>
            <a:endParaRPr lang="en-GB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4EE1603A-1C6A-BB30-5FC0-5271DD581D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25620" y="3133289"/>
            <a:ext cx="907407" cy="901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3459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5CDB6D-6E0B-57EB-1C2A-DD098BCDF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Terminology of terminology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4D87429-345B-1335-8A46-03053BB8D5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8473" y="1660124"/>
            <a:ext cx="11630445" cy="4929362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Units of meaning: concepts, classes, descriptors</a:t>
            </a:r>
          </a:p>
          <a:p>
            <a:pPr lvl="1"/>
            <a:r>
              <a:rPr lang="en-GB" dirty="0"/>
              <a:t>Their unique identifiers: IDs, CUIs, Codes, Keys</a:t>
            </a:r>
          </a:p>
          <a:p>
            <a:pPr lvl="1"/>
            <a:r>
              <a:rPr lang="en-GB" dirty="0"/>
              <a:t>Their unique labels: "fully specified names" (often rather artificial)</a:t>
            </a:r>
          </a:p>
          <a:p>
            <a:r>
              <a:rPr lang="en-GB" dirty="0"/>
              <a:t>Units of human language: "terms", "names", "synonyms", "entry terms", "lexemes"</a:t>
            </a:r>
          </a:p>
          <a:p>
            <a:pPr lvl="1"/>
            <a:r>
              <a:rPr lang="en-GB" dirty="0"/>
              <a:t>Equivalence classes of quasi-synonyms and translations, sometimes hyponyms</a:t>
            </a:r>
            <a:br>
              <a:rPr lang="en-GB" dirty="0"/>
            </a:br>
            <a:r>
              <a:rPr lang="en-GB" dirty="0">
                <a:sym typeface="Wingdings" panose="05000000000000000000" pitchFamily="2" charset="2"/>
              </a:rPr>
              <a:t> 1…* human language terms per unit of meaning</a:t>
            </a:r>
            <a:endParaRPr lang="en-GB" dirty="0"/>
          </a:p>
          <a:p>
            <a:pPr lvl="1"/>
            <a:r>
              <a:rPr lang="en-GB" dirty="0"/>
              <a:t>Close-to-user terms important for term retrieval and NLP (natural language processing)</a:t>
            </a:r>
          </a:p>
          <a:p>
            <a:pPr lvl="1"/>
            <a:r>
              <a:rPr lang="en-GB" dirty="0"/>
              <a:t>Enumeration of all synonyms and variants prohibitive, particularly with multiword terms</a:t>
            </a:r>
          </a:p>
          <a:p>
            <a:r>
              <a:rPr lang="en-GB" dirty="0"/>
              <a:t>Relations: "predicates", "properties", "relationships"</a:t>
            </a:r>
          </a:p>
          <a:p>
            <a:pPr lvl="1"/>
            <a:r>
              <a:rPr lang="en-GB" dirty="0"/>
              <a:t>Binary, often semantically shallow (broader / narrower)</a:t>
            </a:r>
          </a:p>
          <a:p>
            <a:r>
              <a:rPr lang="en-GB" dirty="0"/>
              <a:t>Natural language definitions</a:t>
            </a:r>
          </a:p>
          <a:p>
            <a:pPr lvl="1"/>
            <a:r>
              <a:rPr lang="en-GB" dirty="0"/>
              <a:t>Often missing, often rather elucidations than definitions </a:t>
            </a:r>
          </a:p>
          <a:p>
            <a:pPr marL="0" indent="0">
              <a:buNone/>
            </a:pPr>
            <a:r>
              <a:rPr lang="en-GB" dirty="0">
                <a:solidFill>
                  <a:srgbClr val="C00000"/>
                </a:solidFill>
              </a:rPr>
              <a:t>Important: "term" means unit of language, not unit of meaning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45989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/>
          <p:cNvSpPr txBox="1"/>
          <p:nvPr/>
        </p:nvSpPr>
        <p:spPr>
          <a:xfrm>
            <a:off x="117402" y="1634836"/>
            <a:ext cx="216217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Ontology content:</a:t>
            </a:r>
            <a:br>
              <a:rPr lang="en-GB" sz="2000" dirty="0"/>
            </a:br>
            <a:r>
              <a:rPr lang="en-GB" sz="2000" dirty="0"/>
              <a:t>Axioms that are universally true in a domain</a:t>
            </a:r>
          </a:p>
        </p:txBody>
      </p:sp>
      <p:sp>
        <p:nvSpPr>
          <p:cNvPr id="10" name="Textfeld 9"/>
          <p:cNvSpPr txBox="1"/>
          <p:nvPr/>
        </p:nvSpPr>
        <p:spPr>
          <a:xfrm>
            <a:off x="10095262" y="1634835"/>
            <a:ext cx="212020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Contingent knowledge:</a:t>
            </a:r>
            <a:br>
              <a:rPr lang="en-GB" sz="2000" dirty="0"/>
            </a:br>
            <a:r>
              <a:rPr lang="en-GB" sz="2000" dirty="0"/>
              <a:t>What is typical, likely,  possible</a:t>
            </a:r>
          </a:p>
        </p:txBody>
      </p:sp>
      <p:sp>
        <p:nvSpPr>
          <p:cNvPr id="11" name="Textfeld 10"/>
          <p:cNvSpPr txBox="1"/>
          <p:nvPr/>
        </p:nvSpPr>
        <p:spPr>
          <a:xfrm>
            <a:off x="117403" y="3593522"/>
            <a:ext cx="203524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Symbolic</a:t>
            </a:r>
            <a:br>
              <a:rPr lang="en-GB" sz="2000" b="1" dirty="0"/>
            </a:br>
            <a:r>
              <a:rPr lang="en-GB" sz="2000" b="1" dirty="0"/>
              <a:t>knowledge:</a:t>
            </a:r>
            <a:br>
              <a:rPr lang="en-GB" sz="2000" dirty="0"/>
            </a:br>
            <a:r>
              <a:rPr lang="en-GB" sz="2000" dirty="0"/>
              <a:t>Statements about properties and </a:t>
            </a:r>
            <a:br>
              <a:rPr lang="en-GB" sz="2000" dirty="0"/>
            </a:br>
            <a:r>
              <a:rPr lang="en-GB" sz="2000" dirty="0"/>
              <a:t>meaning of signs of language, </a:t>
            </a:r>
            <a:br>
              <a:rPr lang="en-GB" sz="2000" dirty="0"/>
            </a:br>
            <a:r>
              <a:rPr lang="en-GB" sz="2000" dirty="0"/>
              <a:t>including other symbols and data</a:t>
            </a:r>
          </a:p>
          <a:p>
            <a:endParaRPr lang="en-GB" sz="2000" dirty="0"/>
          </a:p>
          <a:p>
            <a:endParaRPr lang="en-GB" sz="2000" dirty="0"/>
          </a:p>
        </p:txBody>
      </p:sp>
      <p:sp>
        <p:nvSpPr>
          <p:cNvPr id="12" name="Textfeld 11"/>
          <p:cNvSpPr txBox="1"/>
          <p:nvPr/>
        </p:nvSpPr>
        <p:spPr>
          <a:xfrm>
            <a:off x="10015961" y="3813670"/>
            <a:ext cx="198913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Facts (factoids):</a:t>
            </a:r>
            <a:br>
              <a:rPr lang="en-GB" sz="2000" dirty="0"/>
            </a:br>
            <a:r>
              <a:rPr lang="en-GB" sz="2000" dirty="0"/>
              <a:t>Statements about concrete entities, their types and their relationships</a:t>
            </a:r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7712" y="1675514"/>
            <a:ext cx="7738249" cy="4566039"/>
          </a:xfrm>
          <a:prstGeom prst="rect">
            <a:avLst/>
          </a:prstGeom>
        </p:spPr>
      </p:pic>
      <p:sp>
        <p:nvSpPr>
          <p:cNvPr id="4" name="Abgerundetes Rechteck 3"/>
          <p:cNvSpPr/>
          <p:nvPr/>
        </p:nvSpPr>
        <p:spPr>
          <a:xfrm>
            <a:off x="104775" y="1481073"/>
            <a:ext cx="5847209" cy="1419146"/>
          </a:xfrm>
          <a:prstGeom prst="roundRect">
            <a:avLst/>
          </a:prstGeom>
          <a:noFill/>
          <a:ln w="190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C00000"/>
              </a:solidFill>
            </a:endParaRPr>
          </a:p>
        </p:txBody>
      </p:sp>
      <p:sp>
        <p:nvSpPr>
          <p:cNvPr id="6" name="Abgerundetes Rechteck 5"/>
          <p:cNvSpPr/>
          <p:nvPr/>
        </p:nvSpPr>
        <p:spPr>
          <a:xfrm>
            <a:off x="6240016" y="1481073"/>
            <a:ext cx="5847208" cy="1419146"/>
          </a:xfrm>
          <a:prstGeom prst="roundRect">
            <a:avLst/>
          </a:prstGeom>
          <a:noFill/>
          <a:ln w="190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C00000"/>
              </a:solidFill>
            </a:endParaRPr>
          </a:p>
        </p:txBody>
      </p:sp>
      <p:sp>
        <p:nvSpPr>
          <p:cNvPr id="7" name="Abgerundetes Rechteck 6"/>
          <p:cNvSpPr/>
          <p:nvPr/>
        </p:nvSpPr>
        <p:spPr>
          <a:xfrm>
            <a:off x="6240016" y="2958274"/>
            <a:ext cx="5847208" cy="3470465"/>
          </a:xfrm>
          <a:prstGeom prst="roundRect">
            <a:avLst>
              <a:gd name="adj" fmla="val 7475"/>
            </a:avLst>
          </a:prstGeom>
          <a:noFill/>
          <a:ln w="190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C00000"/>
              </a:solidFill>
            </a:endParaRPr>
          </a:p>
        </p:txBody>
      </p:sp>
      <p:sp>
        <p:nvSpPr>
          <p:cNvPr id="8" name="Abgerundetes Rechteck 7"/>
          <p:cNvSpPr/>
          <p:nvPr/>
        </p:nvSpPr>
        <p:spPr>
          <a:xfrm>
            <a:off x="104775" y="2958274"/>
            <a:ext cx="5847209" cy="3470465"/>
          </a:xfrm>
          <a:prstGeom prst="roundRect">
            <a:avLst>
              <a:gd name="adj" fmla="val 4560"/>
            </a:avLst>
          </a:prstGeom>
          <a:noFill/>
          <a:ln w="190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C00000"/>
              </a:solidFill>
            </a:endParaRP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FBDD0C6C-0267-F100-F2DF-CE7ADCD79CA0}"/>
              </a:ext>
            </a:extLst>
          </p:cNvPr>
          <p:cNvSpPr txBox="1"/>
          <p:nvPr/>
        </p:nvSpPr>
        <p:spPr>
          <a:xfrm>
            <a:off x="76199" y="6525310"/>
            <a:ext cx="82391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dirty="0">
                <a:effectLst/>
                <a:latin typeface="fkGroteskNeue"/>
              </a:rPr>
              <a:t>Charles Kay Ogden and I. A. Richards (1923) </a:t>
            </a:r>
            <a:r>
              <a:rPr lang="en-US" sz="1200" b="0" i="1" dirty="0">
                <a:effectLst/>
                <a:latin typeface="fkGroteskNeue"/>
              </a:rPr>
              <a:t>The Meaning of Meaning</a:t>
            </a:r>
            <a:endParaRPr lang="de-DE" sz="1200" dirty="0"/>
          </a:p>
        </p:txBody>
      </p:sp>
      <p:sp>
        <p:nvSpPr>
          <p:cNvPr id="18" name="Titel 1">
            <a:extLst>
              <a:ext uri="{FF2B5EF4-FFF2-40B4-BE49-F238E27FC236}">
                <a16:creationId xmlns:a16="http://schemas.microsoft.com/office/drawing/2014/main" id="{676E3F70-6A9A-0F43-FC8B-437A8A994946}"/>
              </a:ext>
            </a:extLst>
          </p:cNvPr>
          <p:cNvSpPr txBox="1">
            <a:spLocks/>
          </p:cNvSpPr>
          <p:nvPr/>
        </p:nvSpPr>
        <p:spPr>
          <a:xfrm>
            <a:off x="9541" y="-2802"/>
            <a:ext cx="12192000" cy="132556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C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The semiotic triangle</a:t>
            </a:r>
          </a:p>
        </p:txBody>
      </p:sp>
      <p:sp>
        <p:nvSpPr>
          <p:cNvPr id="21" name="Rechteck: abgerundete Ecken 20">
            <a:extLst>
              <a:ext uri="{FF2B5EF4-FFF2-40B4-BE49-F238E27FC236}">
                <a16:creationId xmlns:a16="http://schemas.microsoft.com/office/drawing/2014/main" id="{92EE921B-CA39-DAB1-AFF5-F0C4C2C72E7B}"/>
              </a:ext>
            </a:extLst>
          </p:cNvPr>
          <p:cNvSpPr/>
          <p:nvPr/>
        </p:nvSpPr>
        <p:spPr>
          <a:xfrm>
            <a:off x="2285999" y="1675514"/>
            <a:ext cx="7691861" cy="4619202"/>
          </a:xfrm>
          <a:prstGeom prst="roundRect">
            <a:avLst>
              <a:gd name="adj" fmla="val 0"/>
            </a:avLst>
          </a:prstGeom>
          <a:noFill/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4309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  <p:bldP spid="11" grpId="0"/>
      <p:bldP spid="12" grpId="0"/>
      <p:bldP spid="4" grpId="0" animBg="1"/>
      <p:bldP spid="6" grpId="0" animBg="1"/>
      <p:bldP spid="7" grpId="0" animBg="1"/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Abgerundetes Rechteck 22"/>
          <p:cNvSpPr/>
          <p:nvPr/>
        </p:nvSpPr>
        <p:spPr>
          <a:xfrm>
            <a:off x="1631504" y="188640"/>
            <a:ext cx="8928992" cy="5328592"/>
          </a:xfrm>
          <a:prstGeom prst="roundRect">
            <a:avLst>
              <a:gd name="adj" fmla="val 262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2485356" y="1810524"/>
            <a:ext cx="1522413" cy="576000"/>
          </a:xfrm>
          <a:prstGeom prst="rect">
            <a:avLst/>
          </a:prstGeom>
          <a:solidFill>
            <a:schemeClr val="accent1"/>
          </a:solidFill>
          <a:ln w="12700">
            <a:noFill/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r>
              <a:rPr lang="de-DE" sz="2000" dirty="0" err="1">
                <a:solidFill>
                  <a:schemeClr val="bg1"/>
                </a:solidFill>
                <a:latin typeface="Verdana" pitchFamily="34" charset="0"/>
              </a:rPr>
              <a:t>words</a:t>
            </a:r>
            <a:endParaRPr lang="de-DE" sz="2000" dirty="0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2999656" y="2618397"/>
            <a:ext cx="1524000" cy="576000"/>
          </a:xfrm>
          <a:prstGeom prst="rect">
            <a:avLst/>
          </a:prstGeom>
          <a:solidFill>
            <a:schemeClr val="accent1"/>
          </a:solidFill>
          <a:ln w="12700">
            <a:noFill/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r>
              <a:rPr lang="de-DE" sz="2000" dirty="0" err="1">
                <a:solidFill>
                  <a:schemeClr val="bg1"/>
                </a:solidFill>
                <a:latin typeface="Verdana" pitchFamily="34" charset="0"/>
              </a:rPr>
              <a:t>multiwords</a:t>
            </a:r>
            <a:endParaRPr lang="de-DE" sz="2000" dirty="0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4583832" y="5085184"/>
            <a:ext cx="1676400" cy="576000"/>
          </a:xfrm>
          <a:prstGeom prst="rect">
            <a:avLst/>
          </a:prstGeom>
          <a:solidFill>
            <a:schemeClr val="accent1"/>
          </a:solidFill>
          <a:ln w="12700">
            <a:noFill/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r>
              <a:rPr lang="de-DE" sz="2000" dirty="0" err="1">
                <a:solidFill>
                  <a:schemeClr val="bg1"/>
                </a:solidFill>
                <a:latin typeface="Verdana" pitchFamily="34" charset="0"/>
              </a:rPr>
              <a:t>paragraphs</a:t>
            </a:r>
            <a:endParaRPr lang="de-DE" sz="2000" dirty="0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4114681" y="4282926"/>
            <a:ext cx="1524000" cy="576000"/>
          </a:xfrm>
          <a:prstGeom prst="rect">
            <a:avLst/>
          </a:prstGeom>
          <a:solidFill>
            <a:schemeClr val="accent1"/>
          </a:solidFill>
          <a:ln w="12700">
            <a:noFill/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r>
              <a:rPr lang="de-DE" sz="2000" dirty="0" err="1">
                <a:solidFill>
                  <a:schemeClr val="bg1"/>
                </a:solidFill>
                <a:latin typeface="Verdana" pitchFamily="34" charset="0"/>
              </a:rPr>
              <a:t>sentences</a:t>
            </a:r>
            <a:endParaRPr lang="de-DE" sz="2000" dirty="0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10" name="Line 10"/>
          <p:cNvSpPr>
            <a:spLocks noChangeShapeType="1"/>
          </p:cNvSpPr>
          <p:nvPr/>
        </p:nvSpPr>
        <p:spPr bwMode="auto">
          <a:xfrm flipH="1" flipV="1">
            <a:off x="1415480" y="1941240"/>
            <a:ext cx="3124200" cy="3048000"/>
          </a:xfrm>
          <a:prstGeom prst="line">
            <a:avLst/>
          </a:prstGeom>
          <a:noFill/>
          <a:ln w="57150">
            <a:noFill/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de-DE" dirty="0"/>
          </a:p>
        </p:txBody>
      </p:sp>
      <p:sp>
        <p:nvSpPr>
          <p:cNvPr id="11" name="Text Box 13"/>
          <p:cNvSpPr txBox="1">
            <a:spLocks noChangeArrowheads="1"/>
          </p:cNvSpPr>
          <p:nvPr/>
        </p:nvSpPr>
        <p:spPr bwMode="auto">
          <a:xfrm>
            <a:off x="3474107" y="332656"/>
            <a:ext cx="143180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de-DE" dirty="0"/>
              <a:t>[ħ] 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de-DE" dirty="0"/>
              <a:t>[ɛ]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de-DE" dirty="0"/>
              <a:t>[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</a:t>
            </a:r>
            <a:r>
              <a:rPr lang="de-DE" dirty="0"/>
              <a:t>]</a:t>
            </a:r>
            <a:endParaRPr lang="de-DE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" name="Text Box 15"/>
          <p:cNvSpPr txBox="1">
            <a:spLocks noChangeArrowheads="1"/>
          </p:cNvSpPr>
          <p:nvPr/>
        </p:nvSpPr>
        <p:spPr bwMode="auto">
          <a:xfrm>
            <a:off x="4218700" y="1929720"/>
            <a:ext cx="122341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de-DE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Hepatitis</a:t>
            </a:r>
          </a:p>
        </p:txBody>
      </p:sp>
      <p:sp>
        <p:nvSpPr>
          <p:cNvPr id="14" name="Text Box 16"/>
          <p:cNvSpPr txBox="1">
            <a:spLocks noChangeArrowheads="1"/>
          </p:cNvSpPr>
          <p:nvPr/>
        </p:nvSpPr>
        <p:spPr bwMode="auto">
          <a:xfrm>
            <a:off x="4799857" y="2684190"/>
            <a:ext cx="173284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Hepatitis Typ B</a:t>
            </a:r>
          </a:p>
        </p:txBody>
      </p:sp>
      <p:sp>
        <p:nvSpPr>
          <p:cNvPr id="16" name="Rectangle 18"/>
          <p:cNvSpPr>
            <a:spLocks noChangeArrowheads="1"/>
          </p:cNvSpPr>
          <p:nvPr/>
        </p:nvSpPr>
        <p:spPr bwMode="auto">
          <a:xfrm>
            <a:off x="379735" y="4386377"/>
            <a:ext cx="3340001" cy="4801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de-DE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Das Hepatitis B-Virus Typ B wird hauptsächlich über das Blut übertragen.</a:t>
            </a:r>
            <a:endParaRPr lang="de-DE" sz="1400" dirty="0">
              <a:solidFill>
                <a:schemeClr val="tx1">
                  <a:lumMod val="75000"/>
                  <a:lumOff val="25000"/>
                </a:schemeClr>
              </a:solidFill>
              <a:latin typeface="Times New Roman" pitchFamily="18" charset="0"/>
            </a:endParaRPr>
          </a:p>
        </p:txBody>
      </p:sp>
      <p:sp>
        <p:nvSpPr>
          <p:cNvPr id="17" name="Rectangle 19"/>
          <p:cNvSpPr>
            <a:spLocks noChangeArrowheads="1"/>
          </p:cNvSpPr>
          <p:nvPr/>
        </p:nvSpPr>
        <p:spPr bwMode="auto">
          <a:xfrm>
            <a:off x="446683" y="5274409"/>
            <a:ext cx="4077345" cy="73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de-DE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itchFamily="34" charset="0"/>
              </a:rPr>
              <a:t>Die Hepatitis-Viren Typ B (HBV) und C (HCV) werden hauptsächlich über das Blut übertragen. Das Injizieren von Drogenkonsumenten und Patienten, die kontaminiertes und nicht wegwerfbares chirurgisches Material erhalten, gehören zu den größten Opfern</a:t>
            </a:r>
            <a:endParaRPr lang="de-DE" sz="2000" dirty="0">
              <a:solidFill>
                <a:schemeClr val="tx1">
                  <a:lumMod val="75000"/>
                  <a:lumOff val="25000"/>
                </a:schemeClr>
              </a:solidFill>
              <a:latin typeface="Times New Roman" pitchFamily="18" charset="0"/>
            </a:endParaRPr>
          </a:p>
        </p:txBody>
      </p:sp>
      <p:sp>
        <p:nvSpPr>
          <p:cNvPr id="18" name="Rectangle 7"/>
          <p:cNvSpPr>
            <a:spLocks noChangeArrowheads="1"/>
          </p:cNvSpPr>
          <p:nvPr/>
        </p:nvSpPr>
        <p:spPr bwMode="auto">
          <a:xfrm>
            <a:off x="3503712" y="3429064"/>
            <a:ext cx="1524000" cy="576000"/>
          </a:xfrm>
          <a:prstGeom prst="rect">
            <a:avLst/>
          </a:prstGeom>
          <a:solidFill>
            <a:schemeClr val="accent1"/>
          </a:solidFill>
          <a:ln w="12700">
            <a:noFill/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r>
              <a:rPr lang="de-DE" sz="2000" dirty="0" err="1">
                <a:solidFill>
                  <a:schemeClr val="bg1"/>
                </a:solidFill>
                <a:latin typeface="Verdana" pitchFamily="34" charset="0"/>
              </a:rPr>
              <a:t>phrases</a:t>
            </a:r>
            <a:endParaRPr lang="de-DE" sz="2000" dirty="0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19" name="Text Box 16"/>
          <p:cNvSpPr txBox="1">
            <a:spLocks noChangeArrowheads="1"/>
          </p:cNvSpPr>
          <p:nvPr/>
        </p:nvSpPr>
        <p:spPr bwMode="auto">
          <a:xfrm>
            <a:off x="402579" y="3606069"/>
            <a:ext cx="235096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Das Hepatitis-B-Virus</a:t>
            </a:r>
          </a:p>
        </p:txBody>
      </p:sp>
      <p:sp>
        <p:nvSpPr>
          <p:cNvPr id="20" name="Rectangle 8"/>
          <p:cNvSpPr>
            <a:spLocks noChangeArrowheads="1"/>
          </p:cNvSpPr>
          <p:nvPr/>
        </p:nvSpPr>
        <p:spPr bwMode="auto">
          <a:xfrm>
            <a:off x="5188177" y="5911572"/>
            <a:ext cx="1676400" cy="576000"/>
          </a:xfrm>
          <a:prstGeom prst="rect">
            <a:avLst/>
          </a:prstGeom>
          <a:solidFill>
            <a:schemeClr val="accent1"/>
          </a:solidFill>
          <a:ln w="12700">
            <a:noFill/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r>
              <a:rPr lang="de-DE" sz="2000" dirty="0" err="1">
                <a:solidFill>
                  <a:schemeClr val="bg1"/>
                </a:solidFill>
                <a:latin typeface="Verdana" pitchFamily="34" charset="0"/>
              </a:rPr>
              <a:t>document</a:t>
            </a:r>
            <a:endParaRPr lang="de-DE" sz="2000" dirty="0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1763688" y="188640"/>
            <a:ext cx="1524000" cy="576000"/>
          </a:xfrm>
          <a:prstGeom prst="rect">
            <a:avLst/>
          </a:prstGeom>
          <a:solidFill>
            <a:schemeClr val="accent1"/>
          </a:solidFill>
          <a:ln w="12700">
            <a:noFill/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r>
              <a:rPr lang="de-DE" sz="2000" dirty="0" err="1">
                <a:solidFill>
                  <a:schemeClr val="bg1"/>
                </a:solidFill>
                <a:latin typeface="Verdana" pitchFamily="34" charset="0"/>
              </a:rPr>
              <a:t>phonemes</a:t>
            </a:r>
            <a:endParaRPr lang="de-DE" sz="2000" dirty="0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1991544" y="999646"/>
            <a:ext cx="1728192" cy="576000"/>
          </a:xfrm>
          <a:prstGeom prst="rect">
            <a:avLst/>
          </a:prstGeom>
          <a:solidFill>
            <a:schemeClr val="accent1"/>
          </a:solidFill>
          <a:ln w="12700">
            <a:noFill/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r>
              <a:rPr lang="de-DE" sz="2000" dirty="0" err="1">
                <a:solidFill>
                  <a:schemeClr val="bg1"/>
                </a:solidFill>
                <a:latin typeface="Verdana" pitchFamily="34" charset="0"/>
              </a:rPr>
              <a:t>morphemes</a:t>
            </a:r>
            <a:endParaRPr lang="de-DE" sz="2000" dirty="0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24" name="Text Box 13"/>
          <p:cNvSpPr txBox="1">
            <a:spLocks noChangeArrowheads="1"/>
          </p:cNvSpPr>
          <p:nvPr/>
        </p:nvSpPr>
        <p:spPr bwMode="auto">
          <a:xfrm>
            <a:off x="3719736" y="1124744"/>
            <a:ext cx="146065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de-DE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hepat</a:t>
            </a:r>
            <a:r>
              <a:rPr lang="de-DE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; -</a:t>
            </a:r>
            <a:r>
              <a:rPr lang="de-DE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itis</a:t>
            </a:r>
            <a:endParaRPr lang="de-DE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2989" y="2930447"/>
            <a:ext cx="2172064" cy="3748437"/>
          </a:xfrm>
          <a:prstGeom prst="rect">
            <a:avLst/>
          </a:prstGeom>
        </p:spPr>
      </p:pic>
      <p:sp>
        <p:nvSpPr>
          <p:cNvPr id="12" name="Titel 1">
            <a:extLst>
              <a:ext uri="{FF2B5EF4-FFF2-40B4-BE49-F238E27FC236}">
                <a16:creationId xmlns:a16="http://schemas.microsoft.com/office/drawing/2014/main" id="{9FB97616-70E3-02DC-34BD-66188E54CCD9}"/>
              </a:ext>
            </a:extLst>
          </p:cNvPr>
          <p:cNvSpPr txBox="1">
            <a:spLocks/>
          </p:cNvSpPr>
          <p:nvPr/>
        </p:nvSpPr>
        <p:spPr>
          <a:xfrm>
            <a:off x="6532703" y="-2802"/>
            <a:ext cx="5668837" cy="132556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C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Human language</a:t>
            </a:r>
          </a:p>
        </p:txBody>
      </p:sp>
    </p:spTree>
    <p:extLst>
      <p:ext uri="{BB962C8B-B14F-4D97-AF65-F5344CB8AC3E}">
        <p14:creationId xmlns:p14="http://schemas.microsoft.com/office/powerpoint/2010/main" val="1973800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13E14-B641-CD6E-4A7A-4A541450F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Abgerundetes Rechteck 22">
            <a:extLst>
              <a:ext uri="{FF2B5EF4-FFF2-40B4-BE49-F238E27FC236}">
                <a16:creationId xmlns:a16="http://schemas.microsoft.com/office/drawing/2014/main" id="{05A1656D-A817-C3D6-2443-953CFA5397C1}"/>
              </a:ext>
            </a:extLst>
          </p:cNvPr>
          <p:cNvSpPr/>
          <p:nvPr/>
        </p:nvSpPr>
        <p:spPr>
          <a:xfrm>
            <a:off x="1631504" y="188640"/>
            <a:ext cx="8928992" cy="5328592"/>
          </a:xfrm>
          <a:prstGeom prst="roundRect">
            <a:avLst>
              <a:gd name="adj" fmla="val 262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ED4E15E0-E9C7-4156-4FCE-4C084BD2B516}"/>
              </a:ext>
            </a:extLst>
          </p:cNvPr>
          <p:cNvSpPr txBox="1">
            <a:spLocks/>
          </p:cNvSpPr>
          <p:nvPr/>
        </p:nvSpPr>
        <p:spPr>
          <a:xfrm>
            <a:off x="1" y="-2802"/>
            <a:ext cx="12201540" cy="132556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C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Human language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46795B51-335C-B1A5-622D-0BC47E4FFB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692" y="1889282"/>
            <a:ext cx="3525308" cy="4311947"/>
          </a:xfrm>
          <a:prstGeom prst="rect">
            <a:avLst/>
          </a:prstGeom>
        </p:spPr>
      </p:pic>
      <p:sp>
        <p:nvSpPr>
          <p:cNvPr id="15" name="Titel 14">
            <a:extLst>
              <a:ext uri="{FF2B5EF4-FFF2-40B4-BE49-F238E27FC236}">
                <a16:creationId xmlns:a16="http://schemas.microsoft.com/office/drawing/2014/main" id="{7CC529EC-F758-2FB4-B7F1-389EE4D13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Human </a:t>
            </a:r>
            <a:r>
              <a:rPr lang="de-DE" dirty="0" err="1"/>
              <a:t>language</a:t>
            </a:r>
            <a:endParaRPr lang="de-DE" dirty="0"/>
          </a:p>
        </p:txBody>
      </p:sp>
      <p:sp>
        <p:nvSpPr>
          <p:cNvPr id="21" name="Inhaltsplatzhalter 20">
            <a:extLst>
              <a:ext uri="{FF2B5EF4-FFF2-40B4-BE49-F238E27FC236}">
                <a16:creationId xmlns:a16="http://schemas.microsoft.com/office/drawing/2014/main" id="{BE327A82-0ABF-4DDD-9151-D997D52470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9886" y="1660124"/>
            <a:ext cx="8314148" cy="4929362"/>
          </a:xfrm>
        </p:spPr>
        <p:txBody>
          <a:bodyPr/>
          <a:lstStyle/>
          <a:p>
            <a:r>
              <a:rPr lang="de-DE" dirty="0"/>
              <a:t>High </a:t>
            </a:r>
            <a:r>
              <a:rPr lang="de-DE" dirty="0" err="1"/>
              <a:t>complexity</a:t>
            </a:r>
            <a:r>
              <a:rPr lang="de-DE" dirty="0"/>
              <a:t> at all </a:t>
            </a:r>
            <a:r>
              <a:rPr lang="de-DE" dirty="0" err="1"/>
              <a:t>levels</a:t>
            </a:r>
            <a:endParaRPr lang="de-DE" dirty="0"/>
          </a:p>
          <a:p>
            <a:r>
              <a:rPr lang="de-DE" dirty="0" err="1"/>
              <a:t>Synonymy</a:t>
            </a:r>
            <a:r>
              <a:rPr lang="de-DE" dirty="0"/>
              <a:t>, </a:t>
            </a:r>
            <a:r>
              <a:rPr lang="de-DE" dirty="0" err="1"/>
              <a:t>polysemy</a:t>
            </a:r>
            <a:endParaRPr lang="de-DE" dirty="0"/>
          </a:p>
          <a:p>
            <a:r>
              <a:rPr lang="de-DE" dirty="0" err="1"/>
              <a:t>Highly</a:t>
            </a:r>
            <a:r>
              <a:rPr lang="de-DE" dirty="0"/>
              <a:t> variable </a:t>
            </a:r>
            <a:r>
              <a:rPr lang="de-DE" dirty="0" err="1"/>
              <a:t>syntax</a:t>
            </a:r>
            <a:r>
              <a:rPr lang="de-DE" dirty="0"/>
              <a:t> – same </a:t>
            </a:r>
            <a:r>
              <a:rPr lang="de-DE" dirty="0" err="1"/>
              <a:t>meaning</a:t>
            </a:r>
            <a:r>
              <a:rPr lang="de-DE" dirty="0"/>
              <a:t>:</a:t>
            </a:r>
            <a:br>
              <a:rPr lang="de-DE" dirty="0"/>
            </a:br>
            <a:endParaRPr lang="de-DE" dirty="0"/>
          </a:p>
          <a:p>
            <a:pPr lvl="1"/>
            <a:r>
              <a:rPr lang="de-DE" dirty="0" err="1"/>
              <a:t>Lymphozyteninfiltration</a:t>
            </a:r>
            <a:r>
              <a:rPr lang="de-DE" dirty="0"/>
              <a:t> (compound </a:t>
            </a:r>
            <a:r>
              <a:rPr lang="de-DE" dirty="0" err="1"/>
              <a:t>noun</a:t>
            </a:r>
            <a:r>
              <a:rPr lang="de-DE" dirty="0"/>
              <a:t>)</a:t>
            </a:r>
          </a:p>
          <a:p>
            <a:pPr lvl="1"/>
            <a:r>
              <a:rPr lang="de-DE" dirty="0" err="1"/>
              <a:t>lympozytäre</a:t>
            </a:r>
            <a:r>
              <a:rPr lang="de-DE" dirty="0"/>
              <a:t> Infiltration (</a:t>
            </a:r>
            <a:r>
              <a:rPr lang="de-DE" dirty="0" err="1"/>
              <a:t>adj</a:t>
            </a:r>
            <a:r>
              <a:rPr lang="de-DE" dirty="0"/>
              <a:t> + </a:t>
            </a:r>
            <a:r>
              <a:rPr lang="de-DE" dirty="0" err="1"/>
              <a:t>noun</a:t>
            </a:r>
            <a:r>
              <a:rPr lang="de-DE" dirty="0"/>
              <a:t>)</a:t>
            </a:r>
          </a:p>
          <a:p>
            <a:pPr lvl="1"/>
            <a:r>
              <a:rPr lang="de-DE" dirty="0" err="1"/>
              <a:t>lympozytär</a:t>
            </a:r>
            <a:r>
              <a:rPr lang="de-DE" dirty="0"/>
              <a:t> infiltriert (</a:t>
            </a:r>
            <a:r>
              <a:rPr lang="de-DE" dirty="0" err="1"/>
              <a:t>adv</a:t>
            </a:r>
            <a:r>
              <a:rPr lang="de-DE" dirty="0"/>
              <a:t> + </a:t>
            </a:r>
            <a:r>
              <a:rPr lang="de-DE" dirty="0" err="1"/>
              <a:t>verb</a:t>
            </a:r>
            <a:r>
              <a:rPr lang="de-DE" dirty="0"/>
              <a:t>)</a:t>
            </a:r>
          </a:p>
          <a:p>
            <a:pPr lvl="1"/>
            <a:r>
              <a:rPr lang="de-DE" dirty="0"/>
              <a:t>durch Lymphozyten infiltriert  (</a:t>
            </a:r>
            <a:r>
              <a:rPr lang="de-DE" dirty="0" err="1"/>
              <a:t>prep</a:t>
            </a:r>
            <a:r>
              <a:rPr lang="de-DE" dirty="0"/>
              <a:t> + </a:t>
            </a:r>
            <a:r>
              <a:rPr lang="de-DE" dirty="0" err="1"/>
              <a:t>noun</a:t>
            </a:r>
            <a:r>
              <a:rPr lang="de-DE" dirty="0"/>
              <a:t> + </a:t>
            </a:r>
            <a:r>
              <a:rPr lang="de-DE" dirty="0" err="1"/>
              <a:t>verb</a:t>
            </a:r>
            <a:r>
              <a:rPr lang="de-DE" dirty="0"/>
              <a:t>)</a:t>
            </a:r>
          </a:p>
          <a:p>
            <a:pPr lvl="1"/>
            <a:r>
              <a:rPr lang="de-DE" dirty="0" err="1"/>
              <a:t>lymphozyteninfiltriertes</a:t>
            </a:r>
            <a:r>
              <a:rPr lang="de-DE" dirty="0"/>
              <a:t> (</a:t>
            </a:r>
            <a:r>
              <a:rPr lang="de-DE" dirty="0" err="1"/>
              <a:t>adj</a:t>
            </a:r>
            <a:r>
              <a:rPr lang="de-DE" dirty="0"/>
              <a:t>)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81238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/>
        </p:nvSpPr>
        <p:spPr>
          <a:xfrm>
            <a:off x="457200" y="4238820"/>
            <a:ext cx="5495160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200" dirty="0" err="1"/>
              <a:t>Paciente</a:t>
            </a:r>
            <a:r>
              <a:rPr lang="en-GB" sz="1200" dirty="0"/>
              <a:t> G1PO, IG de 38 </a:t>
            </a:r>
            <a:r>
              <a:rPr lang="en-GB" sz="1200" dirty="0" err="1"/>
              <a:t>sem</a:t>
            </a:r>
            <a:r>
              <a:rPr lang="en-GB" sz="1200" dirty="0"/>
              <a:t> 4 </a:t>
            </a:r>
            <a:r>
              <a:rPr lang="en-GB" sz="1200" dirty="0" err="1"/>
              <a:t>dia</a:t>
            </a:r>
            <a:r>
              <a:rPr lang="en-GB" sz="1200" dirty="0"/>
              <a:t>(s), TS A+, </a:t>
            </a:r>
            <a:r>
              <a:rPr lang="en-GB" sz="1200" dirty="0" err="1"/>
              <a:t>interna</a:t>
            </a:r>
            <a:r>
              <a:rPr lang="en-GB" sz="1200" dirty="0"/>
              <a:t> </a:t>
            </a:r>
            <a:r>
              <a:rPr lang="en-GB" sz="1200" dirty="0" err="1"/>
              <a:t>por</a:t>
            </a:r>
            <a:r>
              <a:rPr lang="en-GB" sz="1200" dirty="0"/>
              <a:t> </a:t>
            </a:r>
            <a:r>
              <a:rPr lang="en-GB" sz="1200" dirty="0" err="1"/>
              <a:t>bolsa</a:t>
            </a:r>
            <a:r>
              <a:rPr lang="en-GB" sz="1200" dirty="0"/>
              <a:t> </a:t>
            </a:r>
            <a:r>
              <a:rPr lang="en-GB" sz="1200" dirty="0" err="1"/>
              <a:t>roita</a:t>
            </a:r>
            <a:r>
              <a:rPr lang="en-GB" sz="1200" dirty="0"/>
              <a:t> </a:t>
            </a:r>
            <a:r>
              <a:rPr lang="en-GB" sz="1200" dirty="0" err="1"/>
              <a:t>há</a:t>
            </a:r>
            <a:r>
              <a:rPr lang="en-GB" sz="1200" dirty="0"/>
              <a:t> </a:t>
            </a:r>
            <a:r>
              <a:rPr lang="en-GB" sz="1200" dirty="0" err="1"/>
              <a:t>mais</a:t>
            </a:r>
            <a:r>
              <a:rPr lang="en-GB" sz="1200" dirty="0"/>
              <a:t> de 18hs, </a:t>
            </a:r>
            <a:r>
              <a:rPr lang="en-GB" sz="1200" dirty="0" err="1"/>
              <a:t>recebendo</a:t>
            </a:r>
            <a:r>
              <a:rPr lang="en-GB" sz="1200" dirty="0"/>
              <a:t> </a:t>
            </a:r>
            <a:r>
              <a:rPr lang="en-GB" sz="1200" dirty="0" err="1"/>
              <a:t>penicilina</a:t>
            </a:r>
            <a:r>
              <a:rPr lang="en-GB" sz="1200" dirty="0"/>
              <a:t>. </a:t>
            </a:r>
            <a:r>
              <a:rPr lang="en-GB" sz="1200" dirty="0" err="1"/>
              <a:t>Evolui</a:t>
            </a:r>
            <a:r>
              <a:rPr lang="en-GB" sz="1200" dirty="0"/>
              <a:t> para </a:t>
            </a:r>
            <a:r>
              <a:rPr lang="en-GB" sz="1200" dirty="0" err="1"/>
              <a:t>Parto</a:t>
            </a:r>
            <a:r>
              <a:rPr lang="en-GB" sz="1200" dirty="0"/>
              <a:t> </a:t>
            </a:r>
            <a:r>
              <a:rPr lang="en-GB" sz="1200" dirty="0" err="1"/>
              <a:t>Eutócico</a:t>
            </a:r>
            <a:r>
              <a:rPr lang="en-GB" sz="1200" dirty="0"/>
              <a:t> com </a:t>
            </a:r>
            <a:r>
              <a:rPr lang="en-GB" sz="1200" dirty="0" err="1"/>
              <a:t>episiotomia</a:t>
            </a:r>
            <a:r>
              <a:rPr lang="en-GB" sz="1200" dirty="0"/>
              <a:t>  </a:t>
            </a:r>
            <a:r>
              <a:rPr lang="en-GB" sz="1200" dirty="0" err="1"/>
              <a:t>em</a:t>
            </a:r>
            <a:r>
              <a:rPr lang="en-GB" sz="1200" dirty="0"/>
              <a:t> 27/06/2007 22:24 </a:t>
            </a:r>
            <a:r>
              <a:rPr lang="en-GB" sz="1200" dirty="0" err="1"/>
              <a:t>hs</a:t>
            </a:r>
            <a:r>
              <a:rPr lang="en-GB" sz="1200" dirty="0"/>
              <a:t>. </a:t>
            </a:r>
            <a:r>
              <a:rPr lang="en-GB" sz="1200" dirty="0" err="1"/>
              <a:t>Nasce</a:t>
            </a:r>
            <a:r>
              <a:rPr lang="en-GB" sz="1200" dirty="0"/>
              <a:t> RN  APGAR 10/10, MASC, 3060 G.   </a:t>
            </a:r>
            <a:r>
              <a:rPr lang="en-GB" sz="1200" dirty="0" err="1"/>
              <a:t>Exames</a:t>
            </a:r>
            <a:r>
              <a:rPr lang="en-GB" sz="1200" dirty="0"/>
              <a:t>: </a:t>
            </a:r>
            <a:r>
              <a:rPr lang="en-GB" sz="1200" dirty="0" err="1"/>
              <a:t>Toxo</a:t>
            </a:r>
            <a:r>
              <a:rPr lang="en-GB" sz="1200" dirty="0"/>
              <a:t> IGG e IGM </a:t>
            </a:r>
            <a:r>
              <a:rPr lang="en-GB" sz="1200" dirty="0" err="1"/>
              <a:t>neg</a:t>
            </a:r>
            <a:r>
              <a:rPr lang="en-GB" sz="1200" dirty="0"/>
              <a:t> VDRL </a:t>
            </a:r>
            <a:r>
              <a:rPr lang="en-GB" sz="1200" dirty="0" err="1"/>
              <a:t>neg</a:t>
            </a:r>
            <a:r>
              <a:rPr lang="en-GB" sz="1200" dirty="0"/>
              <a:t> EQU </a:t>
            </a:r>
            <a:r>
              <a:rPr lang="en-GB" sz="1200" dirty="0" err="1"/>
              <a:t>neg</a:t>
            </a:r>
            <a:r>
              <a:rPr lang="en-GB" sz="1200" dirty="0"/>
              <a:t> UROC: </a:t>
            </a:r>
            <a:r>
              <a:rPr lang="en-GB" sz="1200" dirty="0" err="1"/>
              <a:t>ausência</a:t>
            </a:r>
            <a:r>
              <a:rPr lang="en-GB" sz="1200" dirty="0"/>
              <a:t> de </a:t>
            </a:r>
            <a:r>
              <a:rPr lang="en-GB" sz="1200" dirty="0" err="1"/>
              <a:t>crescimento</a:t>
            </a:r>
            <a:r>
              <a:rPr lang="en-GB" sz="1200" dirty="0"/>
              <a:t> </a:t>
            </a:r>
            <a:r>
              <a:rPr lang="en-GB" sz="1200" dirty="0" err="1"/>
              <a:t>bacteriano</a:t>
            </a:r>
            <a:r>
              <a:rPr lang="en-GB" sz="1200" dirty="0"/>
              <a:t>. </a:t>
            </a:r>
            <a:r>
              <a:rPr lang="en-GB" sz="1200" dirty="0" err="1"/>
              <a:t>Hemograma</a:t>
            </a:r>
            <a:r>
              <a:rPr lang="en-GB" sz="1200" dirty="0"/>
              <a:t> 198mil </a:t>
            </a:r>
            <a:r>
              <a:rPr lang="en-GB" sz="1200" dirty="0" err="1"/>
              <a:t>plaq</a:t>
            </a:r>
            <a:r>
              <a:rPr lang="en-GB" sz="1200" dirty="0"/>
              <a:t>; </a:t>
            </a:r>
            <a:r>
              <a:rPr lang="en-GB" sz="1200" dirty="0" err="1"/>
              <a:t>Hb</a:t>
            </a:r>
            <a:r>
              <a:rPr lang="en-GB" sz="1200" dirty="0"/>
              <a:t> 13,1; LT 12,5 (75% </a:t>
            </a:r>
            <a:r>
              <a:rPr lang="en-GB" sz="1200" dirty="0" err="1"/>
              <a:t>seg</a:t>
            </a:r>
            <a:r>
              <a:rPr lang="en-GB" sz="1200" dirty="0"/>
              <a:t>)    </a:t>
            </a:r>
            <a:r>
              <a:rPr lang="en-GB" sz="1200" dirty="0" err="1"/>
              <a:t>Em</a:t>
            </a:r>
            <a:r>
              <a:rPr lang="en-GB" sz="1200" dirty="0"/>
              <a:t> </a:t>
            </a:r>
            <a:r>
              <a:rPr lang="en-GB" sz="1200" dirty="0" err="1"/>
              <a:t>condições</a:t>
            </a:r>
            <a:r>
              <a:rPr lang="en-GB" sz="1200" dirty="0"/>
              <a:t> de </a:t>
            </a:r>
            <a:r>
              <a:rPr lang="en-GB" sz="1200" dirty="0" err="1"/>
              <a:t>alta</a:t>
            </a:r>
            <a:r>
              <a:rPr lang="en-GB" sz="1200" dirty="0"/>
              <a:t>, </a:t>
            </a:r>
            <a:r>
              <a:rPr lang="en-GB" sz="1200" dirty="0" err="1"/>
              <a:t>amamentando</a:t>
            </a:r>
            <a:r>
              <a:rPr lang="en-GB" sz="1200" dirty="0"/>
              <a:t>, </a:t>
            </a:r>
            <a:r>
              <a:rPr lang="en-GB" sz="1200" dirty="0" err="1"/>
              <a:t>útero</a:t>
            </a:r>
            <a:r>
              <a:rPr lang="en-GB" sz="1200" dirty="0"/>
              <a:t> </a:t>
            </a:r>
            <a:r>
              <a:rPr lang="en-GB" sz="1200" dirty="0" err="1"/>
              <a:t>contraído</a:t>
            </a:r>
            <a:r>
              <a:rPr lang="en-GB" sz="1200" dirty="0"/>
              <a:t>, </a:t>
            </a:r>
            <a:r>
              <a:rPr lang="en-GB" sz="1200" dirty="0" err="1"/>
              <a:t>lóquios</a:t>
            </a:r>
            <a:r>
              <a:rPr lang="en-GB" sz="1200" dirty="0"/>
              <a:t> </a:t>
            </a:r>
            <a:r>
              <a:rPr lang="en-GB" sz="1200" dirty="0" err="1"/>
              <a:t>fisiológico</a:t>
            </a:r>
            <a:r>
              <a:rPr lang="en-GB" sz="1200" dirty="0"/>
              <a:t>, </a:t>
            </a:r>
            <a:r>
              <a:rPr lang="en-GB" sz="1200" dirty="0" err="1"/>
              <a:t>sinais</a:t>
            </a:r>
            <a:r>
              <a:rPr lang="en-GB" sz="1200" dirty="0"/>
              <a:t> </a:t>
            </a:r>
            <a:r>
              <a:rPr lang="en-GB" sz="1200" dirty="0" err="1"/>
              <a:t>vitais</a:t>
            </a:r>
            <a:r>
              <a:rPr lang="en-GB" sz="1200" dirty="0"/>
              <a:t> </a:t>
            </a:r>
            <a:r>
              <a:rPr lang="en-GB" sz="1200" dirty="0" err="1"/>
              <a:t>estáveis</a:t>
            </a:r>
            <a:r>
              <a:rPr lang="en-GB" sz="1200" dirty="0"/>
              <a:t>, FO com </a:t>
            </a:r>
            <a:r>
              <a:rPr lang="en-GB" sz="1200" dirty="0" err="1"/>
              <a:t>bom</a:t>
            </a:r>
            <a:r>
              <a:rPr lang="en-GB" sz="1200" dirty="0"/>
              <a:t> </a:t>
            </a:r>
            <a:r>
              <a:rPr lang="en-GB" sz="1200" dirty="0" err="1"/>
              <a:t>aspecto</a:t>
            </a:r>
            <a:r>
              <a:rPr lang="en-GB" sz="1200" dirty="0"/>
              <a:t>. </a:t>
            </a:r>
            <a:r>
              <a:rPr lang="en-GB" sz="1200" dirty="0" err="1"/>
              <a:t>Recebe</a:t>
            </a:r>
            <a:r>
              <a:rPr lang="en-GB" sz="1200" dirty="0"/>
              <a:t> as </a:t>
            </a:r>
            <a:r>
              <a:rPr lang="en-GB" sz="1200" dirty="0" err="1"/>
              <a:t>orientações</a:t>
            </a:r>
            <a:r>
              <a:rPr lang="en-GB" sz="1200" dirty="0"/>
              <a:t> </a:t>
            </a:r>
            <a:r>
              <a:rPr lang="en-GB" sz="1200" dirty="0" err="1"/>
              <a:t>abaixo</a:t>
            </a:r>
            <a:r>
              <a:rPr lang="en-GB" sz="1200" dirty="0"/>
              <a:t>.   ORIENTAÇÕES NA ALTA:  # AMAMENTAÇÃO EXCLUSIVA POR 6 MESES; # TOMAR AS MEDICAÇÕES PRESCRITAS (SULFATO FERROSO 300MG 3X/DIA POR 90 DIAS, LONGE DAS REFISÇÕES, COM SUCO DE LARANJA; PARACETAMOL 750 MG 6/6HS SE DOR); # ORIENTO ANTICONCEPÇÃO; # RETORNAR À EMERGÊNCIA DESTE HOSPITAL SE FEBRE, SANGRAMENTO AUMENTADO OU OUTRAS INTERCORRÊNCIAS. # NÃO É NECESSÁRIO RETIRAR OS PONTOS. # LAVAR FO 3X/DIA COM ÁGUA E SABÃO DE GLICERINA.</a:t>
            </a:r>
          </a:p>
        </p:txBody>
      </p:sp>
      <p:sp>
        <p:nvSpPr>
          <p:cNvPr id="5" name="Rechteck 4"/>
          <p:cNvSpPr/>
          <p:nvPr/>
        </p:nvSpPr>
        <p:spPr>
          <a:xfrm>
            <a:off x="6648450" y="4238820"/>
            <a:ext cx="5543550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200" dirty="0"/>
              <a:t>* </a:t>
            </a:r>
            <a:r>
              <a:rPr lang="en-GB" sz="1200" dirty="0" err="1"/>
              <a:t>Anamnese</a:t>
            </a:r>
            <a:r>
              <a:rPr lang="en-GB" sz="1200" dirty="0"/>
              <a:t> und </a:t>
            </a:r>
            <a:r>
              <a:rPr lang="en-GB" sz="1200" dirty="0" err="1"/>
              <a:t>klinische</a:t>
            </a:r>
            <a:r>
              <a:rPr lang="en-GB" sz="1200" dirty="0"/>
              <a:t> </a:t>
            </a:r>
            <a:r>
              <a:rPr lang="en-GB" sz="1200" dirty="0" err="1"/>
              <a:t>Symptomatik</a:t>
            </a:r>
            <a:endParaRPr lang="en-GB" sz="1200" dirty="0"/>
          </a:p>
          <a:p>
            <a:r>
              <a:rPr lang="en-GB" sz="1200" dirty="0"/>
              <a:t>Stat. </a:t>
            </a:r>
            <a:r>
              <a:rPr lang="en-GB" sz="1200" dirty="0" err="1"/>
              <a:t>Übernahme</a:t>
            </a:r>
            <a:r>
              <a:rPr lang="en-GB" sz="1200" dirty="0"/>
              <a:t> </a:t>
            </a:r>
            <a:r>
              <a:rPr lang="en-GB" sz="1200" dirty="0" err="1"/>
              <a:t>vom</a:t>
            </a:r>
            <a:r>
              <a:rPr lang="en-GB" sz="1200" dirty="0"/>
              <a:t> LKH </a:t>
            </a:r>
            <a:r>
              <a:rPr lang="en-GB" sz="1200" dirty="0" err="1"/>
              <a:t>Fürstenfeld</a:t>
            </a:r>
            <a:r>
              <a:rPr lang="en-GB" sz="1200" dirty="0"/>
              <a:t> </a:t>
            </a:r>
            <a:r>
              <a:rPr lang="en-GB" sz="1200" dirty="0" err="1"/>
              <a:t>wegen</a:t>
            </a:r>
            <a:r>
              <a:rPr lang="en-GB" sz="1200" dirty="0"/>
              <a:t> </a:t>
            </a:r>
            <a:r>
              <a:rPr lang="en-GB" sz="1200" dirty="0" err="1"/>
              <a:t>neuerlicher</a:t>
            </a:r>
            <a:r>
              <a:rPr lang="en-GB" sz="1200" dirty="0"/>
              <a:t> </a:t>
            </a:r>
            <a:r>
              <a:rPr lang="en-GB" sz="1200" dirty="0" err="1"/>
              <a:t>Dyspnoe</a:t>
            </a:r>
            <a:r>
              <a:rPr lang="en-GB" sz="1200" dirty="0"/>
              <a:t> </a:t>
            </a:r>
            <a:r>
              <a:rPr lang="en-GB" sz="1200" dirty="0" err="1"/>
              <a:t>bei</a:t>
            </a:r>
            <a:r>
              <a:rPr lang="en-GB" sz="1200" dirty="0"/>
              <a:t> </a:t>
            </a:r>
            <a:r>
              <a:rPr lang="en-GB" sz="1200" dirty="0" err="1"/>
              <a:t>bek</a:t>
            </a:r>
            <a:r>
              <a:rPr lang="en-GB" sz="1200" dirty="0"/>
              <a:t>. dil. CMP u </a:t>
            </a:r>
            <a:r>
              <a:rPr lang="en-GB" sz="1200" dirty="0" err="1"/>
              <a:t>hochgr</a:t>
            </a:r>
            <a:r>
              <a:rPr lang="en-GB" sz="1200" dirty="0"/>
              <a:t>. MINS </a:t>
            </a:r>
            <a:r>
              <a:rPr lang="en-GB" sz="1200" dirty="0" err="1"/>
              <a:t>zur</a:t>
            </a:r>
            <a:r>
              <a:rPr lang="en-GB" sz="1200" dirty="0"/>
              <a:t> CA und </a:t>
            </a:r>
            <a:r>
              <a:rPr lang="en-GB" sz="1200" dirty="0" err="1"/>
              <a:t>Mitraclip</a:t>
            </a:r>
            <a:r>
              <a:rPr lang="en-GB" sz="1200" dirty="0"/>
              <a:t> /</a:t>
            </a:r>
            <a:r>
              <a:rPr lang="en-GB" sz="1200" dirty="0" err="1"/>
              <a:t>erztransplant</a:t>
            </a:r>
            <a:r>
              <a:rPr lang="en-GB" sz="1200" dirty="0"/>
              <a:t> </a:t>
            </a:r>
            <a:r>
              <a:rPr lang="en-GB" sz="1200" dirty="0" err="1"/>
              <a:t>Evaluierung</a:t>
            </a:r>
            <a:r>
              <a:rPr lang="en-GB" sz="1200" dirty="0"/>
              <a:t>. </a:t>
            </a:r>
            <a:r>
              <a:rPr lang="en-GB" sz="1200" dirty="0" err="1"/>
              <a:t>Bei</a:t>
            </a:r>
            <a:r>
              <a:rPr lang="en-GB" sz="1200" dirty="0"/>
              <a:t> </a:t>
            </a:r>
            <a:r>
              <a:rPr lang="en-GB" sz="1200" dirty="0" err="1"/>
              <a:t>dem</a:t>
            </a:r>
            <a:r>
              <a:rPr lang="en-GB" sz="1200" dirty="0"/>
              <a:t> </a:t>
            </a:r>
            <a:r>
              <a:rPr lang="en-GB" sz="1200" dirty="0" err="1"/>
              <a:t>Patienten</a:t>
            </a:r>
            <a:r>
              <a:rPr lang="en-GB" sz="1200" dirty="0"/>
              <a:t> </a:t>
            </a:r>
            <a:r>
              <a:rPr lang="en-GB" sz="1200" dirty="0" err="1"/>
              <a:t>besteht</a:t>
            </a:r>
            <a:r>
              <a:rPr lang="en-GB" sz="1200" dirty="0"/>
              <a:t> der </a:t>
            </a:r>
            <a:r>
              <a:rPr lang="en-GB" sz="1200" dirty="0" err="1"/>
              <a:t>St.p</a:t>
            </a:r>
            <a:r>
              <a:rPr lang="en-GB" sz="1200" dirty="0"/>
              <a:t>. 2x </a:t>
            </a:r>
            <a:r>
              <a:rPr lang="en-GB" sz="1200" dirty="0" err="1"/>
              <a:t>Simdax</a:t>
            </a:r>
            <a:r>
              <a:rPr lang="en-GB" sz="1200" dirty="0"/>
              <a:t> </a:t>
            </a:r>
            <a:r>
              <a:rPr lang="en-GB" sz="1200" dirty="0" err="1"/>
              <a:t>Therapie</a:t>
            </a:r>
            <a:r>
              <a:rPr lang="en-GB" sz="1200" dirty="0"/>
              <a:t> </a:t>
            </a:r>
            <a:r>
              <a:rPr lang="en-GB" sz="1200" dirty="0" err="1"/>
              <a:t>im</a:t>
            </a:r>
            <a:r>
              <a:rPr lang="en-GB" sz="1200" dirty="0"/>
              <a:t> </a:t>
            </a:r>
            <a:r>
              <a:rPr lang="en-GB" sz="1200" dirty="0" err="1"/>
              <a:t>Okt</a:t>
            </a:r>
            <a:r>
              <a:rPr lang="en-GB" sz="1200" dirty="0"/>
              <a:t> 2013.</a:t>
            </a:r>
          </a:p>
          <a:p>
            <a:r>
              <a:rPr lang="en-GB" sz="1200" dirty="0"/>
              <a:t>* </a:t>
            </a:r>
            <a:r>
              <a:rPr lang="en-GB" sz="1200" dirty="0" err="1"/>
              <a:t>Physikalischer</a:t>
            </a:r>
            <a:r>
              <a:rPr lang="en-GB" sz="1200" dirty="0"/>
              <a:t> Status</a:t>
            </a:r>
          </a:p>
          <a:p>
            <a:r>
              <a:rPr lang="en-GB" sz="1200" dirty="0"/>
              <a:t>48 </a:t>
            </a:r>
            <a:r>
              <a:rPr lang="en-GB" sz="1200" dirty="0" err="1"/>
              <a:t>jähr.Patient</a:t>
            </a:r>
            <a:r>
              <a:rPr lang="en-GB" sz="1200" dirty="0"/>
              <a:t>, </a:t>
            </a:r>
            <a:r>
              <a:rPr lang="en-GB" sz="1200" dirty="0" err="1"/>
              <a:t>deutl</a:t>
            </a:r>
            <a:r>
              <a:rPr lang="en-GB" sz="1200" dirty="0"/>
              <a:t>. </a:t>
            </a:r>
            <a:r>
              <a:rPr lang="en-GB" sz="1200" dirty="0" err="1"/>
              <a:t>reduz</a:t>
            </a:r>
            <a:r>
              <a:rPr lang="en-GB" sz="1200" dirty="0"/>
              <a:t>. AZ, </a:t>
            </a:r>
            <a:r>
              <a:rPr lang="en-GB" sz="1200" dirty="0" err="1"/>
              <a:t>normaler</a:t>
            </a:r>
            <a:r>
              <a:rPr lang="en-GB" sz="1200" dirty="0"/>
              <a:t> EZ. </a:t>
            </a:r>
            <a:r>
              <a:rPr lang="en-GB" sz="1200" dirty="0" err="1"/>
              <a:t>Cor</a:t>
            </a:r>
            <a:r>
              <a:rPr lang="en-GB" sz="1200" dirty="0"/>
              <a:t>: </a:t>
            </a:r>
            <a:r>
              <a:rPr lang="en-GB" sz="1200" dirty="0" err="1"/>
              <a:t>Ht</a:t>
            </a:r>
            <a:r>
              <a:rPr lang="en-GB" sz="1200" dirty="0"/>
              <a:t> </a:t>
            </a:r>
            <a:r>
              <a:rPr lang="en-GB" sz="1200" dirty="0" err="1"/>
              <a:t>rh</a:t>
            </a:r>
            <a:r>
              <a:rPr lang="en-GB" sz="1200" dirty="0"/>
              <a:t>, </a:t>
            </a:r>
            <a:r>
              <a:rPr lang="en-GB" sz="1200" dirty="0" err="1"/>
              <a:t>nc</a:t>
            </a:r>
            <a:r>
              <a:rPr lang="en-GB" sz="1200" dirty="0"/>
              <a:t>, </a:t>
            </a:r>
            <a:r>
              <a:rPr lang="en-GB" sz="1200" dirty="0" err="1"/>
              <a:t>Systolikum</a:t>
            </a:r>
            <a:r>
              <a:rPr lang="en-GB" sz="1200" dirty="0"/>
              <a:t> </a:t>
            </a:r>
            <a:r>
              <a:rPr lang="en-GB" sz="1200" dirty="0" err="1"/>
              <a:t>mit</a:t>
            </a:r>
            <a:r>
              <a:rPr lang="en-GB" sz="1200" dirty="0"/>
              <a:t> </a:t>
            </a:r>
            <a:r>
              <a:rPr lang="en-GB" sz="1200" dirty="0" err="1"/>
              <a:t>p.max</a:t>
            </a:r>
            <a:r>
              <a:rPr lang="en-GB" sz="1200" dirty="0"/>
              <a:t>. </a:t>
            </a:r>
            <a:r>
              <a:rPr lang="en-GB" sz="1200" dirty="0" err="1"/>
              <a:t>über</a:t>
            </a:r>
            <a:r>
              <a:rPr lang="en-GB" sz="1200" dirty="0"/>
              <a:t> </a:t>
            </a:r>
            <a:r>
              <a:rPr lang="en-GB" sz="1200" dirty="0" err="1"/>
              <a:t>dem</a:t>
            </a:r>
            <a:r>
              <a:rPr lang="en-GB" sz="1200" dirty="0"/>
              <a:t> </a:t>
            </a:r>
            <a:r>
              <a:rPr lang="en-GB" sz="1200" dirty="0" err="1"/>
              <a:t>Erbschen</a:t>
            </a:r>
            <a:r>
              <a:rPr lang="en-GB" sz="1200" dirty="0"/>
              <a:t> </a:t>
            </a:r>
            <a:r>
              <a:rPr lang="en-GB" sz="1200" dirty="0" err="1"/>
              <a:t>Punkt</a:t>
            </a:r>
            <a:r>
              <a:rPr lang="en-GB" sz="1200" dirty="0"/>
              <a:t> </a:t>
            </a:r>
            <a:r>
              <a:rPr lang="en-GB" sz="1200" dirty="0" err="1"/>
              <a:t>mit</a:t>
            </a:r>
            <a:r>
              <a:rPr lang="en-GB" sz="1200" dirty="0"/>
              <a:t> </a:t>
            </a:r>
            <a:r>
              <a:rPr lang="en-GB" sz="1200" dirty="0" err="1"/>
              <a:t>Fortleitung</a:t>
            </a:r>
            <a:r>
              <a:rPr lang="en-GB" sz="1200" dirty="0"/>
              <a:t> in die </a:t>
            </a:r>
            <a:r>
              <a:rPr lang="en-GB" sz="1200" dirty="0" err="1"/>
              <a:t>Axila</a:t>
            </a:r>
            <a:endParaRPr lang="en-GB" sz="1200" dirty="0"/>
          </a:p>
          <a:p>
            <a:r>
              <a:rPr lang="en-GB" sz="1200" dirty="0" err="1"/>
              <a:t>Pulmo</a:t>
            </a:r>
            <a:r>
              <a:rPr lang="en-GB" sz="1200" dirty="0"/>
              <a:t>: VA bds., </a:t>
            </a:r>
            <a:r>
              <a:rPr lang="en-GB" sz="1200" dirty="0" err="1"/>
              <a:t>feuchte</a:t>
            </a:r>
            <a:r>
              <a:rPr lang="en-GB" sz="1200" dirty="0"/>
              <a:t> RGs re&gt;li</a:t>
            </a:r>
          </a:p>
          <a:p>
            <a:r>
              <a:rPr lang="en-GB" sz="1200" dirty="0"/>
              <a:t>Abdomen: BD </a:t>
            </a:r>
            <a:r>
              <a:rPr lang="en-GB" sz="1200" dirty="0" err="1"/>
              <a:t>weich</a:t>
            </a:r>
            <a:r>
              <a:rPr lang="en-GB" sz="1200" dirty="0"/>
              <a:t>, </a:t>
            </a:r>
            <a:r>
              <a:rPr lang="en-GB" sz="1200" dirty="0" err="1"/>
              <a:t>kein</a:t>
            </a:r>
            <a:r>
              <a:rPr lang="en-GB" sz="1200" dirty="0"/>
              <a:t> DS</a:t>
            </a:r>
          </a:p>
          <a:p>
            <a:r>
              <a:rPr lang="en-GB" sz="1200" dirty="0" err="1"/>
              <a:t>Extremitäten</a:t>
            </a:r>
            <a:r>
              <a:rPr lang="en-GB" sz="1200" dirty="0"/>
              <a:t>: </a:t>
            </a:r>
            <a:r>
              <a:rPr lang="en-GB" sz="1200" dirty="0" err="1"/>
              <a:t>ausgeprägte</a:t>
            </a:r>
            <a:r>
              <a:rPr lang="en-GB" sz="1200" dirty="0"/>
              <a:t> </a:t>
            </a:r>
            <a:r>
              <a:rPr lang="en-GB" sz="1200" dirty="0" err="1"/>
              <a:t>Knöchelödeme</a:t>
            </a:r>
            <a:r>
              <a:rPr lang="en-GB" sz="1200" dirty="0"/>
              <a:t> bds.</a:t>
            </a:r>
          </a:p>
          <a:p>
            <a:r>
              <a:rPr lang="en-GB" sz="1200" dirty="0"/>
              <a:t>Herr DI Max </a:t>
            </a:r>
            <a:r>
              <a:rPr lang="en-GB" sz="1200" dirty="0" err="1"/>
              <a:t>Mustermann</a:t>
            </a:r>
            <a:r>
              <a:rPr lang="en-GB" sz="1200" dirty="0"/>
              <a:t> </a:t>
            </a:r>
            <a:r>
              <a:rPr lang="en-GB" sz="1200" dirty="0" err="1"/>
              <a:t>wurde</a:t>
            </a:r>
            <a:r>
              <a:rPr lang="en-GB" sz="1200" dirty="0"/>
              <a:t> </a:t>
            </a:r>
            <a:r>
              <a:rPr lang="en-GB" sz="1200" dirty="0" err="1"/>
              <a:t>aufgrund</a:t>
            </a:r>
            <a:r>
              <a:rPr lang="en-GB" sz="1200" dirty="0"/>
              <a:t> </a:t>
            </a:r>
            <a:r>
              <a:rPr lang="en-GB" sz="1200" dirty="0" err="1"/>
              <a:t>einer</a:t>
            </a:r>
            <a:r>
              <a:rPr lang="en-GB" sz="1200" dirty="0"/>
              <a:t> </a:t>
            </a:r>
            <a:r>
              <a:rPr lang="en-GB" sz="1200" dirty="0" err="1"/>
              <a:t>neuerlichen</a:t>
            </a:r>
            <a:r>
              <a:rPr lang="en-GB" sz="1200" dirty="0"/>
              <a:t> </a:t>
            </a:r>
            <a:r>
              <a:rPr lang="en-GB" sz="1200" dirty="0" err="1"/>
              <a:t>Dyspnoesymptomatik</a:t>
            </a:r>
            <a:r>
              <a:rPr lang="en-GB" sz="1200" dirty="0"/>
              <a:t> </a:t>
            </a:r>
            <a:r>
              <a:rPr lang="en-GB" sz="1200" dirty="0" err="1"/>
              <a:t>bei</a:t>
            </a:r>
            <a:r>
              <a:rPr lang="en-GB" sz="1200" dirty="0"/>
              <a:t> </a:t>
            </a:r>
            <a:r>
              <a:rPr lang="en-GB" sz="1200" dirty="0" err="1"/>
              <a:t>bek</a:t>
            </a:r>
            <a:r>
              <a:rPr lang="en-GB" sz="1200" dirty="0"/>
              <a:t>. </a:t>
            </a:r>
            <a:r>
              <a:rPr lang="en-GB" sz="1200" dirty="0" err="1"/>
              <a:t>dilat</a:t>
            </a:r>
            <a:r>
              <a:rPr lang="en-GB" sz="1200" dirty="0"/>
              <a:t>. CMP und </a:t>
            </a:r>
            <a:r>
              <a:rPr lang="en-GB" sz="1200" dirty="0" err="1"/>
              <a:t>hochgrad</a:t>
            </a:r>
            <a:r>
              <a:rPr lang="en-GB" sz="1200" dirty="0"/>
              <a:t>. MINS </a:t>
            </a:r>
            <a:r>
              <a:rPr lang="en-GB" sz="1200" dirty="0" err="1"/>
              <a:t>zur</a:t>
            </a:r>
            <a:r>
              <a:rPr lang="en-GB" sz="1200" dirty="0"/>
              <a:t> </a:t>
            </a:r>
            <a:r>
              <a:rPr lang="en-GB" sz="1200" dirty="0" err="1"/>
              <a:t>weiteren</a:t>
            </a:r>
            <a:r>
              <a:rPr lang="en-GB" sz="1200" dirty="0"/>
              <a:t> </a:t>
            </a:r>
            <a:r>
              <a:rPr lang="en-GB" sz="1200" dirty="0" err="1"/>
              <a:t>Evaluierung</a:t>
            </a:r>
            <a:r>
              <a:rPr lang="en-GB" sz="1200" dirty="0"/>
              <a:t> stat. </a:t>
            </a:r>
            <a:r>
              <a:rPr lang="en-GB" sz="1200" dirty="0" err="1"/>
              <a:t>vom</a:t>
            </a:r>
            <a:r>
              <a:rPr lang="en-GB" sz="1200" dirty="0"/>
              <a:t> LKH </a:t>
            </a:r>
            <a:r>
              <a:rPr lang="en-GB" sz="1200" dirty="0" err="1"/>
              <a:t>Fürstenfeld</a:t>
            </a:r>
            <a:r>
              <a:rPr lang="en-GB" sz="1200" dirty="0"/>
              <a:t> </a:t>
            </a:r>
            <a:r>
              <a:rPr lang="en-GB" sz="1200" dirty="0" err="1"/>
              <a:t>übernommen</a:t>
            </a:r>
            <a:r>
              <a:rPr lang="en-GB" sz="1200" dirty="0"/>
              <a:t>.</a:t>
            </a:r>
          </a:p>
        </p:txBody>
      </p:sp>
      <p:pic>
        <p:nvPicPr>
          <p:cNvPr id="1026" name="Picture 2" descr="HCPA abre processo seletivo para cargos de nível superior e médi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00495"/>
            <a:ext cx="3611881" cy="2407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Grafik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450" y="1400495"/>
            <a:ext cx="3222495" cy="2407920"/>
          </a:xfrm>
          <a:prstGeom prst="rect">
            <a:avLst/>
          </a:prstGeom>
        </p:spPr>
      </p:pic>
      <p:pic>
        <p:nvPicPr>
          <p:cNvPr id="1028" name="Picture 4" descr="Datei:Flag of Austria (state).sv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76262" y="1400495"/>
            <a:ext cx="937260" cy="624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Grafik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3383" y="1400495"/>
            <a:ext cx="902335" cy="635226"/>
          </a:xfrm>
          <a:prstGeom prst="rect">
            <a:avLst/>
          </a:prstGeom>
        </p:spPr>
      </p:pic>
      <p:sp>
        <p:nvSpPr>
          <p:cNvPr id="11" name="Textfeld 10"/>
          <p:cNvSpPr txBox="1"/>
          <p:nvPr/>
        </p:nvSpPr>
        <p:spPr>
          <a:xfrm>
            <a:off x="4433383" y="2401401"/>
            <a:ext cx="13529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Porto Alegre</a:t>
            </a:r>
            <a:br>
              <a:rPr lang="en-GB" dirty="0"/>
            </a:br>
            <a:r>
              <a:rPr lang="en-GB" dirty="0"/>
              <a:t>Brazil</a:t>
            </a:r>
          </a:p>
        </p:txBody>
      </p:sp>
      <p:sp>
        <p:nvSpPr>
          <p:cNvPr id="14" name="Textfeld 13"/>
          <p:cNvSpPr txBox="1"/>
          <p:nvPr/>
        </p:nvSpPr>
        <p:spPr>
          <a:xfrm>
            <a:off x="10278355" y="2401400"/>
            <a:ext cx="8473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Graz</a:t>
            </a:r>
            <a:br>
              <a:rPr lang="en-GB" dirty="0"/>
            </a:br>
            <a:r>
              <a:rPr lang="en-GB" dirty="0"/>
              <a:t>Austria</a:t>
            </a:r>
          </a:p>
        </p:txBody>
      </p:sp>
      <p:sp>
        <p:nvSpPr>
          <p:cNvPr id="16" name="Abgerundetes Rechteck 15"/>
          <p:cNvSpPr/>
          <p:nvPr/>
        </p:nvSpPr>
        <p:spPr>
          <a:xfrm>
            <a:off x="134258" y="4129771"/>
            <a:ext cx="5818102" cy="2602039"/>
          </a:xfrm>
          <a:prstGeom prst="roundRect">
            <a:avLst>
              <a:gd name="adj" fmla="val 7012"/>
            </a:avLst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7" name="Abgerundetes Rechteck 16"/>
          <p:cNvSpPr/>
          <p:nvPr/>
        </p:nvSpPr>
        <p:spPr>
          <a:xfrm>
            <a:off x="6275302" y="4132020"/>
            <a:ext cx="5818102" cy="2602039"/>
          </a:xfrm>
          <a:prstGeom prst="roundRect">
            <a:avLst>
              <a:gd name="adj" fmla="val 7012"/>
            </a:avLst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52FB6947-3B11-67AC-96FC-28B85C2A7AD2}"/>
              </a:ext>
            </a:extLst>
          </p:cNvPr>
          <p:cNvSpPr txBox="1">
            <a:spLocks/>
          </p:cNvSpPr>
          <p:nvPr/>
        </p:nvSpPr>
        <p:spPr>
          <a:xfrm>
            <a:off x="9541" y="-2802"/>
            <a:ext cx="12192000" cy="132556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C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Informal working languages, e.g. clinical language</a:t>
            </a:r>
          </a:p>
        </p:txBody>
      </p:sp>
    </p:spTree>
    <p:extLst>
      <p:ext uri="{BB962C8B-B14F-4D97-AF65-F5344CB8AC3E}">
        <p14:creationId xmlns:p14="http://schemas.microsoft.com/office/powerpoint/2010/main" val="3052414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11" grpId="0"/>
      <p:bldP spid="14" grpId="0"/>
      <p:bldP spid="16" grpId="0" animBg="1"/>
      <p:bldP spid="1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el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376764"/>
              </p:ext>
            </p:extLst>
          </p:nvPr>
        </p:nvGraphicFramePr>
        <p:xfrm>
          <a:off x="355599" y="232311"/>
          <a:ext cx="11480801" cy="644081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1681">
                  <a:extLst>
                    <a:ext uri="{9D8B030D-6E8A-4147-A177-3AD203B41FA5}">
                      <a16:colId xmlns:a16="http://schemas.microsoft.com/office/drawing/2014/main" val="4220070009"/>
                    </a:ext>
                  </a:extLst>
                </a:gridCol>
                <a:gridCol w="4378960">
                  <a:extLst>
                    <a:ext uri="{9D8B030D-6E8A-4147-A177-3AD203B41FA5}">
                      <a16:colId xmlns:a16="http://schemas.microsoft.com/office/drawing/2014/main" val="2265335838"/>
                    </a:ext>
                  </a:extLst>
                </a:gridCol>
                <a:gridCol w="5090160">
                  <a:extLst>
                    <a:ext uri="{9D8B030D-6E8A-4147-A177-3AD203B41FA5}">
                      <a16:colId xmlns:a16="http://schemas.microsoft.com/office/drawing/2014/main" val="1357951546"/>
                    </a:ext>
                  </a:extLst>
                </a:gridCol>
              </a:tblGrid>
              <a:tr h="159265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GB" sz="1600" b="1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Phenomenon</a:t>
                      </a:r>
                      <a:endParaRPr lang="en-GB" sz="1600" b="1" dirty="0">
                        <a:solidFill>
                          <a:schemeClr val="bg1"/>
                        </a:solidFill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9711" marR="9711" marT="9711" marB="9711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GB" sz="1600" b="1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Example</a:t>
                      </a:r>
                      <a:endParaRPr lang="en-GB" sz="1600" b="1" dirty="0">
                        <a:solidFill>
                          <a:schemeClr val="bg1"/>
                        </a:solidFill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9711" marR="9711" marT="9711" marB="9711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GB" sz="1600" b="1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Elucidation</a:t>
                      </a:r>
                      <a:endParaRPr lang="en-GB" sz="1600" b="1" dirty="0">
                        <a:solidFill>
                          <a:schemeClr val="bg1"/>
                        </a:solidFill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9711" marR="9711" marT="9711" marB="9711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6027486"/>
                  </a:ext>
                </a:extLst>
              </a:tr>
              <a:tr h="2711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Telegram style</a:t>
                      </a:r>
                      <a:endParaRPr lang="en-GB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9711" marR="9711" marT="3600" marB="36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"left PICA stroke, presented to ED after fall"</a:t>
                      </a:r>
                      <a:endParaRPr lang="en-GB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9711" marR="9711" marT="3600" marB="36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Incomplete sentences, sketchy style</a:t>
                      </a:r>
                      <a:endParaRPr lang="en-GB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9711" marR="9711" marT="3600" marB="3600"/>
                </a:tc>
                <a:extLst>
                  <a:ext uri="{0D108BD9-81ED-4DB2-BD59-A6C34878D82A}">
                    <a16:rowId xmlns:a16="http://schemas.microsoft.com/office/drawing/2014/main" val="2232377255"/>
                  </a:ext>
                </a:extLst>
              </a:tr>
              <a:tr h="14528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Colloquialisms</a:t>
                      </a:r>
                      <a:endParaRPr lang="en-GB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9711" marR="9711" marT="3600" marB="36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"pothole sign", "snorkel"</a:t>
                      </a:r>
                      <a:endParaRPr lang="en-GB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9711" marR="9711" marT="3600" marB="36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Milieu-specific sub-languages</a:t>
                      </a:r>
                      <a:endParaRPr lang="en-GB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9711" marR="9711" marT="3600" marB="3600"/>
                </a:tc>
                <a:extLst>
                  <a:ext uri="{0D108BD9-81ED-4DB2-BD59-A6C34878D82A}">
                    <a16:rowId xmlns:a16="http://schemas.microsoft.com/office/drawing/2014/main" val="38670392"/>
                  </a:ext>
                </a:extLst>
              </a:tr>
              <a:tr h="2711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Ad-hoc abbreviations</a:t>
                      </a:r>
                      <a:endParaRPr lang="en-GB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9711" marR="9711" marT="3600" marB="36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"</a:t>
                      </a:r>
                      <a:r>
                        <a:rPr lang="en-GB" sz="14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infiltr</a:t>
                      </a:r>
                      <a:r>
                        <a:rPr lang="en-GB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"</a:t>
                      </a:r>
                      <a:endParaRPr lang="en-GB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9711" marR="9711" marT="3600" marB="36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Truncation ("infiltrated mucosa")</a:t>
                      </a:r>
                      <a:endParaRPr lang="en-GB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9711" marR="9711" marT="3600" marB="3600"/>
                </a:tc>
                <a:extLst>
                  <a:ext uri="{0D108BD9-81ED-4DB2-BD59-A6C34878D82A}">
                    <a16:rowId xmlns:a16="http://schemas.microsoft.com/office/drawing/2014/main" val="2637762356"/>
                  </a:ext>
                </a:extLst>
              </a:tr>
              <a:tr h="2711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Ambiguous short forms</a:t>
                      </a:r>
                      <a:endParaRPr lang="en-GB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9711" marR="9711" marT="3600" marB="36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"RTA"</a:t>
                      </a:r>
                      <a:endParaRPr lang="en-GB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9711" marR="9711" marT="3600" marB="36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"Road traffic accident", "Renal-tubular acidosis" </a:t>
                      </a:r>
                      <a:endParaRPr lang="en-GB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9711" marR="9711" marT="3600" marB="3600"/>
                </a:tc>
                <a:extLst>
                  <a:ext uri="{0D108BD9-81ED-4DB2-BD59-A6C34878D82A}">
                    <a16:rowId xmlns:a16="http://schemas.microsoft.com/office/drawing/2014/main" val="3936737620"/>
                  </a:ext>
                </a:extLst>
              </a:tr>
              <a:tr h="39699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Short forms of regional or local scope</a:t>
                      </a:r>
                      <a:endParaRPr lang="en-GB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9711" marR="9711" marT="3600" marB="36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"LDS Hospital"</a:t>
                      </a:r>
                      <a:br>
                        <a:rPr lang="en-GB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</a:br>
                      <a:r>
                        <a:rPr lang="en-GB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"St. p."</a:t>
                      </a:r>
                      <a:endParaRPr lang="en-GB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9711" marR="9711" marT="3600" marB="36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"Latter-Day-Saints Hospital" (and not "Leak Detection System")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"Status post" = "History of"  </a:t>
                      </a:r>
                      <a:endParaRPr lang="en-GB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9711" marR="9711" marT="3600" marB="3600"/>
                </a:tc>
                <a:extLst>
                  <a:ext uri="{0D108BD9-81ED-4DB2-BD59-A6C34878D82A}">
                    <a16:rowId xmlns:a16="http://schemas.microsoft.com/office/drawing/2014/main" val="1702903283"/>
                  </a:ext>
                </a:extLst>
              </a:tr>
              <a:tr h="2711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Conventionalized Latin abbreviations</a:t>
                      </a:r>
                      <a:endParaRPr lang="en-GB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9711" marR="9711" marT="3600" marB="36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"V </a:t>
                      </a:r>
                      <a:r>
                        <a:rPr lang="en-GB" sz="14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mors</a:t>
                      </a:r>
                      <a:r>
                        <a:rPr lang="en-GB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 can dig V </a:t>
                      </a:r>
                      <a:r>
                        <a:rPr lang="en-GB" sz="14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dext</a:t>
                      </a:r>
                      <a:r>
                        <a:rPr lang="en-GB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"</a:t>
                      </a:r>
                      <a:endParaRPr lang="en-GB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9711" marR="9711" marT="3600" marB="36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"</a:t>
                      </a:r>
                      <a:r>
                        <a:rPr lang="en-GB" sz="14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Vulnus</a:t>
                      </a:r>
                      <a:r>
                        <a:rPr lang="en-GB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GB" sz="14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morsum</a:t>
                      </a:r>
                      <a:r>
                        <a:rPr lang="en-GB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GB" sz="14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canis</a:t>
                      </a:r>
                      <a:r>
                        <a:rPr lang="en-GB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 digiti quinti </a:t>
                      </a:r>
                      <a:r>
                        <a:rPr lang="en-GB" sz="14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dextri</a:t>
                      </a:r>
                      <a:r>
                        <a:rPr lang="en-GB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" (in some European languages)</a:t>
                      </a:r>
                      <a:endParaRPr lang="en-GB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9711" marR="9711" marT="3600" marB="3600"/>
                </a:tc>
                <a:extLst>
                  <a:ext uri="{0D108BD9-81ED-4DB2-BD59-A6C34878D82A}">
                    <a16:rowId xmlns:a16="http://schemas.microsoft.com/office/drawing/2014/main" val="936018275"/>
                  </a:ext>
                </a:extLst>
              </a:tr>
              <a:tr h="2711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Numeric codes</a:t>
                      </a:r>
                      <a:endParaRPr lang="en-GB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9711" marR="9711" marT="3600" marB="36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"45, 46 with crowns", "VI palsy", "2-2-2"</a:t>
                      </a:r>
                      <a:endParaRPr lang="en-GB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9711" marR="9711" marT="3600" marB="36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Tooth</a:t>
                      </a:r>
                      <a:r>
                        <a:rPr lang="en-GB" sz="14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 numbers, cranial nerves, dose frequencies</a:t>
                      </a:r>
                      <a:endParaRPr lang="en-GB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9711" marR="9711" marT="3600" marB="3600"/>
                </a:tc>
                <a:extLst>
                  <a:ext uri="{0D108BD9-81ED-4DB2-BD59-A6C34878D82A}">
                    <a16:rowId xmlns:a16="http://schemas.microsoft.com/office/drawing/2014/main" val="2115214221"/>
                  </a:ext>
                </a:extLst>
              </a:tr>
              <a:tr h="2711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Terminology codes</a:t>
                      </a:r>
                      <a:endParaRPr lang="en-GB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9711" marR="9711" marT="3600" marB="36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"I10"</a:t>
                      </a:r>
                      <a:endParaRPr lang="en-GB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9711" marR="9711" marT="3600" marB="36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Often added to disease names, e.g. Hypertension (I10)</a:t>
                      </a:r>
                    </a:p>
                  </a:txBody>
                  <a:tcPr marL="9711" marR="9711" marT="3600" marB="3600"/>
                </a:tc>
                <a:extLst>
                  <a:ext uri="{0D108BD9-81ED-4DB2-BD59-A6C34878D82A}">
                    <a16:rowId xmlns:a16="http://schemas.microsoft.com/office/drawing/2014/main" val="3780000503"/>
                  </a:ext>
                </a:extLst>
              </a:tr>
              <a:tr h="2711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Spelling errors, typos</a:t>
                      </a:r>
                      <a:endParaRPr lang="en-GB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9711" marR="9711" marT="3600" marB="36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"</a:t>
                      </a:r>
                      <a:r>
                        <a:rPr lang="en-GB" sz="14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Diabtes</a:t>
                      </a:r>
                      <a:r>
                        <a:rPr lang="en-GB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", "Astra-Seneca", "</a:t>
                      </a:r>
                      <a:r>
                        <a:rPr lang="en-GB" sz="14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Hipotireose</a:t>
                      </a:r>
                      <a:r>
                        <a:rPr lang="en-GB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", </a:t>
                      </a:r>
                      <a:endParaRPr lang="en-GB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9711" marR="9711" marT="3600" marB="36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accidental (quick typing) or systematic (e.g. 2</a:t>
                      </a:r>
                      <a:r>
                        <a:rPr lang="en-GB" sz="1400" baseline="30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nd</a:t>
                      </a:r>
                      <a:r>
                        <a:rPr lang="en-GB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 language speakers)</a:t>
                      </a:r>
                      <a:endParaRPr lang="en-GB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9711" marR="9711" marT="3600" marB="3600"/>
                </a:tc>
                <a:extLst>
                  <a:ext uri="{0D108BD9-81ED-4DB2-BD59-A6C34878D82A}">
                    <a16:rowId xmlns:a16="http://schemas.microsoft.com/office/drawing/2014/main" val="1777662665"/>
                  </a:ext>
                </a:extLst>
              </a:tr>
              <a:tr h="14528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Spelling variants</a:t>
                      </a:r>
                      <a:endParaRPr lang="en-GB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9711" marR="9711" marT="3600" marB="36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"</a:t>
                      </a:r>
                      <a:r>
                        <a:rPr lang="en-GB" sz="14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Esophagus</a:t>
                      </a:r>
                      <a:r>
                        <a:rPr lang="en-GB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", "Oesophagus"</a:t>
                      </a:r>
                      <a:endParaRPr lang="en-GB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9711" marR="9711" marT="3600" marB="36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e.g. American vs. British English</a:t>
                      </a:r>
                      <a:endParaRPr lang="en-GB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9711" marR="9711" marT="3600" marB="3600"/>
                </a:tc>
                <a:extLst>
                  <a:ext uri="{0D108BD9-81ED-4DB2-BD59-A6C34878D82A}">
                    <a16:rowId xmlns:a16="http://schemas.microsoft.com/office/drawing/2014/main" val="3110766314"/>
                  </a:ext>
                </a:extLst>
              </a:tr>
              <a:tr h="29312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Single noun compounds</a:t>
                      </a:r>
                      <a:endParaRPr lang="en-GB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9711" marR="9711" marT="3600" marB="36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"</a:t>
                      </a:r>
                      <a:r>
                        <a:rPr lang="en-GB" sz="14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Ibuprofenintoxikation</a:t>
                      </a:r>
                      <a:r>
                        <a:rPr lang="en-GB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"</a:t>
                      </a:r>
                    </a:p>
                  </a:txBody>
                  <a:tcPr marL="9711" marR="9711" marT="3600" marB="36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Non-lexicalized long words (in languages such as German, Swedish)</a:t>
                      </a:r>
                      <a:endParaRPr lang="en-GB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9711" marR="9711" marT="3600" marB="3600"/>
                </a:tc>
                <a:extLst>
                  <a:ext uri="{0D108BD9-81ED-4DB2-BD59-A6C34878D82A}">
                    <a16:rowId xmlns:a16="http://schemas.microsoft.com/office/drawing/2014/main" val="1854398048"/>
                  </a:ext>
                </a:extLst>
              </a:tr>
              <a:tr h="29312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Cryptonyms</a:t>
                      </a:r>
                    </a:p>
                  </a:txBody>
                  <a:tcPr marL="9711" marR="9711" marT="3600" marB="36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"</a:t>
                      </a:r>
                      <a:r>
                        <a:rPr lang="en-GB" sz="14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N.coli</a:t>
                      </a:r>
                      <a:r>
                        <a:rPr lang="en-GB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", "</a:t>
                      </a:r>
                      <a:r>
                        <a:rPr lang="en-GB" sz="14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ut</a:t>
                      </a:r>
                      <a:r>
                        <a:rPr lang="en-GB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GB" sz="14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aliquid</a:t>
                      </a:r>
                      <a:r>
                        <a:rPr lang="en-GB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 fiat"</a:t>
                      </a:r>
                    </a:p>
                  </a:txBody>
                  <a:tcPr marL="9711" marR="9711" marT="3600" marB="36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To conceal meaning (colon cancer, placebo treatment)</a:t>
                      </a:r>
                    </a:p>
                  </a:txBody>
                  <a:tcPr marL="9711" marR="9711" marT="3600" marB="3600"/>
                </a:tc>
                <a:extLst>
                  <a:ext uri="{0D108BD9-81ED-4DB2-BD59-A6C34878D82A}">
                    <a16:rowId xmlns:a16="http://schemas.microsoft.com/office/drawing/2014/main" val="892254971"/>
                  </a:ext>
                </a:extLst>
              </a:tr>
              <a:tr h="29312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Coordinations</a:t>
                      </a:r>
                      <a:endParaRPr lang="en-GB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9711" marR="9711" marT="3600" marB="36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"swelling of the gums and tonsils"</a:t>
                      </a:r>
                      <a:endParaRPr lang="en-GB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711" marR="9711" marT="3600" marB="36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Scope of syntactic head often difficult</a:t>
                      </a:r>
                      <a:endParaRPr lang="en-GB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9711" marR="9711" marT="3600" marB="3600"/>
                </a:tc>
                <a:extLst>
                  <a:ext uri="{0D108BD9-81ED-4DB2-BD59-A6C34878D82A}">
                    <a16:rowId xmlns:a16="http://schemas.microsoft.com/office/drawing/2014/main" val="680087159"/>
                  </a:ext>
                </a:extLst>
              </a:tr>
              <a:tr h="29312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Ellipses</a:t>
                      </a:r>
                    </a:p>
                  </a:txBody>
                  <a:tcPr marL="9711" marR="9711" marT="3600" marB="36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ECG: 78/min</a:t>
                      </a:r>
                    </a:p>
                  </a:txBody>
                  <a:tcPr marL="9711" marR="9711" marT="3600" marB="36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Not explicitly stated that it refers to heart rate</a:t>
                      </a:r>
                    </a:p>
                  </a:txBody>
                  <a:tcPr marL="9711" marR="9711" marT="3600" marB="3600"/>
                </a:tc>
                <a:extLst>
                  <a:ext uri="{0D108BD9-81ED-4DB2-BD59-A6C34878D82A}">
                    <a16:rowId xmlns:a16="http://schemas.microsoft.com/office/drawing/2014/main" val="303497746"/>
                  </a:ext>
                </a:extLst>
              </a:tr>
              <a:tr h="4979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Anaphora</a:t>
                      </a:r>
                      <a:endParaRPr lang="en-GB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9711" marR="9711" marT="3600" marB="36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en-GB" sz="14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i</a:t>
                      </a:r>
                      <a:r>
                        <a:rPr lang="en-GB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) "</a:t>
                      </a:r>
                      <a:r>
                        <a:rPr lang="en-GB" sz="14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adenoCa</a:t>
                      </a:r>
                      <a:r>
                        <a:rPr lang="en-GB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GB" sz="14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rect</a:t>
                      </a:r>
                      <a:r>
                        <a:rPr lang="en-GB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GB" sz="14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pN+MX</a:t>
                      </a:r>
                      <a:r>
                        <a:rPr lang="en-GB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 G2 (...). </a:t>
                      </a:r>
                      <a:r>
                        <a:rPr lang="en-GB" sz="14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tumor</a:t>
                      </a:r>
                      <a:r>
                        <a:rPr lang="en-GB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 excised in toto"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(ii) "no blood in stomach (...). </a:t>
                      </a:r>
                      <a:r>
                        <a:rPr lang="en-GB" sz="14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mult</a:t>
                      </a:r>
                      <a:r>
                        <a:rPr lang="en-GB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 mucosal erosions "</a:t>
                      </a:r>
                      <a:endParaRPr lang="en-GB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9711" marR="9711" marT="3600" marB="36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en-GB" sz="14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i</a:t>
                      </a:r>
                      <a:r>
                        <a:rPr lang="en-GB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) "</a:t>
                      </a:r>
                      <a:r>
                        <a:rPr lang="en-GB" sz="14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Tumor</a:t>
                      </a:r>
                      <a:r>
                        <a:rPr lang="en-GB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" coreferential to </a:t>
                      </a:r>
                      <a:r>
                        <a:rPr lang="en-GB" sz="14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adenocarcinom</a:t>
                      </a:r>
                      <a:r>
                        <a:rPr lang="en-GB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 described in left context</a:t>
                      </a:r>
                      <a:br>
                        <a:rPr lang="en-GB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</a:br>
                      <a:r>
                        <a:rPr lang="en-GB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(ii) "mucosal erosions" refined to "erosions of gastric mucosa" </a:t>
                      </a:r>
                      <a:endParaRPr lang="en-GB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9711" marR="9711" marT="3600" marB="3600"/>
                </a:tc>
                <a:extLst>
                  <a:ext uri="{0D108BD9-81ED-4DB2-BD59-A6C34878D82A}">
                    <a16:rowId xmlns:a16="http://schemas.microsoft.com/office/drawing/2014/main" val="3041492577"/>
                  </a:ext>
                </a:extLst>
              </a:tr>
              <a:tr h="2711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Negations</a:t>
                      </a:r>
                      <a:endParaRPr lang="en-GB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9711" marR="9711" marT="3600" marB="36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"No evidence of pneumonia"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"</a:t>
                      </a:r>
                      <a:r>
                        <a:rPr lang="en-GB" sz="14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Pulmones</a:t>
                      </a:r>
                      <a:r>
                        <a:rPr lang="en-GB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: nihil", "</a:t>
                      </a:r>
                      <a:r>
                        <a:rPr lang="en-GB" sz="14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metastasenfrei</a:t>
                      </a:r>
                      <a:r>
                        <a:rPr lang="en-GB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"</a:t>
                      </a:r>
                      <a:endParaRPr lang="en-GB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9711" marR="9711" marT="3600" marB="36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non-standard, jargon-like, negation particle as prefix or suffixed</a:t>
                      </a:r>
                      <a:endParaRPr lang="en-GB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9711" marR="9711" marT="3600" marB="3600"/>
                </a:tc>
                <a:extLst>
                  <a:ext uri="{0D108BD9-81ED-4DB2-BD59-A6C34878D82A}">
                    <a16:rowId xmlns:a16="http://schemas.microsoft.com/office/drawing/2014/main" val="778112197"/>
                  </a:ext>
                </a:extLst>
              </a:tr>
              <a:tr h="24035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Epistemic contexts</a:t>
                      </a:r>
                      <a:endParaRPr lang="en-GB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9711" marR="9711" marT="3600" marB="36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"susp MI, DD lung embolism" </a:t>
                      </a:r>
                      <a:endParaRPr lang="en-GB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9711" marR="9711" marT="3600" marB="36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suspected diagnosis, differential diagnosis</a:t>
                      </a:r>
                      <a:endParaRPr lang="en-GB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9711" marR="9711" marT="3600" marB="3600"/>
                </a:tc>
                <a:extLst>
                  <a:ext uri="{0D108BD9-81ED-4DB2-BD59-A6C34878D82A}">
                    <a16:rowId xmlns:a16="http://schemas.microsoft.com/office/drawing/2014/main" val="4190341411"/>
                  </a:ext>
                </a:extLst>
              </a:tr>
              <a:tr h="2711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Temporal contexts</a:t>
                      </a:r>
                      <a:endParaRPr lang="en-GB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9711" marR="9711" marT="3600" marB="36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"h/o Covid-19",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"</a:t>
                      </a:r>
                      <a:r>
                        <a:rPr lang="en-GB" sz="14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Streptokokkenangina</a:t>
                      </a:r>
                      <a:r>
                        <a:rPr lang="en-GB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 06/16"</a:t>
                      </a:r>
                      <a:endParaRPr lang="en-GB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9711" marR="9711" marT="3600" marB="36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"history of"  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Coarse-grained references to dates (mm/</a:t>
                      </a:r>
                      <a:r>
                        <a:rPr lang="en-GB" sz="14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yy</a:t>
                      </a:r>
                      <a:r>
                        <a:rPr lang="en-GB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)</a:t>
                      </a:r>
                      <a:endParaRPr lang="en-GB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9711" marR="9711" marT="3600" marB="3600"/>
                </a:tc>
                <a:extLst>
                  <a:ext uri="{0D108BD9-81ED-4DB2-BD59-A6C34878D82A}">
                    <a16:rowId xmlns:a16="http://schemas.microsoft.com/office/drawing/2014/main" val="4130959057"/>
                  </a:ext>
                </a:extLst>
              </a:tr>
              <a:tr h="32047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Other contexts</a:t>
                      </a:r>
                      <a:endParaRPr lang="en-GB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9711" marR="9711" marT="3600" marB="36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en-GB" sz="14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i</a:t>
                      </a:r>
                      <a:r>
                        <a:rPr lang="en-GB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) father: pancreas ca"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(ii) "refrained from resuscitation"</a:t>
                      </a:r>
                      <a:endParaRPr lang="en-GB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9711" marR="9711" marT="3600" marB="36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en-GB" sz="14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i</a:t>
                      </a:r>
                      <a:r>
                        <a:rPr lang="en-GB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) family history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</a:rPr>
                        <a:t>(ii) plans not executed </a:t>
                      </a:r>
                      <a:endParaRPr lang="en-GB" sz="14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9711" marR="9711" marT="3600" marB="3600"/>
                </a:tc>
                <a:extLst>
                  <a:ext uri="{0D108BD9-81ED-4DB2-BD59-A6C34878D82A}">
                    <a16:rowId xmlns:a16="http://schemas.microsoft.com/office/drawing/2014/main" val="38388418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39921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 </a:t>
            </a:r>
          </a:p>
        </p:txBody>
      </p:sp>
      <p:grpSp>
        <p:nvGrpSpPr>
          <p:cNvPr id="4" name="Gruppieren 3"/>
          <p:cNvGrpSpPr/>
          <p:nvPr/>
        </p:nvGrpSpPr>
        <p:grpSpPr>
          <a:xfrm>
            <a:off x="1026253" y="1618027"/>
            <a:ext cx="10168467" cy="4555066"/>
            <a:chOff x="1223792" y="1670659"/>
            <a:chExt cx="9763125" cy="4629150"/>
          </a:xfrm>
        </p:grpSpPr>
        <p:pic>
          <p:nvPicPr>
            <p:cNvPr id="7" name="Grafik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23792" y="1670659"/>
              <a:ext cx="9763125" cy="4629150"/>
            </a:xfrm>
            <a:prstGeom prst="rect">
              <a:avLst/>
            </a:prstGeom>
          </p:spPr>
        </p:pic>
        <p:sp>
          <p:nvSpPr>
            <p:cNvPr id="5" name="Rechteck 4"/>
            <p:cNvSpPr/>
            <p:nvPr/>
          </p:nvSpPr>
          <p:spPr>
            <a:xfrm>
              <a:off x="6289901" y="3096799"/>
              <a:ext cx="4276498" cy="31278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endParaRPr lang="en-GB" sz="1400" dirty="0"/>
            </a:p>
          </p:txBody>
        </p:sp>
        <p:sp>
          <p:nvSpPr>
            <p:cNvPr id="3" name="Rechteck 2"/>
            <p:cNvSpPr/>
            <p:nvPr/>
          </p:nvSpPr>
          <p:spPr>
            <a:xfrm>
              <a:off x="1538514" y="3096799"/>
              <a:ext cx="3942066" cy="276812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eaLnBrk="0" hangingPunct="0">
                <a:lnSpc>
                  <a:spcPct val="90000"/>
                </a:lnSpc>
                <a:spcBef>
                  <a:spcPct val="0"/>
                </a:spcBef>
              </a:pPr>
              <a:r>
                <a:rPr lang="en-US" altLang="de-DE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Physical examination on admission revealed purpura of the upper and lower extremities, </a:t>
              </a:r>
              <a:r>
                <a:rPr lang="en-US" altLang="de-DE" b="1" dirty="0">
                  <a:solidFill>
                    <a:srgbClr val="FF0000"/>
                  </a:solidFill>
                </a:rPr>
                <a:t>swelling of the gums and tonsils</a:t>
              </a:r>
              <a:r>
                <a:rPr lang="en-US" altLang="de-DE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, but no symptoms showing the complication of myasthenia gravis. Hematological tests revealed </a:t>
              </a:r>
              <a:r>
                <a:rPr lang="en-US" altLang="de-DE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leucocytosis</a:t>
              </a:r>
              <a:r>
                <a:rPr lang="en-US" altLang="de-DE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: WBC count 68 700/µl (blasts 11.5%, </a:t>
              </a:r>
              <a:r>
                <a:rPr lang="en-US" altLang="de-DE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myelocytes</a:t>
              </a:r>
              <a:r>
                <a:rPr lang="en-US" altLang="de-DE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0.5%, bands 2.0%, segments 16.0%, monocytes 65.5%, lymphocytes 4.0%, atypical lymphocytes 0.5%), </a:t>
              </a:r>
              <a:r>
                <a:rPr lang="en-US" altLang="de-DE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Hb</a:t>
              </a:r>
              <a:r>
                <a:rPr lang="en-US" altLang="de-DE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7.1 g/dl (reticulocytes 12%) and a platelet count of 9.1 × 104/µl. A bone marrow aspiration revealed </a:t>
              </a:r>
              <a:r>
                <a:rPr lang="en-US" altLang="de-DE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hypercelllar</a:t>
              </a:r>
              <a:r>
                <a:rPr lang="en-US" altLang="de-DE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bone marrow with a decreased number of erythroblasts and megakaryocytes and an increased number of </a:t>
              </a:r>
              <a:r>
                <a:rPr lang="en-US" altLang="de-DE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monoblasts</a:t>
              </a:r>
              <a:r>
                <a:rPr lang="en-US" altLang="de-DE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</a:p>
          </p:txBody>
        </p:sp>
      </p:grpSp>
      <p:pic>
        <p:nvPicPr>
          <p:cNvPr id="18" name="Grafik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8162" y="1083628"/>
            <a:ext cx="4391175" cy="2476418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8163" y="3586990"/>
            <a:ext cx="4904382" cy="3243221"/>
          </a:xfrm>
          <a:prstGeom prst="rect">
            <a:avLst/>
          </a:prstGeom>
        </p:spPr>
      </p:pic>
      <p:cxnSp>
        <p:nvCxnSpPr>
          <p:cNvPr id="11" name="Gerader Verbinder 10"/>
          <p:cNvCxnSpPr/>
          <p:nvPr/>
        </p:nvCxnSpPr>
        <p:spPr>
          <a:xfrm flipV="1">
            <a:off x="5221705" y="1488893"/>
            <a:ext cx="1926457" cy="1940109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r Verbinder 12"/>
          <p:cNvCxnSpPr/>
          <p:nvPr/>
        </p:nvCxnSpPr>
        <p:spPr>
          <a:xfrm>
            <a:off x="5221705" y="3443436"/>
            <a:ext cx="2249906" cy="138888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hteck 18"/>
          <p:cNvSpPr/>
          <p:nvPr/>
        </p:nvSpPr>
        <p:spPr>
          <a:xfrm>
            <a:off x="661737" y="1618027"/>
            <a:ext cx="4042610" cy="3912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Titel 1"/>
          <p:cNvSpPr txBox="1">
            <a:spLocks/>
          </p:cNvSpPr>
          <p:nvPr/>
        </p:nvSpPr>
        <p:spPr>
          <a:xfrm>
            <a:off x="0" y="296410"/>
            <a:ext cx="12192000" cy="695324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3600" kern="1200" dirty="0">
                <a:solidFill>
                  <a:srgbClr val="C00000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Desideratum: narrative data </a:t>
            </a:r>
            <a:r>
              <a:rPr lang="en-GB" dirty="0">
                <a:sym typeface="Wingdings" panose="05000000000000000000" pitchFamily="2" charset="2"/>
              </a:rPr>
              <a:t> </a:t>
            </a:r>
            <a:r>
              <a:rPr lang="en-GB" dirty="0"/>
              <a:t>ontology-based data</a:t>
            </a:r>
          </a:p>
        </p:txBody>
      </p:sp>
    </p:spTree>
    <p:extLst>
      <p:ext uri="{BB962C8B-B14F-4D97-AF65-F5344CB8AC3E}">
        <p14:creationId xmlns:p14="http://schemas.microsoft.com/office/powerpoint/2010/main" val="20024886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1721A-789B-8E27-3B72-7DC54B399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9712BEF5-43A0-956E-2763-EEAD0067B943}"/>
              </a:ext>
            </a:extLst>
          </p:cNvPr>
          <p:cNvGrpSpPr/>
          <p:nvPr/>
        </p:nvGrpSpPr>
        <p:grpSpPr>
          <a:xfrm>
            <a:off x="1026253" y="751752"/>
            <a:ext cx="10168467" cy="4555066"/>
            <a:chOff x="1223792" y="1670659"/>
            <a:chExt cx="9763125" cy="4629150"/>
          </a:xfrm>
        </p:grpSpPr>
        <p:pic>
          <p:nvPicPr>
            <p:cNvPr id="19" name="Grafik 18">
              <a:extLst>
                <a:ext uri="{FF2B5EF4-FFF2-40B4-BE49-F238E27FC236}">
                  <a16:creationId xmlns:a16="http://schemas.microsoft.com/office/drawing/2014/main" id="{AD0FA04D-D334-3DE5-46D4-24693AEDBC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23792" y="1670659"/>
              <a:ext cx="9763125" cy="4629150"/>
            </a:xfrm>
            <a:prstGeom prst="rect">
              <a:avLst/>
            </a:prstGeom>
          </p:spPr>
        </p:pic>
        <p:sp>
          <p:nvSpPr>
            <p:cNvPr id="21" name="Rechteck 20">
              <a:extLst>
                <a:ext uri="{FF2B5EF4-FFF2-40B4-BE49-F238E27FC236}">
                  <a16:creationId xmlns:a16="http://schemas.microsoft.com/office/drawing/2014/main" id="{320D1152-C92D-1BE0-164E-CE6FAC529085}"/>
                </a:ext>
              </a:extLst>
            </p:cNvPr>
            <p:cNvSpPr/>
            <p:nvPr/>
          </p:nvSpPr>
          <p:spPr>
            <a:xfrm>
              <a:off x="1538514" y="3096799"/>
              <a:ext cx="3942066" cy="26555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eaLnBrk="0" hangingPunct="0">
                <a:lnSpc>
                  <a:spcPct val="90000"/>
                </a:lnSpc>
                <a:spcBef>
                  <a:spcPct val="0"/>
                </a:spcBef>
              </a:pPr>
              <a:r>
                <a:rPr lang="en-US" altLang="de-DE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Physical examination on admission revealed purpura of the upper and lower extremities, swelling of the gums and tonsils, but no symptoms showing the complication of myasthenia gravis. Hematological tests revealed </a:t>
              </a:r>
              <a:r>
                <a:rPr lang="en-US" altLang="de-DE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leucocytosis</a:t>
              </a:r>
              <a:r>
                <a:rPr lang="en-US" altLang="de-DE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: WBC count 68 700/µl (blasts 11.5%, </a:t>
              </a:r>
              <a:r>
                <a:rPr lang="en-US" altLang="de-DE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myelocytes</a:t>
              </a:r>
              <a:r>
                <a:rPr lang="en-US" altLang="de-DE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0.5%, bands 2.0%, segments 16.0%, monocytes 65.5%, lymphocytes 4.0%, atypical lymphocytes 0.5%), </a:t>
              </a:r>
              <a:r>
                <a:rPr lang="en-US" altLang="de-DE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Hb</a:t>
              </a:r>
              <a:r>
                <a:rPr lang="en-US" altLang="de-DE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7.1 g/dl (reticulocytes 12%) and a platelet count of 9.1 × 104/µl. A bone marrow aspiration revealed </a:t>
              </a:r>
              <a:r>
                <a:rPr lang="en-US" altLang="de-DE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hypercelllar</a:t>
              </a:r>
              <a:r>
                <a:rPr lang="en-US" altLang="de-DE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bone marrow with a decreased number of erythroblasts and megakaryocytes and an increased number of </a:t>
              </a:r>
              <a:r>
                <a:rPr lang="en-US" altLang="de-DE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monoblasts</a:t>
              </a:r>
              <a:r>
                <a:rPr lang="en-US" altLang="de-DE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</a:p>
          </p:txBody>
        </p:sp>
      </p:grp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03367C12-1D25-9D8F-7CAF-34FAD184FB3D}"/>
              </a:ext>
            </a:extLst>
          </p:cNvPr>
          <p:cNvGrpSpPr/>
          <p:nvPr/>
        </p:nvGrpSpPr>
        <p:grpSpPr>
          <a:xfrm>
            <a:off x="6021098" y="2538516"/>
            <a:ext cx="4612296" cy="2169417"/>
            <a:chOff x="5327571" y="3003717"/>
            <a:chExt cx="5860669" cy="2674781"/>
          </a:xfrm>
        </p:grpSpPr>
        <p:pic>
          <p:nvPicPr>
            <p:cNvPr id="10" name="Grafik 9">
              <a:extLst>
                <a:ext uri="{FF2B5EF4-FFF2-40B4-BE49-F238E27FC236}">
                  <a16:creationId xmlns:a16="http://schemas.microsoft.com/office/drawing/2014/main" id="{75FF4B9D-6EDC-CD90-5613-7C272C47D52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t="25514"/>
            <a:stretch/>
          </p:blipFill>
          <p:spPr>
            <a:xfrm>
              <a:off x="5327571" y="3686175"/>
              <a:ext cx="3412842" cy="1992322"/>
            </a:xfrm>
            <a:prstGeom prst="rect">
              <a:avLst/>
            </a:prstGeom>
          </p:spPr>
        </p:pic>
        <p:pic>
          <p:nvPicPr>
            <p:cNvPr id="11" name="Grafik 10">
              <a:extLst>
                <a:ext uri="{FF2B5EF4-FFF2-40B4-BE49-F238E27FC236}">
                  <a16:creationId xmlns:a16="http://schemas.microsoft.com/office/drawing/2014/main" id="{1B9F65F2-F64C-D783-4391-A643364AFA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6050423" y="3322984"/>
              <a:ext cx="1470928" cy="1152825"/>
            </a:xfrm>
            <a:prstGeom prst="rect">
              <a:avLst/>
            </a:prstGeom>
          </p:spPr>
        </p:pic>
        <p:pic>
          <p:nvPicPr>
            <p:cNvPr id="12" name="Grafik 11">
              <a:extLst>
                <a:ext uri="{FF2B5EF4-FFF2-40B4-BE49-F238E27FC236}">
                  <a16:creationId xmlns:a16="http://schemas.microsoft.com/office/drawing/2014/main" id="{43F2F9E9-F413-4A6E-3927-12EF4E4723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7775398" y="3003717"/>
              <a:ext cx="3412842" cy="2674781"/>
            </a:xfrm>
            <a:prstGeom prst="rect">
              <a:avLst/>
            </a:prstGeom>
          </p:spPr>
        </p:pic>
        <p:pic>
          <p:nvPicPr>
            <p:cNvPr id="13" name="Grafik 12">
              <a:extLst>
                <a:ext uri="{FF2B5EF4-FFF2-40B4-BE49-F238E27FC236}">
                  <a16:creationId xmlns:a16="http://schemas.microsoft.com/office/drawing/2014/main" id="{543BA6EA-D777-5769-3D98-C0A53584FF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7191221" y="3580159"/>
              <a:ext cx="1470928" cy="1152825"/>
            </a:xfrm>
            <a:prstGeom prst="rect">
              <a:avLst/>
            </a:prstGeom>
          </p:spPr>
        </p:pic>
        <p:sp>
          <p:nvSpPr>
            <p:cNvPr id="14" name="Ellipse 13">
              <a:extLst>
                <a:ext uri="{FF2B5EF4-FFF2-40B4-BE49-F238E27FC236}">
                  <a16:creationId xmlns:a16="http://schemas.microsoft.com/office/drawing/2014/main" id="{EFEA4D7A-AE15-9F17-1545-776204AF7F91}"/>
                </a:ext>
              </a:extLst>
            </p:cNvPr>
            <p:cNvSpPr/>
            <p:nvPr/>
          </p:nvSpPr>
          <p:spPr>
            <a:xfrm>
              <a:off x="6041912" y="3527446"/>
              <a:ext cx="310348" cy="313249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" name="Ellipse 14">
              <a:extLst>
                <a:ext uri="{FF2B5EF4-FFF2-40B4-BE49-F238E27FC236}">
                  <a16:creationId xmlns:a16="http://schemas.microsoft.com/office/drawing/2014/main" id="{0530DA65-F9C9-2541-C785-4245250A12F6}"/>
                </a:ext>
              </a:extLst>
            </p:cNvPr>
            <p:cNvSpPr/>
            <p:nvPr/>
          </p:nvSpPr>
          <p:spPr>
            <a:xfrm>
              <a:off x="6497286" y="4184482"/>
              <a:ext cx="310348" cy="313249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" name="Ellipse 15">
              <a:extLst>
                <a:ext uri="{FF2B5EF4-FFF2-40B4-BE49-F238E27FC236}">
                  <a16:creationId xmlns:a16="http://schemas.microsoft.com/office/drawing/2014/main" id="{BDDBD488-6564-F89C-AB99-EC1B3B3E96DA}"/>
                </a:ext>
              </a:extLst>
            </p:cNvPr>
            <p:cNvSpPr/>
            <p:nvPr/>
          </p:nvSpPr>
          <p:spPr>
            <a:xfrm>
              <a:off x="8315484" y="4416033"/>
              <a:ext cx="481547" cy="475679"/>
            </a:xfrm>
            <a:prstGeom prst="ellipse">
              <a:avLst/>
            </a:prstGeom>
            <a:solidFill>
              <a:srgbClr val="FF00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" name="Ellipse 16">
              <a:extLst>
                <a:ext uri="{FF2B5EF4-FFF2-40B4-BE49-F238E27FC236}">
                  <a16:creationId xmlns:a16="http://schemas.microsoft.com/office/drawing/2014/main" id="{FE73C1C3-09E5-A366-674E-D8AB3EE91663}"/>
                </a:ext>
              </a:extLst>
            </p:cNvPr>
            <p:cNvSpPr/>
            <p:nvPr/>
          </p:nvSpPr>
          <p:spPr>
            <a:xfrm>
              <a:off x="8024062" y="4118768"/>
              <a:ext cx="332854" cy="29801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24" name="Rechteck 23">
            <a:extLst>
              <a:ext uri="{FF2B5EF4-FFF2-40B4-BE49-F238E27FC236}">
                <a16:creationId xmlns:a16="http://schemas.microsoft.com/office/drawing/2014/main" id="{A51B3DB9-B389-1CBA-D825-CF0EF51E506F}"/>
              </a:ext>
            </a:extLst>
          </p:cNvPr>
          <p:cNvSpPr/>
          <p:nvPr/>
        </p:nvSpPr>
        <p:spPr>
          <a:xfrm>
            <a:off x="661737" y="836544"/>
            <a:ext cx="4042610" cy="3912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9D6B14DF-B0E0-2427-BC3F-2F4CF789A2A5}"/>
              </a:ext>
            </a:extLst>
          </p:cNvPr>
          <p:cNvSpPr txBox="1"/>
          <p:nvPr/>
        </p:nvSpPr>
        <p:spPr>
          <a:xfrm>
            <a:off x="9448800" y="1103039"/>
            <a:ext cx="10750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>
                <a:solidFill>
                  <a:srgbClr val="C00000"/>
                </a:solidFill>
              </a:rPr>
              <a:t>QUERY</a:t>
            </a:r>
          </a:p>
        </p:txBody>
      </p:sp>
      <p:sp>
        <p:nvSpPr>
          <p:cNvPr id="27" name="Pfeil nach rechts 26">
            <a:extLst>
              <a:ext uri="{FF2B5EF4-FFF2-40B4-BE49-F238E27FC236}">
                <a16:creationId xmlns:a16="http://schemas.microsoft.com/office/drawing/2014/main" id="{95C1A99C-1EAB-A07D-901A-4DCBC280BD25}"/>
              </a:ext>
            </a:extLst>
          </p:cNvPr>
          <p:cNvSpPr/>
          <p:nvPr/>
        </p:nvSpPr>
        <p:spPr>
          <a:xfrm rot="5400000">
            <a:off x="9562010" y="1728247"/>
            <a:ext cx="888274" cy="600885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C05E7146-F511-FEBD-D313-C3DD03AB8EA0}"/>
              </a:ext>
            </a:extLst>
          </p:cNvPr>
          <p:cNvSpPr/>
          <p:nvPr/>
        </p:nvSpPr>
        <p:spPr>
          <a:xfrm>
            <a:off x="200025" y="1227791"/>
            <a:ext cx="11772900" cy="4228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02BB56B7-C84E-0CB7-DCDC-16FA8085361F}"/>
              </a:ext>
            </a:extLst>
          </p:cNvPr>
          <p:cNvSpPr txBox="1">
            <a:spLocks/>
          </p:cNvSpPr>
          <p:nvPr/>
        </p:nvSpPr>
        <p:spPr>
          <a:xfrm>
            <a:off x="-9525" y="-8376"/>
            <a:ext cx="12192000" cy="132556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C00000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GB" sz="3200" dirty="0">
                <a:latin typeface="+mn-lt"/>
                <a:ea typeface="+mn-ea"/>
                <a:cs typeface="+mn-cs"/>
              </a:rPr>
              <a:t>Representation of narrative data as knowledge graphs rooted in ontologies</a:t>
            </a:r>
            <a:endParaRPr lang="en-GB" sz="3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37505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/>
          <p:cNvPicPr>
            <a:picLocks noChangeAspect="1"/>
          </p:cNvPicPr>
          <p:nvPr/>
        </p:nvPicPr>
        <p:blipFill rotWithShape="1">
          <a:blip r:embed="rId2"/>
          <a:srcRect t="1" b="537"/>
          <a:stretch/>
        </p:blipFill>
        <p:spPr>
          <a:xfrm>
            <a:off x="160867" y="1357586"/>
            <a:ext cx="7673138" cy="2638047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7" name="Rechteck 6"/>
          <p:cNvSpPr/>
          <p:nvPr/>
        </p:nvSpPr>
        <p:spPr>
          <a:xfrm>
            <a:off x="5044965" y="841903"/>
            <a:ext cx="3499945" cy="4386263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Rechteck 7"/>
          <p:cNvSpPr/>
          <p:nvPr/>
        </p:nvSpPr>
        <p:spPr>
          <a:xfrm>
            <a:off x="8544911" y="1054245"/>
            <a:ext cx="3216166" cy="41739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794937" y="4278309"/>
            <a:ext cx="4224867" cy="2291824"/>
          </a:xfrm>
        </p:spPr>
        <p:txBody>
          <a:bodyPr>
            <a:normAutofit lnSpcReduction="10000"/>
          </a:bodyPr>
          <a:lstStyle/>
          <a:p>
            <a:r>
              <a:rPr lang="en-GB" sz="1600" dirty="0"/>
              <a:t>Creation and Maintenance of domain lexicons covering clinical jargon </a:t>
            </a:r>
            <a:r>
              <a:rPr lang="en-GB" sz="1600" dirty="0">
                <a:solidFill>
                  <a:srgbClr val="C00000"/>
                </a:solidFill>
              </a:rPr>
              <a:t>in the local natural language</a:t>
            </a:r>
            <a:r>
              <a:rPr lang="en-GB" sz="1600" dirty="0"/>
              <a:t> (interface terminologies)</a:t>
            </a:r>
          </a:p>
          <a:p>
            <a:r>
              <a:rPr lang="en-GB" sz="1600" dirty="0"/>
              <a:t>Linking interface terms to coding systems like SNOMED CT and ICD-10</a:t>
            </a:r>
          </a:p>
          <a:p>
            <a:r>
              <a:rPr lang="en-GB" sz="1600" dirty="0"/>
              <a:t>Support fuzzy term matching and disambiguation by algorithms and language models</a:t>
            </a:r>
          </a:p>
          <a:p>
            <a:pPr marL="0" indent="0">
              <a:buNone/>
            </a:pPr>
            <a:r>
              <a:rPr lang="en-GB" sz="1600" dirty="0"/>
              <a:t> </a:t>
            </a:r>
          </a:p>
        </p:txBody>
      </p:sp>
      <p:cxnSp>
        <p:nvCxnSpPr>
          <p:cNvPr id="5" name="Gerader Verbinder 4"/>
          <p:cNvCxnSpPr/>
          <p:nvPr/>
        </p:nvCxnSpPr>
        <p:spPr>
          <a:xfrm>
            <a:off x="3877733" y="1363132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feld 10"/>
          <p:cNvSpPr txBox="1"/>
          <p:nvPr/>
        </p:nvSpPr>
        <p:spPr>
          <a:xfrm>
            <a:off x="160867" y="3995633"/>
            <a:ext cx="750993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/>
              <a:t>Lexical challenges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"Amputation": Patient problem or treatment?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"Potassium": Lab parameter or drug?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"Emphysema" = "Lung emphysema"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"Cancer" != "Lung cancer"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"</a:t>
            </a:r>
            <a:r>
              <a:rPr lang="en-GB" sz="1600" dirty="0" err="1"/>
              <a:t>Diclophenac</a:t>
            </a:r>
            <a:r>
              <a:rPr lang="en-GB" sz="1600" dirty="0"/>
              <a:t>" = "Diclofenac", "Oesophagus" = "</a:t>
            </a:r>
            <a:r>
              <a:rPr lang="en-GB" sz="1600" dirty="0" err="1"/>
              <a:t>Esophagus</a:t>
            </a:r>
            <a:r>
              <a:rPr lang="en-GB" sz="1600" dirty="0"/>
              <a:t>"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"</a:t>
            </a:r>
            <a:r>
              <a:rPr lang="en-GB" sz="1600" dirty="0" err="1"/>
              <a:t>Hepatectomy</a:t>
            </a:r>
            <a:r>
              <a:rPr lang="en-GB" sz="1600" dirty="0"/>
              <a:t>" != "</a:t>
            </a:r>
            <a:r>
              <a:rPr lang="en-GB" sz="1600" dirty="0" err="1"/>
              <a:t>Hepatotomy</a:t>
            </a:r>
            <a:r>
              <a:rPr lang="en-GB" sz="1600" dirty="0"/>
              <a:t>"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"Type 2 diabetes" = "Type 2 diabetes mellitus"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"Diabetes mellitus type 1 != Diabetes mellitus type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(beta blocker after) MI != (valve replacement due to) MI</a:t>
            </a:r>
          </a:p>
        </p:txBody>
      </p:sp>
      <p:sp>
        <p:nvSpPr>
          <p:cNvPr id="12" name="Geschweifte Klammer rechts 11"/>
          <p:cNvSpPr/>
          <p:nvPr/>
        </p:nvSpPr>
        <p:spPr>
          <a:xfrm>
            <a:off x="5997323" y="4195233"/>
            <a:ext cx="254000" cy="206586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" name="Inhaltsplatzhalter 2"/>
          <p:cNvSpPr txBox="1">
            <a:spLocks/>
          </p:cNvSpPr>
          <p:nvPr/>
        </p:nvSpPr>
        <p:spPr>
          <a:xfrm>
            <a:off x="7763933" y="1029063"/>
            <a:ext cx="4185235" cy="47165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dirty="0"/>
              <a:t>Entity recognition: identify spans</a:t>
            </a:r>
            <a:br>
              <a:rPr lang="en-GB" sz="2000" dirty="0"/>
            </a:br>
            <a:r>
              <a:rPr lang="en-GB" sz="2000" dirty="0"/>
              <a:t>in text and assign some semantic type</a:t>
            </a:r>
          </a:p>
          <a:p>
            <a:r>
              <a:rPr lang="en-GB" sz="2000" dirty="0"/>
              <a:t>Entity normalization / term grounding: assign one or more codes from a CV</a:t>
            </a:r>
          </a:p>
          <a:p>
            <a:r>
              <a:rPr lang="en-GB" sz="2000" dirty="0"/>
              <a:t>Disambiguation: chose the correct code for a mention in text</a:t>
            </a:r>
          </a:p>
          <a:p>
            <a:endParaRPr lang="en-GB" sz="2000" dirty="0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AEC83C56-52FF-63E4-4020-8E599DADE90E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32556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C00000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kumimoji="0" lang="en-GB" sz="4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Natural language processing (NLP) tasks and challenges</a:t>
            </a:r>
            <a:endParaRPr lang="en-GB" sz="3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53511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3" grpId="0" build="allAtOnce"/>
      <p:bldP spid="12" grpId="0" animBg="1"/>
      <p:bldP spid="15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ttps://www.researchgate.net/publication/280584871/figure/fig5/AS:324989816459264@1454495018212/Thickening-in-pyloric-wall-with-an-enhancing-lesion-in-the-proximal-duodenum-Note_W64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0094" y="2379972"/>
            <a:ext cx="6124728" cy="4172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hteck 12"/>
          <p:cNvSpPr/>
          <p:nvPr/>
        </p:nvSpPr>
        <p:spPr>
          <a:xfrm>
            <a:off x="217953" y="1000010"/>
            <a:ext cx="12192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br>
              <a:rPr lang="en-GB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</a:br>
            <a:r>
              <a:rPr lang="en-GB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Pylorus and superior duodenum:                      </a:t>
            </a:r>
            <a:r>
              <a:rPr lang="en-GB" sz="20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Edematous</a:t>
            </a:r>
            <a:r>
              <a:rPr lang="en-GB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 thickening.                               Diagnosis: ulcer.</a:t>
            </a:r>
          </a:p>
        </p:txBody>
      </p:sp>
      <p:sp>
        <p:nvSpPr>
          <p:cNvPr id="3" name="Textfeld 2"/>
          <p:cNvSpPr txBox="1"/>
          <p:nvPr/>
        </p:nvSpPr>
        <p:spPr>
          <a:xfrm>
            <a:off x="9575800" y="5756729"/>
            <a:ext cx="2616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C00000"/>
                </a:solidFill>
              </a:rPr>
              <a:t>Leveraging entity recognition and normalization…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62678E0F-856C-70D3-F2DF-E7BA23940369}"/>
              </a:ext>
            </a:extLst>
          </p:cNvPr>
          <p:cNvSpPr txBox="1">
            <a:spLocks/>
          </p:cNvSpPr>
          <p:nvPr/>
        </p:nvSpPr>
        <p:spPr>
          <a:xfrm>
            <a:off x="0" y="-40499"/>
            <a:ext cx="12192000" cy="132556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C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Knowledge graph construction by exploiting the axiomatic structure of the target ontology</a:t>
            </a:r>
          </a:p>
        </p:txBody>
      </p:sp>
    </p:spTree>
    <p:extLst>
      <p:ext uri="{BB962C8B-B14F-4D97-AF65-F5344CB8AC3E}">
        <p14:creationId xmlns:p14="http://schemas.microsoft.com/office/powerpoint/2010/main" val="45775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Gekrümmter Verbinder 5"/>
          <p:cNvCxnSpPr>
            <a:stCxn id="53" idx="0"/>
            <a:endCxn id="50" idx="0"/>
          </p:cNvCxnSpPr>
          <p:nvPr/>
        </p:nvCxnSpPr>
        <p:spPr>
          <a:xfrm rot="5400000" flipH="1" flipV="1">
            <a:off x="5891324" y="-3770388"/>
            <a:ext cx="12700" cy="10291328"/>
          </a:xfrm>
          <a:prstGeom prst="curvedConnector3">
            <a:avLst>
              <a:gd name="adj1" fmla="val 3742858"/>
            </a:avLst>
          </a:prstGeom>
          <a:ln w="19050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hteck 49"/>
          <p:cNvSpPr/>
          <p:nvPr/>
        </p:nvSpPr>
        <p:spPr>
          <a:xfrm>
            <a:off x="10705376" y="1375276"/>
            <a:ext cx="663224" cy="288000"/>
          </a:xfrm>
          <a:prstGeom prst="rect">
            <a:avLst/>
          </a:prstGeom>
          <a:solidFill>
            <a:srgbClr val="FFE69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51" name="Rechteck 50"/>
          <p:cNvSpPr/>
          <p:nvPr/>
        </p:nvSpPr>
        <p:spPr>
          <a:xfrm>
            <a:off x="5047509" y="1375276"/>
            <a:ext cx="1248330" cy="288000"/>
          </a:xfrm>
          <a:prstGeom prst="rect">
            <a:avLst/>
          </a:prstGeom>
          <a:solidFill>
            <a:srgbClr val="FFE69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52" name="Rechteck 51"/>
          <p:cNvSpPr/>
          <p:nvPr/>
        </p:nvSpPr>
        <p:spPr>
          <a:xfrm>
            <a:off x="6378061" y="1375276"/>
            <a:ext cx="1167797" cy="288000"/>
          </a:xfrm>
          <a:prstGeom prst="rect">
            <a:avLst/>
          </a:prstGeom>
          <a:solidFill>
            <a:srgbClr val="FFE69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53" name="Rechteck 52"/>
          <p:cNvSpPr/>
          <p:nvPr/>
        </p:nvSpPr>
        <p:spPr>
          <a:xfrm>
            <a:off x="326606" y="1375276"/>
            <a:ext cx="838107" cy="288000"/>
          </a:xfrm>
          <a:prstGeom prst="rect">
            <a:avLst/>
          </a:prstGeom>
          <a:solidFill>
            <a:srgbClr val="FFE69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54" name="Rechteck 53"/>
          <p:cNvSpPr/>
          <p:nvPr/>
        </p:nvSpPr>
        <p:spPr>
          <a:xfrm>
            <a:off x="1632468" y="1375276"/>
            <a:ext cx="2171850" cy="288000"/>
          </a:xfrm>
          <a:prstGeom prst="rect">
            <a:avLst/>
          </a:prstGeom>
          <a:solidFill>
            <a:srgbClr val="FFE69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55" name="Rechteck 54"/>
          <p:cNvSpPr/>
          <p:nvPr/>
        </p:nvSpPr>
        <p:spPr>
          <a:xfrm>
            <a:off x="9267649" y="1375276"/>
            <a:ext cx="1163659" cy="288000"/>
          </a:xfrm>
          <a:prstGeom prst="rect">
            <a:avLst/>
          </a:prstGeom>
          <a:solidFill>
            <a:srgbClr val="FFE69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cxnSp>
        <p:nvCxnSpPr>
          <p:cNvPr id="37" name="Gekrümmter Verbinder 36"/>
          <p:cNvCxnSpPr>
            <a:stCxn id="54" idx="0"/>
            <a:endCxn id="50" idx="0"/>
          </p:cNvCxnSpPr>
          <p:nvPr/>
        </p:nvCxnSpPr>
        <p:spPr>
          <a:xfrm rot="5400000" flipH="1" flipV="1">
            <a:off x="6877690" y="-2784021"/>
            <a:ext cx="12700" cy="8318595"/>
          </a:xfrm>
          <a:prstGeom prst="curvedConnector3">
            <a:avLst>
              <a:gd name="adj1" fmla="val 2828575"/>
            </a:avLst>
          </a:prstGeom>
          <a:ln w="19050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Gerader Verbinder 29"/>
          <p:cNvCxnSpPr>
            <a:stCxn id="50" idx="2"/>
            <a:endCxn id="59" idx="0"/>
          </p:cNvCxnSpPr>
          <p:nvPr/>
        </p:nvCxnSpPr>
        <p:spPr>
          <a:xfrm>
            <a:off x="11036988" y="1663276"/>
            <a:ext cx="0" cy="1215420"/>
          </a:xfrm>
          <a:prstGeom prst="line">
            <a:avLst/>
          </a:prstGeom>
          <a:noFill/>
          <a:ln w="38100" cap="flat" cmpd="sng" algn="ctr">
            <a:solidFill>
              <a:srgbClr val="FFFFFF">
                <a:lumMod val="65000"/>
              </a:srgbClr>
            </a:solidFill>
            <a:prstDash val="sysDot"/>
          </a:ln>
          <a:effectLst/>
        </p:spPr>
      </p:cxnSp>
      <p:cxnSp>
        <p:nvCxnSpPr>
          <p:cNvPr id="65" name="Gerader Verbinder 64"/>
          <p:cNvCxnSpPr>
            <a:stCxn id="55" idx="2"/>
            <a:endCxn id="29" idx="0"/>
          </p:cNvCxnSpPr>
          <p:nvPr/>
        </p:nvCxnSpPr>
        <p:spPr>
          <a:xfrm flipH="1">
            <a:off x="9849478" y="1663276"/>
            <a:ext cx="1" cy="1215420"/>
          </a:xfrm>
          <a:prstGeom prst="line">
            <a:avLst/>
          </a:prstGeom>
          <a:noFill/>
          <a:ln w="38100" cap="flat" cmpd="sng" algn="ctr">
            <a:solidFill>
              <a:srgbClr val="FFFFFF">
                <a:lumMod val="65000"/>
              </a:srgbClr>
            </a:solidFill>
            <a:prstDash val="sysDot"/>
          </a:ln>
          <a:effectLst/>
        </p:spPr>
      </p:cxnSp>
      <p:cxnSp>
        <p:nvCxnSpPr>
          <p:cNvPr id="63" name="Gerader Verbinder 62"/>
          <p:cNvCxnSpPr>
            <a:stCxn id="53" idx="2"/>
          </p:cNvCxnSpPr>
          <p:nvPr/>
        </p:nvCxnSpPr>
        <p:spPr>
          <a:xfrm flipH="1">
            <a:off x="739887" y="1663276"/>
            <a:ext cx="5773" cy="2339523"/>
          </a:xfrm>
          <a:prstGeom prst="line">
            <a:avLst/>
          </a:prstGeom>
          <a:noFill/>
          <a:ln w="38100" cap="flat" cmpd="sng" algn="ctr">
            <a:solidFill>
              <a:srgbClr val="FFFFFF">
                <a:lumMod val="65000"/>
              </a:srgbClr>
            </a:solidFill>
            <a:prstDash val="sysDot"/>
          </a:ln>
          <a:effectLst/>
        </p:spPr>
      </p:cxnSp>
      <p:cxnSp>
        <p:nvCxnSpPr>
          <p:cNvPr id="64" name="Gerader Verbinder 63"/>
          <p:cNvCxnSpPr>
            <a:stCxn id="54" idx="2"/>
          </p:cNvCxnSpPr>
          <p:nvPr/>
        </p:nvCxnSpPr>
        <p:spPr>
          <a:xfrm>
            <a:off x="2718393" y="1663276"/>
            <a:ext cx="0" cy="2349744"/>
          </a:xfrm>
          <a:prstGeom prst="line">
            <a:avLst/>
          </a:prstGeom>
          <a:noFill/>
          <a:ln w="38100" cap="flat" cmpd="sng" algn="ctr">
            <a:solidFill>
              <a:srgbClr val="FFFFFF">
                <a:lumMod val="65000"/>
              </a:srgbClr>
            </a:solidFill>
            <a:prstDash val="sysDot"/>
          </a:ln>
          <a:effectLst/>
        </p:spPr>
      </p:cxnSp>
      <p:cxnSp>
        <p:nvCxnSpPr>
          <p:cNvPr id="78" name="Gerader Verbinder 77"/>
          <p:cNvCxnSpPr>
            <a:stCxn id="51" idx="2"/>
          </p:cNvCxnSpPr>
          <p:nvPr/>
        </p:nvCxnSpPr>
        <p:spPr>
          <a:xfrm>
            <a:off x="5671674" y="1663276"/>
            <a:ext cx="0" cy="1701190"/>
          </a:xfrm>
          <a:prstGeom prst="line">
            <a:avLst/>
          </a:prstGeom>
          <a:noFill/>
          <a:ln w="38100" cap="flat" cmpd="sng" algn="ctr">
            <a:solidFill>
              <a:srgbClr val="FFFFFF">
                <a:lumMod val="65000"/>
              </a:srgbClr>
            </a:solidFill>
            <a:prstDash val="sysDot"/>
          </a:ln>
          <a:effectLst/>
        </p:spPr>
      </p:cxnSp>
      <p:sp>
        <p:nvSpPr>
          <p:cNvPr id="59" name="Rechteck 58"/>
          <p:cNvSpPr/>
          <p:nvPr/>
        </p:nvSpPr>
        <p:spPr>
          <a:xfrm>
            <a:off x="10529627" y="2878696"/>
            <a:ext cx="1014721" cy="707886"/>
          </a:xfrm>
          <a:prstGeom prst="rect">
            <a:avLst/>
          </a:prstGeom>
          <a:solidFill>
            <a:srgbClr val="ABE3FF"/>
          </a:solidFill>
        </p:spPr>
        <p:txBody>
          <a:bodyPr wrap="square" lIns="18000" rIns="180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1000" b="1" dirty="0">
                <a:solidFill>
                  <a:srgbClr val="000000"/>
                </a:solidFill>
              </a:rPr>
              <a:t>429040005 |</a:t>
            </a:r>
            <a:br>
              <a:rPr lang="en-GB" sz="1000" b="1" dirty="0">
                <a:solidFill>
                  <a:srgbClr val="000000"/>
                </a:solidFill>
              </a:rPr>
            </a:br>
            <a:r>
              <a:rPr lang="en-GB" sz="1000" b="1" dirty="0">
                <a:solidFill>
                  <a:srgbClr val="000000"/>
                </a:solidFill>
              </a:rPr>
              <a:t>Ulcer </a:t>
            </a:r>
            <a:br>
              <a:rPr lang="en-GB" sz="1000" b="1" dirty="0">
                <a:solidFill>
                  <a:srgbClr val="000000"/>
                </a:solidFill>
              </a:rPr>
            </a:br>
            <a:r>
              <a:rPr lang="en-GB" sz="1000" b="1" dirty="0">
                <a:solidFill>
                  <a:srgbClr val="000000"/>
                </a:solidFill>
              </a:rPr>
              <a:t>(disorder)|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GB" sz="1000" b="1" dirty="0">
              <a:solidFill>
                <a:srgbClr val="000000"/>
              </a:solidFill>
            </a:endParaRPr>
          </a:p>
        </p:txBody>
      </p:sp>
      <p:sp>
        <p:nvSpPr>
          <p:cNvPr id="80" name="Ellipse 79"/>
          <p:cNvSpPr/>
          <p:nvPr/>
        </p:nvSpPr>
        <p:spPr>
          <a:xfrm>
            <a:off x="366130" y="1873132"/>
            <a:ext cx="774700" cy="749300"/>
          </a:xfrm>
          <a:prstGeom prst="ellipse">
            <a:avLst/>
          </a:prstGeom>
          <a:solidFill>
            <a:srgbClr val="0070C0"/>
          </a:solidFill>
          <a:ln w="25400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i</a:t>
            </a:r>
            <a:r>
              <a:rPr kumimoji="0" lang="en-GB" sz="2000" b="0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1</a:t>
            </a:r>
          </a:p>
        </p:txBody>
      </p:sp>
      <p:sp>
        <p:nvSpPr>
          <p:cNvPr id="81" name="Ellipse 80"/>
          <p:cNvSpPr/>
          <p:nvPr/>
        </p:nvSpPr>
        <p:spPr>
          <a:xfrm>
            <a:off x="2297694" y="1847732"/>
            <a:ext cx="805366" cy="774700"/>
          </a:xfrm>
          <a:prstGeom prst="ellipse">
            <a:avLst/>
          </a:prstGeom>
          <a:solidFill>
            <a:srgbClr val="0070C0"/>
          </a:solidFill>
          <a:ln w="25400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i</a:t>
            </a:r>
            <a:r>
              <a:rPr kumimoji="0" lang="en-GB" sz="2000" b="0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2</a:t>
            </a:r>
          </a:p>
        </p:txBody>
      </p:sp>
      <p:sp>
        <p:nvSpPr>
          <p:cNvPr id="82" name="Ellipse 81"/>
          <p:cNvSpPr/>
          <p:nvPr/>
        </p:nvSpPr>
        <p:spPr>
          <a:xfrm>
            <a:off x="5271940" y="1857621"/>
            <a:ext cx="805366" cy="774700"/>
          </a:xfrm>
          <a:prstGeom prst="ellipse">
            <a:avLst/>
          </a:prstGeom>
          <a:solidFill>
            <a:srgbClr val="0070C0"/>
          </a:solidFill>
          <a:ln w="25400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i</a:t>
            </a:r>
            <a:r>
              <a:rPr kumimoji="0" lang="en-GB" sz="2000" b="0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3</a:t>
            </a:r>
          </a:p>
        </p:txBody>
      </p:sp>
      <p:sp>
        <p:nvSpPr>
          <p:cNvPr id="84" name="Ellipse 83"/>
          <p:cNvSpPr/>
          <p:nvPr/>
        </p:nvSpPr>
        <p:spPr>
          <a:xfrm>
            <a:off x="9423331" y="1868378"/>
            <a:ext cx="805366" cy="774700"/>
          </a:xfrm>
          <a:prstGeom prst="ellipse">
            <a:avLst/>
          </a:prstGeom>
          <a:solidFill>
            <a:srgbClr val="0070C0"/>
          </a:solidFill>
          <a:ln w="25400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i</a:t>
            </a:r>
            <a:r>
              <a:rPr kumimoji="0" lang="en-GB" sz="2000" b="0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5</a:t>
            </a:r>
          </a:p>
        </p:txBody>
      </p:sp>
      <p:sp>
        <p:nvSpPr>
          <p:cNvPr id="86" name="Ellipse 85"/>
          <p:cNvSpPr/>
          <p:nvPr/>
        </p:nvSpPr>
        <p:spPr>
          <a:xfrm>
            <a:off x="10614961" y="1847732"/>
            <a:ext cx="805366" cy="774700"/>
          </a:xfrm>
          <a:prstGeom prst="ellipse">
            <a:avLst/>
          </a:prstGeom>
          <a:solidFill>
            <a:srgbClr val="0070C0"/>
          </a:solidFill>
          <a:ln w="25400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i</a:t>
            </a:r>
            <a:r>
              <a:rPr kumimoji="0" lang="en-GB" sz="2000" b="0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6</a:t>
            </a:r>
          </a:p>
        </p:txBody>
      </p:sp>
      <p:sp>
        <p:nvSpPr>
          <p:cNvPr id="28" name="Rechteck 27"/>
          <p:cNvSpPr/>
          <p:nvPr/>
        </p:nvSpPr>
        <p:spPr>
          <a:xfrm>
            <a:off x="217953" y="1000010"/>
            <a:ext cx="12192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br>
              <a:rPr lang="en-GB" sz="2000" b="1" dirty="0">
                <a:solidFill>
                  <a:srgbClr val="000000"/>
                </a:solidFill>
                <a:cs typeface="Arial" panose="020B0604020202020204" pitchFamily="34" charset="0"/>
              </a:rPr>
            </a:br>
            <a:r>
              <a:rPr lang="en-GB" sz="2000" b="1" dirty="0">
                <a:solidFill>
                  <a:srgbClr val="000000"/>
                </a:solidFill>
                <a:cs typeface="Arial" panose="020B0604020202020204" pitchFamily="34" charset="0"/>
              </a:rPr>
              <a:t> Pylorus and superior duodenum:                      </a:t>
            </a:r>
            <a:r>
              <a:rPr lang="en-GB" sz="2000" b="1" dirty="0" err="1">
                <a:solidFill>
                  <a:srgbClr val="000000"/>
                </a:solidFill>
                <a:cs typeface="Arial" panose="020B0604020202020204" pitchFamily="34" charset="0"/>
              </a:rPr>
              <a:t>Edematous</a:t>
            </a:r>
            <a:r>
              <a:rPr lang="en-GB" sz="2000" b="1" dirty="0">
                <a:solidFill>
                  <a:srgbClr val="000000"/>
                </a:solidFill>
                <a:cs typeface="Arial" panose="020B0604020202020204" pitchFamily="34" charset="0"/>
              </a:rPr>
              <a:t>  thickening.                               Diagnosis:      ulcer </a:t>
            </a:r>
          </a:p>
        </p:txBody>
      </p:sp>
      <p:cxnSp>
        <p:nvCxnSpPr>
          <p:cNvPr id="32" name="Gerader Verbinder 31"/>
          <p:cNvCxnSpPr>
            <a:stCxn id="52" idx="2"/>
          </p:cNvCxnSpPr>
          <p:nvPr/>
        </p:nvCxnSpPr>
        <p:spPr>
          <a:xfrm flipH="1">
            <a:off x="6961959" y="1663276"/>
            <a:ext cx="1" cy="1706820"/>
          </a:xfrm>
          <a:prstGeom prst="line">
            <a:avLst/>
          </a:prstGeom>
          <a:noFill/>
          <a:ln w="38100" cap="flat" cmpd="sng" algn="ctr">
            <a:solidFill>
              <a:srgbClr val="FFFFFF">
                <a:lumMod val="65000"/>
              </a:srgbClr>
            </a:solidFill>
            <a:prstDash val="sysDot"/>
          </a:ln>
          <a:effectLst/>
        </p:spPr>
      </p:cxnSp>
      <p:sp>
        <p:nvSpPr>
          <p:cNvPr id="34" name="Ellipse 33"/>
          <p:cNvSpPr/>
          <p:nvPr/>
        </p:nvSpPr>
        <p:spPr>
          <a:xfrm>
            <a:off x="6562363" y="1878724"/>
            <a:ext cx="805366" cy="774700"/>
          </a:xfrm>
          <a:prstGeom prst="ellipse">
            <a:avLst/>
          </a:prstGeom>
          <a:solidFill>
            <a:srgbClr val="0070C0"/>
          </a:solidFill>
          <a:ln w="25400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i</a:t>
            </a:r>
            <a:r>
              <a:rPr kumimoji="0" lang="en-GB" sz="2000" b="0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4</a:t>
            </a:r>
          </a:p>
        </p:txBody>
      </p:sp>
      <p:sp>
        <p:nvSpPr>
          <p:cNvPr id="29" name="Rechteck 28"/>
          <p:cNvSpPr/>
          <p:nvPr/>
        </p:nvSpPr>
        <p:spPr>
          <a:xfrm>
            <a:off x="9434496" y="2878696"/>
            <a:ext cx="829964" cy="707886"/>
          </a:xfrm>
          <a:prstGeom prst="rect">
            <a:avLst/>
          </a:prstGeom>
          <a:solidFill>
            <a:srgbClr val="ABE3FF"/>
          </a:solidFill>
        </p:spPr>
        <p:txBody>
          <a:bodyPr wrap="square" lIns="18000" rIns="18000">
            <a:sp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sz="1000" b="1" kern="0" dirty="0">
                <a:solidFill>
                  <a:prstClr val="black"/>
                </a:solidFill>
              </a:rPr>
              <a:t>7196007 </a:t>
            </a:r>
            <a:br>
              <a:rPr lang="en-GB" sz="1000" b="1" kern="0" dirty="0">
                <a:solidFill>
                  <a:prstClr val="black"/>
                </a:solidFill>
              </a:rPr>
            </a:br>
            <a:r>
              <a:rPr lang="en-GB" sz="1000" b="1" kern="0" dirty="0">
                <a:solidFill>
                  <a:prstClr val="black"/>
                </a:solidFill>
              </a:rPr>
              <a:t>|Suggestive </a:t>
            </a:r>
            <a:br>
              <a:rPr lang="en-GB" sz="1000" b="1" kern="0" dirty="0">
                <a:solidFill>
                  <a:prstClr val="black"/>
                </a:solidFill>
              </a:rPr>
            </a:br>
            <a:r>
              <a:rPr lang="en-GB" sz="1000" b="1" kern="0" dirty="0">
                <a:solidFill>
                  <a:prstClr val="black"/>
                </a:solidFill>
              </a:rPr>
              <a:t>of </a:t>
            </a:r>
            <a:br>
              <a:rPr lang="en-GB" sz="1000" b="1" kern="0" dirty="0">
                <a:solidFill>
                  <a:prstClr val="black"/>
                </a:solidFill>
              </a:rPr>
            </a:br>
            <a:r>
              <a:rPr lang="en-GB" sz="1000" b="1" kern="0" dirty="0">
                <a:solidFill>
                  <a:prstClr val="black"/>
                </a:solidFill>
              </a:rPr>
              <a:t>(attribute)|</a:t>
            </a:r>
          </a:p>
        </p:txBody>
      </p:sp>
      <p:sp>
        <p:nvSpPr>
          <p:cNvPr id="131" name="Rechteck 130"/>
          <p:cNvSpPr/>
          <p:nvPr/>
        </p:nvSpPr>
        <p:spPr>
          <a:xfrm>
            <a:off x="85725" y="2651007"/>
            <a:ext cx="11772900" cy="24924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Textfeld 3"/>
          <p:cNvSpPr txBox="1"/>
          <p:nvPr/>
        </p:nvSpPr>
        <p:spPr>
          <a:xfrm>
            <a:off x="4046881" y="427407"/>
            <a:ext cx="4098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Anaphoric references (bridging anaphora)</a:t>
            </a:r>
          </a:p>
        </p:txBody>
      </p:sp>
    </p:spTree>
    <p:extLst>
      <p:ext uri="{BB962C8B-B14F-4D97-AF65-F5344CB8AC3E}">
        <p14:creationId xmlns:p14="http://schemas.microsoft.com/office/powerpoint/2010/main" val="3331772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80" grpId="0" animBg="1"/>
      <p:bldP spid="81" grpId="0" animBg="1"/>
      <p:bldP spid="82" grpId="0" animBg="1"/>
      <p:bldP spid="84" grpId="0" animBg="1"/>
      <p:bldP spid="86" grpId="0" animBg="1"/>
      <p:bldP spid="3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Gerader Verbinder 29"/>
          <p:cNvCxnSpPr>
            <a:stCxn id="50" idx="2"/>
            <a:endCxn id="59" idx="0"/>
          </p:cNvCxnSpPr>
          <p:nvPr/>
        </p:nvCxnSpPr>
        <p:spPr>
          <a:xfrm>
            <a:off x="11036988" y="1663276"/>
            <a:ext cx="0" cy="1215420"/>
          </a:xfrm>
          <a:prstGeom prst="line">
            <a:avLst/>
          </a:prstGeom>
          <a:noFill/>
          <a:ln w="38100" cap="flat" cmpd="sng" algn="ctr">
            <a:solidFill>
              <a:srgbClr val="FFFFFF">
                <a:lumMod val="65000"/>
              </a:srgbClr>
            </a:solidFill>
            <a:prstDash val="sysDot"/>
          </a:ln>
          <a:effectLst/>
        </p:spPr>
      </p:cxnSp>
      <p:cxnSp>
        <p:nvCxnSpPr>
          <p:cNvPr id="65" name="Gerader Verbinder 64"/>
          <p:cNvCxnSpPr>
            <a:stCxn id="55" idx="2"/>
            <a:endCxn id="29" idx="0"/>
          </p:cNvCxnSpPr>
          <p:nvPr/>
        </p:nvCxnSpPr>
        <p:spPr>
          <a:xfrm flipH="1">
            <a:off x="9849478" y="1663276"/>
            <a:ext cx="1" cy="1215420"/>
          </a:xfrm>
          <a:prstGeom prst="line">
            <a:avLst/>
          </a:prstGeom>
          <a:noFill/>
          <a:ln w="38100" cap="flat" cmpd="sng" algn="ctr">
            <a:solidFill>
              <a:srgbClr val="FFFFFF">
                <a:lumMod val="65000"/>
              </a:srgbClr>
            </a:solidFill>
            <a:prstDash val="sysDot"/>
          </a:ln>
          <a:effectLst/>
        </p:spPr>
      </p:cxnSp>
      <p:cxnSp>
        <p:nvCxnSpPr>
          <p:cNvPr id="63" name="Gerader Verbinder 62"/>
          <p:cNvCxnSpPr>
            <a:stCxn id="53" idx="2"/>
          </p:cNvCxnSpPr>
          <p:nvPr/>
        </p:nvCxnSpPr>
        <p:spPr>
          <a:xfrm flipH="1">
            <a:off x="739887" y="1663276"/>
            <a:ext cx="5773" cy="2339523"/>
          </a:xfrm>
          <a:prstGeom prst="line">
            <a:avLst/>
          </a:prstGeom>
          <a:noFill/>
          <a:ln w="38100" cap="flat" cmpd="sng" algn="ctr">
            <a:solidFill>
              <a:srgbClr val="FFFFFF">
                <a:lumMod val="65000"/>
              </a:srgbClr>
            </a:solidFill>
            <a:prstDash val="sysDot"/>
          </a:ln>
          <a:effectLst/>
        </p:spPr>
      </p:cxnSp>
      <p:cxnSp>
        <p:nvCxnSpPr>
          <p:cNvPr id="64" name="Gerader Verbinder 63"/>
          <p:cNvCxnSpPr>
            <a:stCxn id="54" idx="2"/>
          </p:cNvCxnSpPr>
          <p:nvPr/>
        </p:nvCxnSpPr>
        <p:spPr>
          <a:xfrm>
            <a:off x="2718393" y="1663276"/>
            <a:ext cx="0" cy="2349744"/>
          </a:xfrm>
          <a:prstGeom prst="line">
            <a:avLst/>
          </a:prstGeom>
          <a:noFill/>
          <a:ln w="38100" cap="flat" cmpd="sng" algn="ctr">
            <a:solidFill>
              <a:srgbClr val="FFFFFF">
                <a:lumMod val="65000"/>
              </a:srgbClr>
            </a:solidFill>
            <a:prstDash val="sysDot"/>
          </a:ln>
          <a:effectLst/>
        </p:spPr>
      </p:cxnSp>
      <p:cxnSp>
        <p:nvCxnSpPr>
          <p:cNvPr id="78" name="Gerader Verbinder 77"/>
          <p:cNvCxnSpPr>
            <a:stCxn id="51" idx="2"/>
          </p:cNvCxnSpPr>
          <p:nvPr/>
        </p:nvCxnSpPr>
        <p:spPr>
          <a:xfrm>
            <a:off x="5671674" y="1663276"/>
            <a:ext cx="0" cy="1701190"/>
          </a:xfrm>
          <a:prstGeom prst="line">
            <a:avLst/>
          </a:prstGeom>
          <a:noFill/>
          <a:ln w="38100" cap="flat" cmpd="sng" algn="ctr">
            <a:solidFill>
              <a:srgbClr val="FFFFFF">
                <a:lumMod val="65000"/>
              </a:srgbClr>
            </a:solidFill>
            <a:prstDash val="sysDot"/>
          </a:ln>
          <a:effectLst/>
        </p:spPr>
      </p:cxnSp>
      <p:sp>
        <p:nvSpPr>
          <p:cNvPr id="50" name="Rechteck 49"/>
          <p:cNvSpPr/>
          <p:nvPr/>
        </p:nvSpPr>
        <p:spPr>
          <a:xfrm>
            <a:off x="10705376" y="1375276"/>
            <a:ext cx="663224" cy="288000"/>
          </a:xfrm>
          <a:prstGeom prst="rect">
            <a:avLst/>
          </a:prstGeom>
          <a:solidFill>
            <a:srgbClr val="FFE69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51" name="Rechteck 50"/>
          <p:cNvSpPr/>
          <p:nvPr/>
        </p:nvSpPr>
        <p:spPr>
          <a:xfrm>
            <a:off x="5047509" y="1375276"/>
            <a:ext cx="1248330" cy="288000"/>
          </a:xfrm>
          <a:prstGeom prst="rect">
            <a:avLst/>
          </a:prstGeom>
          <a:solidFill>
            <a:srgbClr val="FFE69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52" name="Rechteck 51"/>
          <p:cNvSpPr/>
          <p:nvPr/>
        </p:nvSpPr>
        <p:spPr>
          <a:xfrm>
            <a:off x="6378061" y="1375276"/>
            <a:ext cx="1167797" cy="288000"/>
          </a:xfrm>
          <a:prstGeom prst="rect">
            <a:avLst/>
          </a:prstGeom>
          <a:solidFill>
            <a:srgbClr val="FFE69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53" name="Rechteck 52"/>
          <p:cNvSpPr/>
          <p:nvPr/>
        </p:nvSpPr>
        <p:spPr>
          <a:xfrm>
            <a:off x="326606" y="1375276"/>
            <a:ext cx="838107" cy="288000"/>
          </a:xfrm>
          <a:prstGeom prst="rect">
            <a:avLst/>
          </a:prstGeom>
          <a:solidFill>
            <a:srgbClr val="FFE69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54" name="Rechteck 53"/>
          <p:cNvSpPr/>
          <p:nvPr/>
        </p:nvSpPr>
        <p:spPr>
          <a:xfrm>
            <a:off x="1632468" y="1375276"/>
            <a:ext cx="2171850" cy="288000"/>
          </a:xfrm>
          <a:prstGeom prst="rect">
            <a:avLst/>
          </a:prstGeom>
          <a:solidFill>
            <a:srgbClr val="FFE69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55" name="Rechteck 54"/>
          <p:cNvSpPr/>
          <p:nvPr/>
        </p:nvSpPr>
        <p:spPr>
          <a:xfrm>
            <a:off x="9267649" y="1375276"/>
            <a:ext cx="1163659" cy="288000"/>
          </a:xfrm>
          <a:prstGeom prst="rect">
            <a:avLst/>
          </a:prstGeom>
          <a:solidFill>
            <a:srgbClr val="FFE69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59" name="Rechteck 58"/>
          <p:cNvSpPr/>
          <p:nvPr/>
        </p:nvSpPr>
        <p:spPr>
          <a:xfrm>
            <a:off x="10529627" y="2878696"/>
            <a:ext cx="1014721" cy="707886"/>
          </a:xfrm>
          <a:prstGeom prst="rect">
            <a:avLst/>
          </a:prstGeom>
          <a:solidFill>
            <a:srgbClr val="ABE3FF"/>
          </a:solidFill>
        </p:spPr>
        <p:txBody>
          <a:bodyPr wrap="square" lIns="18000" rIns="180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1000" b="1" dirty="0">
                <a:solidFill>
                  <a:srgbClr val="000000"/>
                </a:solidFill>
              </a:rPr>
              <a:t>429040005 |</a:t>
            </a:r>
            <a:br>
              <a:rPr lang="en-GB" sz="1000" b="1" dirty="0">
                <a:solidFill>
                  <a:srgbClr val="000000"/>
                </a:solidFill>
              </a:rPr>
            </a:br>
            <a:r>
              <a:rPr lang="en-GB" sz="1000" b="1" dirty="0">
                <a:solidFill>
                  <a:srgbClr val="000000"/>
                </a:solidFill>
              </a:rPr>
              <a:t>Ulcer </a:t>
            </a:r>
            <a:br>
              <a:rPr lang="en-GB" sz="1000" b="1" dirty="0">
                <a:solidFill>
                  <a:srgbClr val="000000"/>
                </a:solidFill>
              </a:rPr>
            </a:br>
            <a:r>
              <a:rPr lang="en-GB" sz="1000" b="1" dirty="0">
                <a:solidFill>
                  <a:srgbClr val="000000"/>
                </a:solidFill>
              </a:rPr>
              <a:t>(disorder)|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GB" sz="1000" b="1" dirty="0">
              <a:solidFill>
                <a:srgbClr val="000000"/>
              </a:solidFill>
            </a:endParaRPr>
          </a:p>
        </p:txBody>
      </p:sp>
      <p:sp>
        <p:nvSpPr>
          <p:cNvPr id="80" name="Ellipse 79"/>
          <p:cNvSpPr/>
          <p:nvPr/>
        </p:nvSpPr>
        <p:spPr>
          <a:xfrm>
            <a:off x="366130" y="1873132"/>
            <a:ext cx="774700" cy="749300"/>
          </a:xfrm>
          <a:prstGeom prst="ellipse">
            <a:avLst/>
          </a:prstGeom>
          <a:solidFill>
            <a:srgbClr val="0070C0"/>
          </a:solidFill>
          <a:ln w="25400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i</a:t>
            </a:r>
            <a:r>
              <a:rPr kumimoji="0" lang="en-GB" sz="2000" b="0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1</a:t>
            </a:r>
          </a:p>
        </p:txBody>
      </p:sp>
      <p:sp>
        <p:nvSpPr>
          <p:cNvPr id="81" name="Ellipse 80"/>
          <p:cNvSpPr/>
          <p:nvPr/>
        </p:nvSpPr>
        <p:spPr>
          <a:xfrm>
            <a:off x="2297694" y="1847732"/>
            <a:ext cx="805366" cy="774700"/>
          </a:xfrm>
          <a:prstGeom prst="ellipse">
            <a:avLst/>
          </a:prstGeom>
          <a:solidFill>
            <a:srgbClr val="0070C0"/>
          </a:solidFill>
          <a:ln w="25400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i</a:t>
            </a:r>
            <a:r>
              <a:rPr kumimoji="0" lang="en-GB" sz="2000" b="0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2</a:t>
            </a:r>
          </a:p>
        </p:txBody>
      </p:sp>
      <p:sp>
        <p:nvSpPr>
          <p:cNvPr id="82" name="Ellipse 81"/>
          <p:cNvSpPr/>
          <p:nvPr/>
        </p:nvSpPr>
        <p:spPr>
          <a:xfrm>
            <a:off x="5271940" y="1857621"/>
            <a:ext cx="805366" cy="774700"/>
          </a:xfrm>
          <a:prstGeom prst="ellipse">
            <a:avLst/>
          </a:prstGeom>
          <a:solidFill>
            <a:srgbClr val="0070C0"/>
          </a:solidFill>
          <a:ln w="25400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i</a:t>
            </a:r>
            <a:r>
              <a:rPr kumimoji="0" lang="en-GB" sz="2000" b="0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3</a:t>
            </a:r>
          </a:p>
        </p:txBody>
      </p:sp>
      <p:sp>
        <p:nvSpPr>
          <p:cNvPr id="84" name="Ellipse 83"/>
          <p:cNvSpPr/>
          <p:nvPr/>
        </p:nvSpPr>
        <p:spPr>
          <a:xfrm>
            <a:off x="9423331" y="1868378"/>
            <a:ext cx="805366" cy="774700"/>
          </a:xfrm>
          <a:prstGeom prst="ellipse">
            <a:avLst/>
          </a:prstGeom>
          <a:solidFill>
            <a:srgbClr val="0070C0"/>
          </a:solidFill>
          <a:ln w="25400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i</a:t>
            </a:r>
            <a:r>
              <a:rPr kumimoji="0" lang="en-GB" sz="2000" b="0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5</a:t>
            </a:r>
          </a:p>
        </p:txBody>
      </p:sp>
      <p:sp>
        <p:nvSpPr>
          <p:cNvPr id="86" name="Ellipse 85"/>
          <p:cNvSpPr/>
          <p:nvPr/>
        </p:nvSpPr>
        <p:spPr>
          <a:xfrm>
            <a:off x="10614961" y="1847732"/>
            <a:ext cx="805366" cy="774700"/>
          </a:xfrm>
          <a:prstGeom prst="ellipse">
            <a:avLst/>
          </a:prstGeom>
          <a:solidFill>
            <a:srgbClr val="0070C0"/>
          </a:solidFill>
          <a:ln w="25400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i</a:t>
            </a:r>
            <a:r>
              <a:rPr kumimoji="0" lang="en-GB" sz="2000" b="0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6</a:t>
            </a:r>
          </a:p>
        </p:txBody>
      </p:sp>
      <p:cxnSp>
        <p:nvCxnSpPr>
          <p:cNvPr id="32" name="Gerader Verbinder 31"/>
          <p:cNvCxnSpPr>
            <a:stCxn id="52" idx="2"/>
          </p:cNvCxnSpPr>
          <p:nvPr/>
        </p:nvCxnSpPr>
        <p:spPr>
          <a:xfrm flipH="1">
            <a:off x="6961959" y="1663276"/>
            <a:ext cx="1" cy="1706820"/>
          </a:xfrm>
          <a:prstGeom prst="line">
            <a:avLst/>
          </a:prstGeom>
          <a:noFill/>
          <a:ln w="38100" cap="flat" cmpd="sng" algn="ctr">
            <a:solidFill>
              <a:srgbClr val="FFFFFF">
                <a:lumMod val="65000"/>
              </a:srgbClr>
            </a:solidFill>
            <a:prstDash val="sysDot"/>
          </a:ln>
          <a:effectLst/>
        </p:spPr>
      </p:cxnSp>
      <p:sp>
        <p:nvSpPr>
          <p:cNvPr id="34" name="Ellipse 33"/>
          <p:cNvSpPr/>
          <p:nvPr/>
        </p:nvSpPr>
        <p:spPr>
          <a:xfrm>
            <a:off x="6562363" y="1878724"/>
            <a:ext cx="805366" cy="774700"/>
          </a:xfrm>
          <a:prstGeom prst="ellipse">
            <a:avLst/>
          </a:prstGeom>
          <a:solidFill>
            <a:srgbClr val="0070C0"/>
          </a:solidFill>
          <a:ln w="25400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i</a:t>
            </a:r>
            <a:r>
              <a:rPr kumimoji="0" lang="en-GB" sz="2000" b="0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4</a:t>
            </a:r>
          </a:p>
        </p:txBody>
      </p:sp>
      <p:sp>
        <p:nvSpPr>
          <p:cNvPr id="29" name="Rechteck 28"/>
          <p:cNvSpPr/>
          <p:nvPr/>
        </p:nvSpPr>
        <p:spPr>
          <a:xfrm>
            <a:off x="9434496" y="2878696"/>
            <a:ext cx="829964" cy="707886"/>
          </a:xfrm>
          <a:prstGeom prst="rect">
            <a:avLst/>
          </a:prstGeom>
          <a:solidFill>
            <a:srgbClr val="ABE3FF"/>
          </a:solidFill>
        </p:spPr>
        <p:txBody>
          <a:bodyPr wrap="square" lIns="18000" rIns="18000">
            <a:sp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sz="1000" b="1" kern="0" dirty="0">
                <a:solidFill>
                  <a:prstClr val="black"/>
                </a:solidFill>
              </a:rPr>
              <a:t>439401001 |Diagnosis (observable entity)|</a:t>
            </a:r>
          </a:p>
        </p:txBody>
      </p:sp>
      <p:sp>
        <p:nvSpPr>
          <p:cNvPr id="24" name="Rechteck 23"/>
          <p:cNvSpPr/>
          <p:nvPr/>
        </p:nvSpPr>
        <p:spPr>
          <a:xfrm>
            <a:off x="175922" y="4002799"/>
            <a:ext cx="1127930" cy="707886"/>
          </a:xfrm>
          <a:prstGeom prst="rect">
            <a:avLst/>
          </a:prstGeom>
          <a:solidFill>
            <a:srgbClr val="ABE3FF"/>
          </a:solidFill>
        </p:spPr>
        <p:txBody>
          <a:bodyPr wrap="square" lIns="18000" rIns="180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1000" b="1" dirty="0">
                <a:solidFill>
                  <a:srgbClr val="000000"/>
                </a:solidFill>
              </a:rPr>
              <a:t>280119005</a:t>
            </a:r>
            <a:br>
              <a:rPr lang="en-GB" sz="1000" b="1" dirty="0">
                <a:solidFill>
                  <a:srgbClr val="000000"/>
                </a:solidFill>
              </a:rPr>
            </a:br>
            <a:r>
              <a:rPr lang="en-GB" sz="1000" b="1" dirty="0">
                <a:solidFill>
                  <a:srgbClr val="000000"/>
                </a:solidFill>
              </a:rPr>
              <a:t>|Pyloric structure </a:t>
            </a:r>
            <a:br>
              <a:rPr lang="en-GB" sz="1000" b="1" dirty="0">
                <a:solidFill>
                  <a:srgbClr val="000000"/>
                </a:solidFill>
              </a:rPr>
            </a:br>
            <a:r>
              <a:rPr lang="en-GB" sz="1000" b="1" dirty="0">
                <a:solidFill>
                  <a:srgbClr val="000000"/>
                </a:solidFill>
              </a:rPr>
              <a:t>of stomach </a:t>
            </a:r>
            <a:br>
              <a:rPr lang="en-GB" sz="1000" b="1" dirty="0">
                <a:solidFill>
                  <a:srgbClr val="000000"/>
                </a:solidFill>
              </a:rPr>
            </a:br>
            <a:r>
              <a:rPr lang="en-GB" sz="1000" b="1" dirty="0">
                <a:solidFill>
                  <a:srgbClr val="000000"/>
                </a:solidFill>
              </a:rPr>
              <a:t>(body structure)|</a:t>
            </a:r>
          </a:p>
        </p:txBody>
      </p:sp>
      <p:sp>
        <p:nvSpPr>
          <p:cNvPr id="25" name="Rechteck 24"/>
          <p:cNvSpPr/>
          <p:nvPr/>
        </p:nvSpPr>
        <p:spPr>
          <a:xfrm>
            <a:off x="2090521" y="4013020"/>
            <a:ext cx="1255744" cy="707886"/>
          </a:xfrm>
          <a:prstGeom prst="rect">
            <a:avLst/>
          </a:prstGeom>
          <a:solidFill>
            <a:srgbClr val="ABE3FF"/>
          </a:solidFill>
        </p:spPr>
        <p:txBody>
          <a:bodyPr wrap="square" lIns="18000" rIns="180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1000" b="1" dirty="0">
                <a:solidFill>
                  <a:srgbClr val="000000"/>
                </a:solidFill>
              </a:rPr>
              <a:t>56734009 </a:t>
            </a:r>
            <a:br>
              <a:rPr lang="en-GB" sz="1000" b="1" dirty="0">
                <a:solidFill>
                  <a:srgbClr val="000000"/>
                </a:solidFill>
              </a:rPr>
            </a:br>
            <a:r>
              <a:rPr lang="en-GB" sz="1000" b="1" dirty="0">
                <a:solidFill>
                  <a:srgbClr val="000000"/>
                </a:solidFill>
              </a:rPr>
              <a:t>|Structure of superior portion of duodenum </a:t>
            </a:r>
            <a:br>
              <a:rPr lang="en-GB" sz="1000" b="1" dirty="0">
                <a:solidFill>
                  <a:srgbClr val="000000"/>
                </a:solidFill>
              </a:rPr>
            </a:br>
            <a:r>
              <a:rPr lang="en-GB" sz="1000" b="1" dirty="0">
                <a:solidFill>
                  <a:srgbClr val="000000"/>
                </a:solidFill>
              </a:rPr>
              <a:t>(body structure)|</a:t>
            </a:r>
          </a:p>
        </p:txBody>
      </p:sp>
      <p:sp>
        <p:nvSpPr>
          <p:cNvPr id="26" name="Rechteck 25"/>
          <p:cNvSpPr/>
          <p:nvPr/>
        </p:nvSpPr>
        <p:spPr>
          <a:xfrm>
            <a:off x="5196484" y="3364466"/>
            <a:ext cx="950379" cy="707886"/>
          </a:xfrm>
          <a:prstGeom prst="rect">
            <a:avLst/>
          </a:prstGeom>
          <a:solidFill>
            <a:srgbClr val="ABE3FF"/>
          </a:solidFill>
        </p:spPr>
        <p:txBody>
          <a:bodyPr wrap="square" lIns="18000" rIns="180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1000" b="1" dirty="0">
                <a:solidFill>
                  <a:srgbClr val="000000"/>
                </a:solidFill>
              </a:rPr>
              <a:t>267038008 |</a:t>
            </a:r>
            <a:r>
              <a:rPr lang="en-GB" sz="1000" b="1" dirty="0" err="1">
                <a:solidFill>
                  <a:srgbClr val="000000"/>
                </a:solidFill>
              </a:rPr>
              <a:t>Edema</a:t>
            </a:r>
            <a:r>
              <a:rPr lang="en-GB" sz="1000" b="1" dirty="0">
                <a:solidFill>
                  <a:srgbClr val="000000"/>
                </a:solidFill>
              </a:rPr>
              <a:t> (finding)|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GB" sz="1000" b="1" dirty="0">
              <a:solidFill>
                <a:srgbClr val="000000"/>
              </a:solidFill>
            </a:endParaRPr>
          </a:p>
        </p:txBody>
      </p:sp>
      <p:sp>
        <p:nvSpPr>
          <p:cNvPr id="27" name="Rechteck 26"/>
          <p:cNvSpPr/>
          <p:nvPr/>
        </p:nvSpPr>
        <p:spPr>
          <a:xfrm>
            <a:off x="6523031" y="3370096"/>
            <a:ext cx="877855" cy="707886"/>
          </a:xfrm>
          <a:prstGeom prst="rect">
            <a:avLst/>
          </a:prstGeom>
          <a:solidFill>
            <a:srgbClr val="ABE3FF"/>
          </a:solidFill>
        </p:spPr>
        <p:txBody>
          <a:bodyPr wrap="square" lIns="18000" rIns="180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1000" b="1" dirty="0">
                <a:solidFill>
                  <a:srgbClr val="000000"/>
                </a:solidFill>
              </a:rPr>
              <a:t>263899003 </a:t>
            </a:r>
            <a:br>
              <a:rPr lang="en-GB" sz="1000" b="1" dirty="0">
                <a:solidFill>
                  <a:srgbClr val="000000"/>
                </a:solidFill>
              </a:rPr>
            </a:br>
            <a:r>
              <a:rPr lang="en-GB" sz="1000" b="1" dirty="0">
                <a:solidFill>
                  <a:srgbClr val="000000"/>
                </a:solidFill>
              </a:rPr>
              <a:t>|Thickened </a:t>
            </a:r>
            <a:br>
              <a:rPr lang="en-GB" sz="1000" b="1" dirty="0">
                <a:solidFill>
                  <a:srgbClr val="000000"/>
                </a:solidFill>
              </a:rPr>
            </a:br>
            <a:r>
              <a:rPr lang="en-GB" sz="1000" b="1" dirty="0">
                <a:solidFill>
                  <a:srgbClr val="000000"/>
                </a:solidFill>
              </a:rPr>
              <a:t>(qualifier</a:t>
            </a:r>
            <a:br>
              <a:rPr lang="en-GB" sz="1000" b="1" dirty="0">
                <a:solidFill>
                  <a:srgbClr val="000000"/>
                </a:solidFill>
              </a:rPr>
            </a:br>
            <a:r>
              <a:rPr lang="en-GB" sz="1000" b="1" dirty="0">
                <a:solidFill>
                  <a:srgbClr val="000000"/>
                </a:solidFill>
              </a:rPr>
              <a:t> value)|</a:t>
            </a:r>
          </a:p>
        </p:txBody>
      </p:sp>
      <p:sp>
        <p:nvSpPr>
          <p:cNvPr id="35" name="Rechteck 34"/>
          <p:cNvSpPr/>
          <p:nvPr/>
        </p:nvSpPr>
        <p:spPr>
          <a:xfrm>
            <a:off x="217953" y="1000010"/>
            <a:ext cx="12192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br>
              <a:rPr lang="en-GB" sz="2000" b="1" dirty="0">
                <a:solidFill>
                  <a:srgbClr val="000000"/>
                </a:solidFill>
                <a:cs typeface="Arial" panose="020B0604020202020204" pitchFamily="34" charset="0"/>
              </a:rPr>
            </a:br>
            <a:r>
              <a:rPr lang="en-GB" sz="2000" b="1" dirty="0">
                <a:solidFill>
                  <a:srgbClr val="000000"/>
                </a:solidFill>
                <a:cs typeface="Arial" panose="020B0604020202020204" pitchFamily="34" charset="0"/>
              </a:rPr>
              <a:t> Pylorus and superior duodenum:                      </a:t>
            </a:r>
            <a:r>
              <a:rPr lang="en-GB" sz="2000" b="1" dirty="0" err="1">
                <a:solidFill>
                  <a:srgbClr val="000000"/>
                </a:solidFill>
                <a:cs typeface="Arial" panose="020B0604020202020204" pitchFamily="34" charset="0"/>
              </a:rPr>
              <a:t>Edematous</a:t>
            </a:r>
            <a:r>
              <a:rPr lang="en-GB" sz="2000" b="1" dirty="0">
                <a:solidFill>
                  <a:srgbClr val="000000"/>
                </a:solidFill>
                <a:cs typeface="Arial" panose="020B0604020202020204" pitchFamily="34" charset="0"/>
              </a:rPr>
              <a:t>  thickening.                               Diagnosis:      ulcer </a:t>
            </a:r>
          </a:p>
        </p:txBody>
      </p:sp>
    </p:spTree>
    <p:extLst>
      <p:ext uri="{BB962C8B-B14F-4D97-AF65-F5344CB8AC3E}">
        <p14:creationId xmlns:p14="http://schemas.microsoft.com/office/powerpoint/2010/main" val="1122747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Gerader Verbinder 29"/>
          <p:cNvCxnSpPr>
            <a:stCxn id="50" idx="2"/>
            <a:endCxn id="59" idx="0"/>
          </p:cNvCxnSpPr>
          <p:nvPr/>
        </p:nvCxnSpPr>
        <p:spPr>
          <a:xfrm>
            <a:off x="11036988" y="1663276"/>
            <a:ext cx="0" cy="1215420"/>
          </a:xfrm>
          <a:prstGeom prst="line">
            <a:avLst/>
          </a:prstGeom>
          <a:noFill/>
          <a:ln w="38100" cap="flat" cmpd="sng" algn="ctr">
            <a:solidFill>
              <a:srgbClr val="FFFFFF">
                <a:lumMod val="65000"/>
              </a:srgbClr>
            </a:solidFill>
            <a:prstDash val="sysDot"/>
          </a:ln>
          <a:effectLst/>
        </p:spPr>
      </p:cxnSp>
      <p:cxnSp>
        <p:nvCxnSpPr>
          <p:cNvPr id="65" name="Gerader Verbinder 64"/>
          <p:cNvCxnSpPr>
            <a:stCxn id="55" idx="2"/>
            <a:endCxn id="29" idx="0"/>
          </p:cNvCxnSpPr>
          <p:nvPr/>
        </p:nvCxnSpPr>
        <p:spPr>
          <a:xfrm flipH="1">
            <a:off x="9849478" y="1663276"/>
            <a:ext cx="1" cy="1215420"/>
          </a:xfrm>
          <a:prstGeom prst="line">
            <a:avLst/>
          </a:prstGeom>
          <a:noFill/>
          <a:ln w="38100" cap="flat" cmpd="sng" algn="ctr">
            <a:solidFill>
              <a:srgbClr val="FFFFFF">
                <a:lumMod val="65000"/>
              </a:srgbClr>
            </a:solidFill>
            <a:prstDash val="sysDot"/>
          </a:ln>
          <a:effectLst/>
        </p:spPr>
      </p:cxnSp>
      <p:cxnSp>
        <p:nvCxnSpPr>
          <p:cNvPr id="63" name="Gerader Verbinder 62"/>
          <p:cNvCxnSpPr>
            <a:stCxn id="53" idx="2"/>
            <a:endCxn id="57" idx="0"/>
          </p:cNvCxnSpPr>
          <p:nvPr/>
        </p:nvCxnSpPr>
        <p:spPr>
          <a:xfrm flipH="1">
            <a:off x="739887" y="1663276"/>
            <a:ext cx="5773" cy="2339523"/>
          </a:xfrm>
          <a:prstGeom prst="line">
            <a:avLst/>
          </a:prstGeom>
          <a:noFill/>
          <a:ln w="38100" cap="flat" cmpd="sng" algn="ctr">
            <a:solidFill>
              <a:srgbClr val="FFFFFF">
                <a:lumMod val="65000"/>
              </a:srgbClr>
            </a:solidFill>
            <a:prstDash val="sysDot"/>
          </a:ln>
          <a:effectLst/>
        </p:spPr>
      </p:cxnSp>
      <p:cxnSp>
        <p:nvCxnSpPr>
          <p:cNvPr id="64" name="Gerader Verbinder 63"/>
          <p:cNvCxnSpPr>
            <a:stCxn id="54" idx="2"/>
            <a:endCxn id="58" idx="0"/>
          </p:cNvCxnSpPr>
          <p:nvPr/>
        </p:nvCxnSpPr>
        <p:spPr>
          <a:xfrm>
            <a:off x="2718393" y="1663276"/>
            <a:ext cx="0" cy="2349744"/>
          </a:xfrm>
          <a:prstGeom prst="line">
            <a:avLst/>
          </a:prstGeom>
          <a:noFill/>
          <a:ln w="38100" cap="flat" cmpd="sng" algn="ctr">
            <a:solidFill>
              <a:srgbClr val="FFFFFF">
                <a:lumMod val="65000"/>
              </a:srgbClr>
            </a:solidFill>
            <a:prstDash val="sysDot"/>
          </a:ln>
          <a:effectLst/>
        </p:spPr>
      </p:cxnSp>
      <p:cxnSp>
        <p:nvCxnSpPr>
          <p:cNvPr id="78" name="Gerader Verbinder 77"/>
          <p:cNvCxnSpPr>
            <a:stCxn id="51" idx="2"/>
            <a:endCxn id="76" idx="0"/>
          </p:cNvCxnSpPr>
          <p:nvPr/>
        </p:nvCxnSpPr>
        <p:spPr>
          <a:xfrm>
            <a:off x="5671674" y="1663276"/>
            <a:ext cx="0" cy="1701190"/>
          </a:xfrm>
          <a:prstGeom prst="line">
            <a:avLst/>
          </a:prstGeom>
          <a:noFill/>
          <a:ln w="38100" cap="flat" cmpd="sng" algn="ctr">
            <a:solidFill>
              <a:srgbClr val="FFFFFF">
                <a:lumMod val="65000"/>
              </a:srgbClr>
            </a:solidFill>
            <a:prstDash val="sysDot"/>
          </a:ln>
          <a:effectLst/>
        </p:spPr>
      </p:cxnSp>
      <p:sp>
        <p:nvSpPr>
          <p:cNvPr id="50" name="Rechteck 49"/>
          <p:cNvSpPr/>
          <p:nvPr/>
        </p:nvSpPr>
        <p:spPr>
          <a:xfrm>
            <a:off x="10705376" y="1375276"/>
            <a:ext cx="663224" cy="288000"/>
          </a:xfrm>
          <a:prstGeom prst="rect">
            <a:avLst/>
          </a:prstGeom>
          <a:solidFill>
            <a:srgbClr val="FFE69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51" name="Rechteck 50"/>
          <p:cNvSpPr/>
          <p:nvPr/>
        </p:nvSpPr>
        <p:spPr>
          <a:xfrm>
            <a:off x="5047509" y="1375276"/>
            <a:ext cx="1248330" cy="288000"/>
          </a:xfrm>
          <a:prstGeom prst="rect">
            <a:avLst/>
          </a:prstGeom>
          <a:solidFill>
            <a:srgbClr val="FFE69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52" name="Rechteck 51"/>
          <p:cNvSpPr/>
          <p:nvPr/>
        </p:nvSpPr>
        <p:spPr>
          <a:xfrm>
            <a:off x="6378061" y="1375276"/>
            <a:ext cx="1167797" cy="288000"/>
          </a:xfrm>
          <a:prstGeom prst="rect">
            <a:avLst/>
          </a:prstGeom>
          <a:solidFill>
            <a:srgbClr val="FFE69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53" name="Rechteck 52"/>
          <p:cNvSpPr/>
          <p:nvPr/>
        </p:nvSpPr>
        <p:spPr>
          <a:xfrm>
            <a:off x="326606" y="1375276"/>
            <a:ext cx="838107" cy="288000"/>
          </a:xfrm>
          <a:prstGeom prst="rect">
            <a:avLst/>
          </a:prstGeom>
          <a:solidFill>
            <a:srgbClr val="FFE69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54" name="Rechteck 53"/>
          <p:cNvSpPr/>
          <p:nvPr/>
        </p:nvSpPr>
        <p:spPr>
          <a:xfrm>
            <a:off x="1632468" y="1375276"/>
            <a:ext cx="2171850" cy="288000"/>
          </a:xfrm>
          <a:prstGeom prst="rect">
            <a:avLst/>
          </a:prstGeom>
          <a:solidFill>
            <a:srgbClr val="FFE69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55" name="Rechteck 54"/>
          <p:cNvSpPr/>
          <p:nvPr/>
        </p:nvSpPr>
        <p:spPr>
          <a:xfrm>
            <a:off x="9267649" y="1375276"/>
            <a:ext cx="1163659" cy="288000"/>
          </a:xfrm>
          <a:prstGeom prst="rect">
            <a:avLst/>
          </a:prstGeom>
          <a:solidFill>
            <a:srgbClr val="FFE69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57" name="Rechteck 56"/>
          <p:cNvSpPr/>
          <p:nvPr/>
        </p:nvSpPr>
        <p:spPr>
          <a:xfrm>
            <a:off x="175922" y="4002799"/>
            <a:ext cx="1127930" cy="707886"/>
          </a:xfrm>
          <a:prstGeom prst="rect">
            <a:avLst/>
          </a:prstGeom>
          <a:solidFill>
            <a:srgbClr val="ABE3FF"/>
          </a:solidFill>
        </p:spPr>
        <p:txBody>
          <a:bodyPr wrap="square" lIns="18000" rIns="180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1000" b="1" dirty="0">
                <a:solidFill>
                  <a:srgbClr val="000000"/>
                </a:solidFill>
              </a:rPr>
              <a:t>280119005</a:t>
            </a:r>
            <a:br>
              <a:rPr lang="en-GB" sz="1000" b="1" dirty="0">
                <a:solidFill>
                  <a:srgbClr val="000000"/>
                </a:solidFill>
              </a:rPr>
            </a:br>
            <a:r>
              <a:rPr lang="en-GB" sz="1000" b="1" dirty="0">
                <a:solidFill>
                  <a:srgbClr val="000000"/>
                </a:solidFill>
              </a:rPr>
              <a:t>|Pyloric structure </a:t>
            </a:r>
            <a:br>
              <a:rPr lang="en-GB" sz="1000" b="1" dirty="0">
                <a:solidFill>
                  <a:srgbClr val="000000"/>
                </a:solidFill>
              </a:rPr>
            </a:br>
            <a:r>
              <a:rPr lang="en-GB" sz="1000" b="1" dirty="0">
                <a:solidFill>
                  <a:srgbClr val="000000"/>
                </a:solidFill>
              </a:rPr>
              <a:t>of stomach </a:t>
            </a:r>
            <a:br>
              <a:rPr lang="en-GB" sz="1000" b="1" dirty="0">
                <a:solidFill>
                  <a:srgbClr val="000000"/>
                </a:solidFill>
              </a:rPr>
            </a:br>
            <a:r>
              <a:rPr lang="en-GB" sz="1000" b="1" dirty="0">
                <a:solidFill>
                  <a:srgbClr val="000000"/>
                </a:solidFill>
              </a:rPr>
              <a:t>(body structure)|</a:t>
            </a:r>
          </a:p>
        </p:txBody>
      </p:sp>
      <p:sp>
        <p:nvSpPr>
          <p:cNvPr id="58" name="Rechteck 57"/>
          <p:cNvSpPr/>
          <p:nvPr/>
        </p:nvSpPr>
        <p:spPr>
          <a:xfrm>
            <a:off x="2090521" y="4013020"/>
            <a:ext cx="1255744" cy="707886"/>
          </a:xfrm>
          <a:prstGeom prst="rect">
            <a:avLst/>
          </a:prstGeom>
          <a:solidFill>
            <a:srgbClr val="ABE3FF"/>
          </a:solidFill>
        </p:spPr>
        <p:txBody>
          <a:bodyPr wrap="square" lIns="18000" rIns="180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1000" b="1" dirty="0">
                <a:solidFill>
                  <a:srgbClr val="000000"/>
                </a:solidFill>
              </a:rPr>
              <a:t>56734009 </a:t>
            </a:r>
            <a:br>
              <a:rPr lang="en-GB" sz="1000" b="1" dirty="0">
                <a:solidFill>
                  <a:srgbClr val="000000"/>
                </a:solidFill>
              </a:rPr>
            </a:br>
            <a:r>
              <a:rPr lang="en-GB" sz="1000" b="1" dirty="0">
                <a:solidFill>
                  <a:srgbClr val="000000"/>
                </a:solidFill>
              </a:rPr>
              <a:t>|Structure of superior portion of duodenum </a:t>
            </a:r>
            <a:br>
              <a:rPr lang="en-GB" sz="1000" b="1" dirty="0">
                <a:solidFill>
                  <a:srgbClr val="000000"/>
                </a:solidFill>
              </a:rPr>
            </a:br>
            <a:r>
              <a:rPr lang="en-GB" sz="1000" b="1" dirty="0">
                <a:solidFill>
                  <a:srgbClr val="000000"/>
                </a:solidFill>
              </a:rPr>
              <a:t>(body structure)|</a:t>
            </a:r>
          </a:p>
        </p:txBody>
      </p:sp>
      <p:sp>
        <p:nvSpPr>
          <p:cNvPr id="59" name="Rechteck 58"/>
          <p:cNvSpPr/>
          <p:nvPr/>
        </p:nvSpPr>
        <p:spPr>
          <a:xfrm>
            <a:off x="10529627" y="2878696"/>
            <a:ext cx="1014721" cy="707886"/>
          </a:xfrm>
          <a:prstGeom prst="rect">
            <a:avLst/>
          </a:prstGeom>
          <a:solidFill>
            <a:srgbClr val="ABE3FF"/>
          </a:solidFill>
        </p:spPr>
        <p:txBody>
          <a:bodyPr wrap="square" lIns="18000" rIns="180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1000" b="1" dirty="0">
                <a:solidFill>
                  <a:srgbClr val="000000"/>
                </a:solidFill>
              </a:rPr>
              <a:t>429040005 |</a:t>
            </a:r>
            <a:br>
              <a:rPr lang="en-GB" sz="1000" b="1" dirty="0">
                <a:solidFill>
                  <a:srgbClr val="000000"/>
                </a:solidFill>
              </a:rPr>
            </a:br>
            <a:r>
              <a:rPr lang="en-GB" sz="1000" b="1" dirty="0">
                <a:solidFill>
                  <a:srgbClr val="000000"/>
                </a:solidFill>
              </a:rPr>
              <a:t>Ulcer </a:t>
            </a:r>
            <a:br>
              <a:rPr lang="en-GB" sz="1000" b="1" dirty="0">
                <a:solidFill>
                  <a:srgbClr val="000000"/>
                </a:solidFill>
              </a:rPr>
            </a:br>
            <a:r>
              <a:rPr lang="en-GB" sz="1000" b="1" dirty="0">
                <a:solidFill>
                  <a:srgbClr val="000000"/>
                </a:solidFill>
              </a:rPr>
              <a:t>(disorder)|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GB" sz="1000" b="1" dirty="0">
              <a:solidFill>
                <a:srgbClr val="000000"/>
              </a:solidFill>
            </a:endParaRPr>
          </a:p>
        </p:txBody>
      </p:sp>
      <p:sp>
        <p:nvSpPr>
          <p:cNvPr id="76" name="Rechteck 75"/>
          <p:cNvSpPr/>
          <p:nvPr/>
        </p:nvSpPr>
        <p:spPr>
          <a:xfrm>
            <a:off x="5196484" y="3364466"/>
            <a:ext cx="950379" cy="707886"/>
          </a:xfrm>
          <a:prstGeom prst="rect">
            <a:avLst/>
          </a:prstGeom>
          <a:solidFill>
            <a:srgbClr val="ABE3FF"/>
          </a:solidFill>
        </p:spPr>
        <p:txBody>
          <a:bodyPr wrap="square" lIns="18000" rIns="180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1000" b="1" dirty="0">
                <a:solidFill>
                  <a:srgbClr val="000000"/>
                </a:solidFill>
              </a:rPr>
              <a:t>267038008 |</a:t>
            </a:r>
            <a:r>
              <a:rPr lang="en-GB" sz="1000" b="1" dirty="0" err="1">
                <a:solidFill>
                  <a:srgbClr val="000000"/>
                </a:solidFill>
              </a:rPr>
              <a:t>Edema</a:t>
            </a:r>
            <a:r>
              <a:rPr lang="en-GB" sz="1000" b="1" dirty="0">
                <a:solidFill>
                  <a:srgbClr val="000000"/>
                </a:solidFill>
              </a:rPr>
              <a:t> (finding)|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GB" sz="1000" b="1" dirty="0">
              <a:solidFill>
                <a:srgbClr val="000000"/>
              </a:solidFill>
            </a:endParaRPr>
          </a:p>
        </p:txBody>
      </p:sp>
      <p:sp>
        <p:nvSpPr>
          <p:cNvPr id="80" name="Ellipse 79"/>
          <p:cNvSpPr/>
          <p:nvPr/>
        </p:nvSpPr>
        <p:spPr>
          <a:xfrm>
            <a:off x="366130" y="1873132"/>
            <a:ext cx="774700" cy="749300"/>
          </a:xfrm>
          <a:prstGeom prst="ellipse">
            <a:avLst/>
          </a:prstGeom>
          <a:solidFill>
            <a:srgbClr val="0070C0"/>
          </a:solidFill>
          <a:ln w="25400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i</a:t>
            </a:r>
            <a:r>
              <a:rPr kumimoji="0" lang="en-GB" sz="2000" b="0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1</a:t>
            </a:r>
          </a:p>
        </p:txBody>
      </p:sp>
      <p:sp>
        <p:nvSpPr>
          <p:cNvPr id="81" name="Ellipse 80"/>
          <p:cNvSpPr/>
          <p:nvPr/>
        </p:nvSpPr>
        <p:spPr>
          <a:xfrm>
            <a:off x="2297694" y="1847732"/>
            <a:ext cx="805366" cy="774700"/>
          </a:xfrm>
          <a:prstGeom prst="ellipse">
            <a:avLst/>
          </a:prstGeom>
          <a:solidFill>
            <a:srgbClr val="0070C0"/>
          </a:solidFill>
          <a:ln w="25400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i</a:t>
            </a:r>
            <a:r>
              <a:rPr kumimoji="0" lang="en-GB" sz="2000" b="0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2</a:t>
            </a:r>
          </a:p>
        </p:txBody>
      </p:sp>
      <p:sp>
        <p:nvSpPr>
          <p:cNvPr id="82" name="Ellipse 81"/>
          <p:cNvSpPr/>
          <p:nvPr/>
        </p:nvSpPr>
        <p:spPr>
          <a:xfrm>
            <a:off x="5271940" y="1857621"/>
            <a:ext cx="805366" cy="774700"/>
          </a:xfrm>
          <a:prstGeom prst="ellipse">
            <a:avLst/>
          </a:prstGeom>
          <a:solidFill>
            <a:srgbClr val="0070C0"/>
          </a:solidFill>
          <a:ln w="25400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i</a:t>
            </a:r>
            <a:r>
              <a:rPr kumimoji="0" lang="en-GB" sz="2000" b="0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3</a:t>
            </a:r>
          </a:p>
        </p:txBody>
      </p:sp>
      <p:sp>
        <p:nvSpPr>
          <p:cNvPr id="84" name="Ellipse 83"/>
          <p:cNvSpPr/>
          <p:nvPr/>
        </p:nvSpPr>
        <p:spPr>
          <a:xfrm>
            <a:off x="9423331" y="1868378"/>
            <a:ext cx="805366" cy="774700"/>
          </a:xfrm>
          <a:prstGeom prst="ellipse">
            <a:avLst/>
          </a:prstGeom>
          <a:solidFill>
            <a:srgbClr val="0070C0"/>
          </a:solidFill>
          <a:ln w="25400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i</a:t>
            </a:r>
            <a:r>
              <a:rPr kumimoji="0" lang="en-GB" sz="2000" b="0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5</a:t>
            </a:r>
          </a:p>
        </p:txBody>
      </p:sp>
      <p:sp>
        <p:nvSpPr>
          <p:cNvPr id="86" name="Ellipse 85"/>
          <p:cNvSpPr/>
          <p:nvPr/>
        </p:nvSpPr>
        <p:spPr>
          <a:xfrm>
            <a:off x="10614961" y="1847732"/>
            <a:ext cx="805366" cy="774700"/>
          </a:xfrm>
          <a:prstGeom prst="ellipse">
            <a:avLst/>
          </a:prstGeom>
          <a:solidFill>
            <a:srgbClr val="0070C0"/>
          </a:solidFill>
          <a:ln w="25400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i</a:t>
            </a:r>
            <a:r>
              <a:rPr kumimoji="0" lang="en-GB" sz="2000" b="0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6</a:t>
            </a:r>
          </a:p>
        </p:txBody>
      </p:sp>
      <p:cxnSp>
        <p:nvCxnSpPr>
          <p:cNvPr id="32" name="Gerader Verbinder 31"/>
          <p:cNvCxnSpPr>
            <a:stCxn id="52" idx="2"/>
            <a:endCxn id="33" idx="0"/>
          </p:cNvCxnSpPr>
          <p:nvPr/>
        </p:nvCxnSpPr>
        <p:spPr>
          <a:xfrm flipH="1">
            <a:off x="6961959" y="1663276"/>
            <a:ext cx="1" cy="1706820"/>
          </a:xfrm>
          <a:prstGeom prst="line">
            <a:avLst/>
          </a:prstGeom>
          <a:noFill/>
          <a:ln w="38100" cap="flat" cmpd="sng" algn="ctr">
            <a:solidFill>
              <a:srgbClr val="FFFFFF">
                <a:lumMod val="65000"/>
              </a:srgbClr>
            </a:solidFill>
            <a:prstDash val="sysDot"/>
          </a:ln>
          <a:effectLst/>
        </p:spPr>
      </p:cxnSp>
      <p:sp>
        <p:nvSpPr>
          <p:cNvPr id="33" name="Rechteck 32"/>
          <p:cNvSpPr/>
          <p:nvPr/>
        </p:nvSpPr>
        <p:spPr>
          <a:xfrm>
            <a:off x="6523031" y="3370096"/>
            <a:ext cx="877855" cy="707886"/>
          </a:xfrm>
          <a:prstGeom prst="rect">
            <a:avLst/>
          </a:prstGeom>
          <a:solidFill>
            <a:srgbClr val="ABE3FF"/>
          </a:solidFill>
        </p:spPr>
        <p:txBody>
          <a:bodyPr wrap="square" lIns="18000" rIns="180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1000" b="1" dirty="0">
                <a:solidFill>
                  <a:srgbClr val="000000"/>
                </a:solidFill>
              </a:rPr>
              <a:t>263899003 </a:t>
            </a:r>
            <a:br>
              <a:rPr lang="en-GB" sz="1000" b="1" dirty="0">
                <a:solidFill>
                  <a:srgbClr val="000000"/>
                </a:solidFill>
              </a:rPr>
            </a:br>
            <a:r>
              <a:rPr lang="en-GB" sz="1000" b="1" dirty="0">
                <a:solidFill>
                  <a:srgbClr val="000000"/>
                </a:solidFill>
              </a:rPr>
              <a:t>|Thickened </a:t>
            </a:r>
            <a:br>
              <a:rPr lang="en-GB" sz="1000" b="1" dirty="0">
                <a:solidFill>
                  <a:srgbClr val="000000"/>
                </a:solidFill>
              </a:rPr>
            </a:br>
            <a:r>
              <a:rPr lang="en-GB" sz="1000" b="1" dirty="0">
                <a:solidFill>
                  <a:srgbClr val="000000"/>
                </a:solidFill>
              </a:rPr>
              <a:t>(qualifier</a:t>
            </a:r>
            <a:br>
              <a:rPr lang="en-GB" sz="1000" b="1" dirty="0">
                <a:solidFill>
                  <a:srgbClr val="000000"/>
                </a:solidFill>
              </a:rPr>
            </a:br>
            <a:r>
              <a:rPr lang="en-GB" sz="1000" b="1" dirty="0">
                <a:solidFill>
                  <a:srgbClr val="000000"/>
                </a:solidFill>
              </a:rPr>
              <a:t> value)|</a:t>
            </a:r>
          </a:p>
        </p:txBody>
      </p:sp>
      <p:sp>
        <p:nvSpPr>
          <p:cNvPr id="34" name="Ellipse 33"/>
          <p:cNvSpPr/>
          <p:nvPr/>
        </p:nvSpPr>
        <p:spPr>
          <a:xfrm>
            <a:off x="6562363" y="1878724"/>
            <a:ext cx="805366" cy="774700"/>
          </a:xfrm>
          <a:prstGeom prst="ellipse">
            <a:avLst/>
          </a:prstGeom>
          <a:solidFill>
            <a:srgbClr val="0070C0"/>
          </a:solidFill>
          <a:ln w="25400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i</a:t>
            </a:r>
            <a:r>
              <a:rPr kumimoji="0" lang="en-GB" sz="2000" b="0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4</a:t>
            </a:r>
          </a:p>
        </p:txBody>
      </p:sp>
      <p:sp>
        <p:nvSpPr>
          <p:cNvPr id="29" name="Rechteck 28"/>
          <p:cNvSpPr/>
          <p:nvPr/>
        </p:nvSpPr>
        <p:spPr>
          <a:xfrm>
            <a:off x="9434496" y="2878696"/>
            <a:ext cx="829964" cy="707886"/>
          </a:xfrm>
          <a:prstGeom prst="rect">
            <a:avLst/>
          </a:prstGeom>
          <a:solidFill>
            <a:srgbClr val="ABE3FF"/>
          </a:solidFill>
        </p:spPr>
        <p:txBody>
          <a:bodyPr wrap="square" lIns="18000" rIns="18000">
            <a:sp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sz="1000" b="1" kern="0" dirty="0">
                <a:solidFill>
                  <a:prstClr val="black"/>
                </a:solidFill>
              </a:rPr>
              <a:t>439401001 |Diagnosis (observable entity)|</a:t>
            </a:r>
          </a:p>
        </p:txBody>
      </p:sp>
      <p:cxnSp>
        <p:nvCxnSpPr>
          <p:cNvPr id="38" name="Gekrümmter Verbinder 37"/>
          <p:cNvCxnSpPr>
            <a:stCxn id="82" idx="1"/>
            <a:endCxn id="81" idx="7"/>
          </p:cNvCxnSpPr>
          <p:nvPr/>
        </p:nvCxnSpPr>
        <p:spPr>
          <a:xfrm rot="16200000" flipV="1">
            <a:off x="4182556" y="763746"/>
            <a:ext cx="9889" cy="2404766"/>
          </a:xfrm>
          <a:prstGeom prst="curvedConnector3">
            <a:avLst>
              <a:gd name="adj1" fmla="val 4108221"/>
            </a:avLst>
          </a:prstGeom>
          <a:noFill/>
          <a:ln w="19050" cap="flat" cmpd="sng" algn="ctr">
            <a:solidFill>
              <a:srgbClr val="FF0000"/>
            </a:solidFill>
            <a:prstDash val="solid"/>
            <a:headEnd type="none" w="med" len="med"/>
            <a:tailEnd type="triangle" w="med" len="med"/>
          </a:ln>
          <a:effectLst/>
        </p:spPr>
      </p:cxnSp>
      <p:cxnSp>
        <p:nvCxnSpPr>
          <p:cNvPr id="75" name="Gekrümmter Verbinder 74"/>
          <p:cNvCxnSpPr>
            <a:stCxn id="82" idx="1"/>
            <a:endCxn id="80" idx="7"/>
          </p:cNvCxnSpPr>
          <p:nvPr/>
        </p:nvCxnSpPr>
        <p:spPr>
          <a:xfrm rot="16200000" flipH="1" flipV="1">
            <a:off x="3202735" y="-204285"/>
            <a:ext cx="11791" cy="4362505"/>
          </a:xfrm>
          <a:prstGeom prst="curvedConnector3">
            <a:avLst>
              <a:gd name="adj1" fmla="val -7354363"/>
            </a:avLst>
          </a:prstGeom>
          <a:noFill/>
          <a:ln w="19050" cap="flat" cmpd="sng" algn="ctr">
            <a:solidFill>
              <a:srgbClr val="FF0000"/>
            </a:solidFill>
            <a:prstDash val="solid"/>
            <a:headEnd type="none" w="med" len="med"/>
            <a:tailEnd type="triangle" w="med" len="med"/>
          </a:ln>
          <a:effectLst/>
        </p:spPr>
      </p:cxnSp>
      <p:sp>
        <p:nvSpPr>
          <p:cNvPr id="79" name="Rechteck 78"/>
          <p:cNvSpPr/>
          <p:nvPr/>
        </p:nvSpPr>
        <p:spPr>
          <a:xfrm>
            <a:off x="3610109" y="1324863"/>
            <a:ext cx="1451967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050" b="1" dirty="0">
                <a:solidFill>
                  <a:srgbClr val="FF0000"/>
                </a:solidFill>
              </a:rPr>
              <a:t>'Finding site'</a:t>
            </a:r>
            <a:endParaRPr lang="en-GB" sz="1400" dirty="0"/>
          </a:p>
        </p:txBody>
      </p:sp>
      <p:cxnSp>
        <p:nvCxnSpPr>
          <p:cNvPr id="87" name="Gekrümmter Verbinder 86"/>
          <p:cNvCxnSpPr>
            <a:stCxn id="34" idx="4"/>
            <a:endCxn id="80" idx="4"/>
          </p:cNvCxnSpPr>
          <p:nvPr/>
        </p:nvCxnSpPr>
        <p:spPr>
          <a:xfrm rot="5400000" flipH="1">
            <a:off x="3843767" y="-467855"/>
            <a:ext cx="30992" cy="6211566"/>
          </a:xfrm>
          <a:prstGeom prst="curvedConnector3">
            <a:avLst>
              <a:gd name="adj1" fmla="val -2402714"/>
            </a:avLst>
          </a:prstGeom>
          <a:noFill/>
          <a:ln w="19050" cap="flat" cmpd="sng" algn="ctr">
            <a:solidFill>
              <a:srgbClr val="00B050"/>
            </a:solidFill>
            <a:prstDash val="solid"/>
            <a:headEnd type="none" w="med" len="med"/>
            <a:tailEnd type="triangle" w="med" len="med"/>
          </a:ln>
          <a:effectLst/>
        </p:spPr>
      </p:cxnSp>
      <p:cxnSp>
        <p:nvCxnSpPr>
          <p:cNvPr id="112" name="Gekrümmter Verbinder 111"/>
          <p:cNvCxnSpPr>
            <a:stCxn id="34" idx="4"/>
            <a:endCxn id="81" idx="4"/>
          </p:cNvCxnSpPr>
          <p:nvPr/>
        </p:nvCxnSpPr>
        <p:spPr>
          <a:xfrm rot="5400000" flipH="1">
            <a:off x="4817216" y="505594"/>
            <a:ext cx="30992" cy="4264669"/>
          </a:xfrm>
          <a:prstGeom prst="curvedConnector3">
            <a:avLst>
              <a:gd name="adj1" fmla="val -1847683"/>
            </a:avLst>
          </a:prstGeom>
          <a:noFill/>
          <a:ln w="19050" cap="flat" cmpd="sng" algn="ctr">
            <a:solidFill>
              <a:srgbClr val="00B050"/>
            </a:solidFill>
            <a:prstDash val="solid"/>
            <a:headEnd type="none" w="med" len="med"/>
            <a:tailEnd type="triangle" w="med" len="med"/>
          </a:ln>
          <a:effectLst/>
        </p:spPr>
      </p:cxnSp>
      <p:sp>
        <p:nvSpPr>
          <p:cNvPr id="123" name="Rechteck 122"/>
          <p:cNvSpPr/>
          <p:nvPr/>
        </p:nvSpPr>
        <p:spPr>
          <a:xfrm>
            <a:off x="4383922" y="2975995"/>
            <a:ext cx="1451967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050" b="1" dirty="0">
                <a:solidFill>
                  <a:srgbClr val="00B050"/>
                </a:solidFill>
              </a:rPr>
              <a:t>‘Inheres in'</a:t>
            </a:r>
            <a:endParaRPr lang="en-GB" sz="1400" dirty="0">
              <a:solidFill>
                <a:srgbClr val="00B050"/>
              </a:solidFill>
            </a:endParaRPr>
          </a:p>
        </p:txBody>
      </p:sp>
      <p:sp>
        <p:nvSpPr>
          <p:cNvPr id="37" name="Rechteck 36"/>
          <p:cNvSpPr/>
          <p:nvPr/>
        </p:nvSpPr>
        <p:spPr>
          <a:xfrm>
            <a:off x="217953" y="1000010"/>
            <a:ext cx="12192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br>
              <a:rPr lang="en-GB" sz="2000" b="1" dirty="0">
                <a:solidFill>
                  <a:srgbClr val="000000"/>
                </a:solidFill>
                <a:cs typeface="Arial" panose="020B0604020202020204" pitchFamily="34" charset="0"/>
              </a:rPr>
            </a:br>
            <a:r>
              <a:rPr lang="en-GB" sz="2000" b="1" dirty="0">
                <a:solidFill>
                  <a:srgbClr val="000000"/>
                </a:solidFill>
                <a:cs typeface="Arial" panose="020B0604020202020204" pitchFamily="34" charset="0"/>
              </a:rPr>
              <a:t> Pylorus and superior duodenum:                      </a:t>
            </a:r>
            <a:r>
              <a:rPr lang="en-GB" sz="2000" b="1" dirty="0" err="1">
                <a:solidFill>
                  <a:srgbClr val="000000"/>
                </a:solidFill>
                <a:cs typeface="Arial" panose="020B0604020202020204" pitchFamily="34" charset="0"/>
              </a:rPr>
              <a:t>Edematous</a:t>
            </a:r>
            <a:r>
              <a:rPr lang="en-GB" sz="2000" b="1" dirty="0">
                <a:solidFill>
                  <a:srgbClr val="000000"/>
                </a:solidFill>
                <a:cs typeface="Arial" panose="020B0604020202020204" pitchFamily="34" charset="0"/>
              </a:rPr>
              <a:t>  thickening.                               Diagnosis:      ulcer </a:t>
            </a:r>
          </a:p>
        </p:txBody>
      </p:sp>
    </p:spTree>
    <p:extLst>
      <p:ext uri="{BB962C8B-B14F-4D97-AF65-F5344CB8AC3E}">
        <p14:creationId xmlns:p14="http://schemas.microsoft.com/office/powerpoint/2010/main" val="3973427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Gerader Verbinder 29"/>
          <p:cNvCxnSpPr>
            <a:stCxn id="50" idx="2"/>
            <a:endCxn id="59" idx="0"/>
          </p:cNvCxnSpPr>
          <p:nvPr/>
        </p:nvCxnSpPr>
        <p:spPr>
          <a:xfrm>
            <a:off x="11036988" y="1663276"/>
            <a:ext cx="0" cy="1215420"/>
          </a:xfrm>
          <a:prstGeom prst="line">
            <a:avLst/>
          </a:prstGeom>
          <a:noFill/>
          <a:ln w="38100" cap="flat" cmpd="sng" algn="ctr">
            <a:solidFill>
              <a:srgbClr val="FFFFFF">
                <a:lumMod val="65000"/>
              </a:srgbClr>
            </a:solidFill>
            <a:prstDash val="sysDot"/>
          </a:ln>
          <a:effectLst/>
        </p:spPr>
      </p:cxnSp>
      <p:cxnSp>
        <p:nvCxnSpPr>
          <p:cNvPr id="65" name="Gerader Verbinder 64"/>
          <p:cNvCxnSpPr>
            <a:stCxn id="55" idx="2"/>
            <a:endCxn id="29" idx="0"/>
          </p:cNvCxnSpPr>
          <p:nvPr/>
        </p:nvCxnSpPr>
        <p:spPr>
          <a:xfrm flipH="1">
            <a:off x="9849478" y="1663276"/>
            <a:ext cx="1" cy="1215420"/>
          </a:xfrm>
          <a:prstGeom prst="line">
            <a:avLst/>
          </a:prstGeom>
          <a:noFill/>
          <a:ln w="38100" cap="flat" cmpd="sng" algn="ctr">
            <a:solidFill>
              <a:srgbClr val="FFFFFF">
                <a:lumMod val="65000"/>
              </a:srgbClr>
            </a:solidFill>
            <a:prstDash val="sysDot"/>
          </a:ln>
          <a:effectLst/>
        </p:spPr>
      </p:cxnSp>
      <p:cxnSp>
        <p:nvCxnSpPr>
          <p:cNvPr id="63" name="Gerader Verbinder 62"/>
          <p:cNvCxnSpPr>
            <a:stCxn id="53" idx="2"/>
            <a:endCxn id="57" idx="0"/>
          </p:cNvCxnSpPr>
          <p:nvPr/>
        </p:nvCxnSpPr>
        <p:spPr>
          <a:xfrm flipH="1">
            <a:off x="739887" y="1663276"/>
            <a:ext cx="5773" cy="2339523"/>
          </a:xfrm>
          <a:prstGeom prst="line">
            <a:avLst/>
          </a:prstGeom>
          <a:noFill/>
          <a:ln w="38100" cap="flat" cmpd="sng" algn="ctr">
            <a:solidFill>
              <a:srgbClr val="FFFFFF">
                <a:lumMod val="65000"/>
              </a:srgbClr>
            </a:solidFill>
            <a:prstDash val="sysDot"/>
          </a:ln>
          <a:effectLst/>
        </p:spPr>
      </p:cxnSp>
      <p:cxnSp>
        <p:nvCxnSpPr>
          <p:cNvPr id="64" name="Gerader Verbinder 63"/>
          <p:cNvCxnSpPr>
            <a:stCxn id="54" idx="2"/>
            <a:endCxn id="58" idx="0"/>
          </p:cNvCxnSpPr>
          <p:nvPr/>
        </p:nvCxnSpPr>
        <p:spPr>
          <a:xfrm>
            <a:off x="2718393" y="1663276"/>
            <a:ext cx="0" cy="2349744"/>
          </a:xfrm>
          <a:prstGeom prst="line">
            <a:avLst/>
          </a:prstGeom>
          <a:noFill/>
          <a:ln w="38100" cap="flat" cmpd="sng" algn="ctr">
            <a:solidFill>
              <a:srgbClr val="FFFFFF">
                <a:lumMod val="65000"/>
              </a:srgbClr>
            </a:solidFill>
            <a:prstDash val="sysDot"/>
          </a:ln>
          <a:effectLst/>
        </p:spPr>
      </p:cxnSp>
      <p:cxnSp>
        <p:nvCxnSpPr>
          <p:cNvPr id="78" name="Gerader Verbinder 77"/>
          <p:cNvCxnSpPr>
            <a:stCxn id="51" idx="2"/>
            <a:endCxn id="76" idx="0"/>
          </p:cNvCxnSpPr>
          <p:nvPr/>
        </p:nvCxnSpPr>
        <p:spPr>
          <a:xfrm>
            <a:off x="5671674" y="1663276"/>
            <a:ext cx="0" cy="1701190"/>
          </a:xfrm>
          <a:prstGeom prst="line">
            <a:avLst/>
          </a:prstGeom>
          <a:noFill/>
          <a:ln w="38100" cap="flat" cmpd="sng" algn="ctr">
            <a:solidFill>
              <a:srgbClr val="FFFFFF">
                <a:lumMod val="65000"/>
              </a:srgbClr>
            </a:solidFill>
            <a:prstDash val="sysDot"/>
          </a:ln>
          <a:effectLst/>
        </p:spPr>
      </p:cxnSp>
      <p:sp>
        <p:nvSpPr>
          <p:cNvPr id="50" name="Rechteck 49"/>
          <p:cNvSpPr/>
          <p:nvPr/>
        </p:nvSpPr>
        <p:spPr>
          <a:xfrm>
            <a:off x="10705376" y="1375276"/>
            <a:ext cx="663224" cy="288000"/>
          </a:xfrm>
          <a:prstGeom prst="rect">
            <a:avLst/>
          </a:prstGeom>
          <a:solidFill>
            <a:srgbClr val="FFE69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51" name="Rechteck 50"/>
          <p:cNvSpPr/>
          <p:nvPr/>
        </p:nvSpPr>
        <p:spPr>
          <a:xfrm>
            <a:off x="5047509" y="1375276"/>
            <a:ext cx="1248330" cy="288000"/>
          </a:xfrm>
          <a:prstGeom prst="rect">
            <a:avLst/>
          </a:prstGeom>
          <a:solidFill>
            <a:srgbClr val="FFE69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52" name="Rechteck 51"/>
          <p:cNvSpPr/>
          <p:nvPr/>
        </p:nvSpPr>
        <p:spPr>
          <a:xfrm>
            <a:off x="6378061" y="1375276"/>
            <a:ext cx="1167797" cy="288000"/>
          </a:xfrm>
          <a:prstGeom prst="rect">
            <a:avLst/>
          </a:prstGeom>
          <a:solidFill>
            <a:srgbClr val="FFE69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53" name="Rechteck 52"/>
          <p:cNvSpPr/>
          <p:nvPr/>
        </p:nvSpPr>
        <p:spPr>
          <a:xfrm>
            <a:off x="326606" y="1375276"/>
            <a:ext cx="838107" cy="288000"/>
          </a:xfrm>
          <a:prstGeom prst="rect">
            <a:avLst/>
          </a:prstGeom>
          <a:solidFill>
            <a:srgbClr val="FFE69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54" name="Rechteck 53"/>
          <p:cNvSpPr/>
          <p:nvPr/>
        </p:nvSpPr>
        <p:spPr>
          <a:xfrm>
            <a:off x="1632468" y="1375276"/>
            <a:ext cx="2171850" cy="288000"/>
          </a:xfrm>
          <a:prstGeom prst="rect">
            <a:avLst/>
          </a:prstGeom>
          <a:solidFill>
            <a:srgbClr val="FFE69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55" name="Rechteck 54"/>
          <p:cNvSpPr/>
          <p:nvPr/>
        </p:nvSpPr>
        <p:spPr>
          <a:xfrm>
            <a:off x="9267649" y="1375276"/>
            <a:ext cx="1163659" cy="288000"/>
          </a:xfrm>
          <a:prstGeom prst="rect">
            <a:avLst/>
          </a:prstGeom>
          <a:solidFill>
            <a:srgbClr val="FFE69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57" name="Rechteck 56"/>
          <p:cNvSpPr/>
          <p:nvPr/>
        </p:nvSpPr>
        <p:spPr>
          <a:xfrm>
            <a:off x="175922" y="4002799"/>
            <a:ext cx="1127930" cy="707886"/>
          </a:xfrm>
          <a:prstGeom prst="rect">
            <a:avLst/>
          </a:prstGeom>
          <a:solidFill>
            <a:srgbClr val="ABE3FF"/>
          </a:solidFill>
        </p:spPr>
        <p:txBody>
          <a:bodyPr wrap="square" lIns="18000" rIns="180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1000" b="1" dirty="0">
                <a:solidFill>
                  <a:srgbClr val="000000"/>
                </a:solidFill>
              </a:rPr>
              <a:t>280119005</a:t>
            </a:r>
            <a:br>
              <a:rPr lang="en-GB" sz="1000" b="1" dirty="0">
                <a:solidFill>
                  <a:srgbClr val="000000"/>
                </a:solidFill>
              </a:rPr>
            </a:br>
            <a:r>
              <a:rPr lang="en-GB" sz="1000" b="1" dirty="0">
                <a:solidFill>
                  <a:srgbClr val="000000"/>
                </a:solidFill>
              </a:rPr>
              <a:t>|Pyloric structure </a:t>
            </a:r>
            <a:br>
              <a:rPr lang="en-GB" sz="1000" b="1" dirty="0">
                <a:solidFill>
                  <a:srgbClr val="000000"/>
                </a:solidFill>
              </a:rPr>
            </a:br>
            <a:r>
              <a:rPr lang="en-GB" sz="1000" b="1" dirty="0">
                <a:solidFill>
                  <a:srgbClr val="000000"/>
                </a:solidFill>
              </a:rPr>
              <a:t>of stomach </a:t>
            </a:r>
            <a:br>
              <a:rPr lang="en-GB" sz="1000" b="1" dirty="0">
                <a:solidFill>
                  <a:srgbClr val="000000"/>
                </a:solidFill>
              </a:rPr>
            </a:br>
            <a:r>
              <a:rPr lang="en-GB" sz="1000" b="1" dirty="0">
                <a:solidFill>
                  <a:srgbClr val="000000"/>
                </a:solidFill>
              </a:rPr>
              <a:t>(body structure)|</a:t>
            </a:r>
          </a:p>
        </p:txBody>
      </p:sp>
      <p:sp>
        <p:nvSpPr>
          <p:cNvPr id="58" name="Rechteck 57"/>
          <p:cNvSpPr/>
          <p:nvPr/>
        </p:nvSpPr>
        <p:spPr>
          <a:xfrm>
            <a:off x="2090521" y="4013020"/>
            <a:ext cx="1255744" cy="707886"/>
          </a:xfrm>
          <a:prstGeom prst="rect">
            <a:avLst/>
          </a:prstGeom>
          <a:solidFill>
            <a:srgbClr val="ABE3FF"/>
          </a:solidFill>
        </p:spPr>
        <p:txBody>
          <a:bodyPr wrap="square" lIns="18000" rIns="180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1000" b="1" dirty="0">
                <a:solidFill>
                  <a:srgbClr val="000000"/>
                </a:solidFill>
              </a:rPr>
              <a:t>56734009 </a:t>
            </a:r>
            <a:br>
              <a:rPr lang="en-GB" sz="1000" b="1" dirty="0">
                <a:solidFill>
                  <a:srgbClr val="000000"/>
                </a:solidFill>
              </a:rPr>
            </a:br>
            <a:r>
              <a:rPr lang="en-GB" sz="1000" b="1" dirty="0">
                <a:solidFill>
                  <a:srgbClr val="000000"/>
                </a:solidFill>
              </a:rPr>
              <a:t>|Structure of superior portion of duodenum </a:t>
            </a:r>
            <a:br>
              <a:rPr lang="en-GB" sz="1000" b="1" dirty="0">
                <a:solidFill>
                  <a:srgbClr val="000000"/>
                </a:solidFill>
              </a:rPr>
            </a:br>
            <a:r>
              <a:rPr lang="en-GB" sz="1000" b="1" dirty="0">
                <a:solidFill>
                  <a:srgbClr val="000000"/>
                </a:solidFill>
              </a:rPr>
              <a:t>(body structure)|</a:t>
            </a:r>
          </a:p>
        </p:txBody>
      </p:sp>
      <p:sp>
        <p:nvSpPr>
          <p:cNvPr id="59" name="Rechteck 58"/>
          <p:cNvSpPr/>
          <p:nvPr/>
        </p:nvSpPr>
        <p:spPr>
          <a:xfrm>
            <a:off x="10529627" y="2878696"/>
            <a:ext cx="1014721" cy="707886"/>
          </a:xfrm>
          <a:prstGeom prst="rect">
            <a:avLst/>
          </a:prstGeom>
          <a:solidFill>
            <a:srgbClr val="ABE3FF"/>
          </a:solidFill>
        </p:spPr>
        <p:txBody>
          <a:bodyPr wrap="square" lIns="18000" rIns="180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1000" b="1" dirty="0">
                <a:solidFill>
                  <a:srgbClr val="000000"/>
                </a:solidFill>
              </a:rPr>
              <a:t>429040005 |</a:t>
            </a:r>
            <a:br>
              <a:rPr lang="en-GB" sz="1000" b="1" dirty="0">
                <a:solidFill>
                  <a:srgbClr val="000000"/>
                </a:solidFill>
              </a:rPr>
            </a:br>
            <a:r>
              <a:rPr lang="en-GB" sz="1000" b="1" dirty="0">
                <a:solidFill>
                  <a:srgbClr val="000000"/>
                </a:solidFill>
              </a:rPr>
              <a:t>Ulcer </a:t>
            </a:r>
            <a:br>
              <a:rPr lang="en-GB" sz="1000" b="1" dirty="0">
                <a:solidFill>
                  <a:srgbClr val="000000"/>
                </a:solidFill>
              </a:rPr>
            </a:br>
            <a:r>
              <a:rPr lang="en-GB" sz="1000" b="1" dirty="0">
                <a:solidFill>
                  <a:srgbClr val="000000"/>
                </a:solidFill>
              </a:rPr>
              <a:t>(disorder)|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GB" sz="1000" b="1" dirty="0">
              <a:solidFill>
                <a:srgbClr val="000000"/>
              </a:solidFill>
            </a:endParaRPr>
          </a:p>
        </p:txBody>
      </p:sp>
      <p:sp>
        <p:nvSpPr>
          <p:cNvPr id="76" name="Rechteck 75"/>
          <p:cNvSpPr/>
          <p:nvPr/>
        </p:nvSpPr>
        <p:spPr>
          <a:xfrm>
            <a:off x="5196484" y="3364466"/>
            <a:ext cx="950379" cy="707886"/>
          </a:xfrm>
          <a:prstGeom prst="rect">
            <a:avLst/>
          </a:prstGeom>
          <a:solidFill>
            <a:srgbClr val="ABE3FF"/>
          </a:solidFill>
        </p:spPr>
        <p:txBody>
          <a:bodyPr wrap="square" lIns="18000" rIns="180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1000" b="1" dirty="0">
                <a:solidFill>
                  <a:srgbClr val="000000"/>
                </a:solidFill>
              </a:rPr>
              <a:t>267038008 |</a:t>
            </a:r>
            <a:r>
              <a:rPr lang="en-GB" sz="1000" b="1" dirty="0" err="1">
                <a:solidFill>
                  <a:srgbClr val="000000"/>
                </a:solidFill>
              </a:rPr>
              <a:t>Edema</a:t>
            </a:r>
            <a:r>
              <a:rPr lang="en-GB" sz="1000" b="1" dirty="0">
                <a:solidFill>
                  <a:srgbClr val="000000"/>
                </a:solidFill>
              </a:rPr>
              <a:t> (finding)|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GB" sz="1000" b="1" dirty="0">
              <a:solidFill>
                <a:srgbClr val="000000"/>
              </a:solidFill>
            </a:endParaRPr>
          </a:p>
        </p:txBody>
      </p:sp>
      <p:sp>
        <p:nvSpPr>
          <p:cNvPr id="80" name="Ellipse 79"/>
          <p:cNvSpPr/>
          <p:nvPr/>
        </p:nvSpPr>
        <p:spPr>
          <a:xfrm>
            <a:off x="366130" y="1873132"/>
            <a:ext cx="774700" cy="749300"/>
          </a:xfrm>
          <a:prstGeom prst="ellipse">
            <a:avLst/>
          </a:prstGeom>
          <a:solidFill>
            <a:srgbClr val="0070C0"/>
          </a:solidFill>
          <a:ln w="25400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i</a:t>
            </a:r>
            <a:r>
              <a:rPr kumimoji="0" lang="en-GB" sz="2000" b="0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1</a:t>
            </a:r>
          </a:p>
        </p:txBody>
      </p:sp>
      <p:sp>
        <p:nvSpPr>
          <p:cNvPr id="81" name="Ellipse 80"/>
          <p:cNvSpPr/>
          <p:nvPr/>
        </p:nvSpPr>
        <p:spPr>
          <a:xfrm>
            <a:off x="2297694" y="1847732"/>
            <a:ext cx="805366" cy="774700"/>
          </a:xfrm>
          <a:prstGeom prst="ellipse">
            <a:avLst/>
          </a:prstGeom>
          <a:solidFill>
            <a:srgbClr val="0070C0"/>
          </a:solidFill>
          <a:ln w="25400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i</a:t>
            </a:r>
            <a:r>
              <a:rPr kumimoji="0" lang="en-GB" sz="2000" b="0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2</a:t>
            </a:r>
          </a:p>
        </p:txBody>
      </p:sp>
      <p:sp>
        <p:nvSpPr>
          <p:cNvPr id="82" name="Ellipse 81"/>
          <p:cNvSpPr/>
          <p:nvPr/>
        </p:nvSpPr>
        <p:spPr>
          <a:xfrm>
            <a:off x="5271940" y="1857621"/>
            <a:ext cx="805366" cy="774700"/>
          </a:xfrm>
          <a:prstGeom prst="ellipse">
            <a:avLst/>
          </a:prstGeom>
          <a:solidFill>
            <a:srgbClr val="0070C0"/>
          </a:solidFill>
          <a:ln w="25400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i</a:t>
            </a:r>
            <a:r>
              <a:rPr kumimoji="0" lang="en-GB" sz="2000" b="0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3</a:t>
            </a:r>
          </a:p>
        </p:txBody>
      </p:sp>
      <p:sp>
        <p:nvSpPr>
          <p:cNvPr id="84" name="Ellipse 83"/>
          <p:cNvSpPr/>
          <p:nvPr/>
        </p:nvSpPr>
        <p:spPr>
          <a:xfrm>
            <a:off x="9423331" y="1868378"/>
            <a:ext cx="805366" cy="774700"/>
          </a:xfrm>
          <a:prstGeom prst="ellipse">
            <a:avLst/>
          </a:prstGeom>
          <a:solidFill>
            <a:srgbClr val="0070C0"/>
          </a:solidFill>
          <a:ln w="25400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i</a:t>
            </a:r>
            <a:r>
              <a:rPr kumimoji="0" lang="en-GB" sz="2000" b="0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5</a:t>
            </a:r>
          </a:p>
        </p:txBody>
      </p:sp>
      <p:sp>
        <p:nvSpPr>
          <p:cNvPr id="86" name="Ellipse 85"/>
          <p:cNvSpPr/>
          <p:nvPr/>
        </p:nvSpPr>
        <p:spPr>
          <a:xfrm>
            <a:off x="10614961" y="1847732"/>
            <a:ext cx="805366" cy="774700"/>
          </a:xfrm>
          <a:prstGeom prst="ellipse">
            <a:avLst/>
          </a:prstGeom>
          <a:solidFill>
            <a:srgbClr val="0070C0"/>
          </a:solidFill>
          <a:ln w="25400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i</a:t>
            </a:r>
            <a:r>
              <a:rPr kumimoji="0" lang="en-GB" sz="2000" b="0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6</a:t>
            </a:r>
          </a:p>
        </p:txBody>
      </p:sp>
      <p:cxnSp>
        <p:nvCxnSpPr>
          <p:cNvPr id="32" name="Gerader Verbinder 31"/>
          <p:cNvCxnSpPr>
            <a:stCxn id="52" idx="2"/>
            <a:endCxn id="33" idx="0"/>
          </p:cNvCxnSpPr>
          <p:nvPr/>
        </p:nvCxnSpPr>
        <p:spPr>
          <a:xfrm flipH="1">
            <a:off x="6961959" y="1663276"/>
            <a:ext cx="1" cy="1706820"/>
          </a:xfrm>
          <a:prstGeom prst="line">
            <a:avLst/>
          </a:prstGeom>
          <a:noFill/>
          <a:ln w="38100" cap="flat" cmpd="sng" algn="ctr">
            <a:solidFill>
              <a:srgbClr val="FFFFFF">
                <a:lumMod val="65000"/>
              </a:srgbClr>
            </a:solidFill>
            <a:prstDash val="sysDot"/>
          </a:ln>
          <a:effectLst/>
        </p:spPr>
      </p:cxnSp>
      <p:sp>
        <p:nvSpPr>
          <p:cNvPr id="33" name="Rechteck 32"/>
          <p:cNvSpPr/>
          <p:nvPr/>
        </p:nvSpPr>
        <p:spPr>
          <a:xfrm>
            <a:off x="6523031" y="3370096"/>
            <a:ext cx="877855" cy="707886"/>
          </a:xfrm>
          <a:prstGeom prst="rect">
            <a:avLst/>
          </a:prstGeom>
          <a:solidFill>
            <a:srgbClr val="ABE3FF"/>
          </a:solidFill>
        </p:spPr>
        <p:txBody>
          <a:bodyPr wrap="square" lIns="18000" rIns="180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1000" b="1" dirty="0">
                <a:solidFill>
                  <a:srgbClr val="000000"/>
                </a:solidFill>
              </a:rPr>
              <a:t>263899003 </a:t>
            </a:r>
            <a:br>
              <a:rPr lang="en-GB" sz="1000" b="1" dirty="0">
                <a:solidFill>
                  <a:srgbClr val="000000"/>
                </a:solidFill>
              </a:rPr>
            </a:br>
            <a:r>
              <a:rPr lang="en-GB" sz="1000" b="1" dirty="0">
                <a:solidFill>
                  <a:srgbClr val="000000"/>
                </a:solidFill>
              </a:rPr>
              <a:t>|Thickened </a:t>
            </a:r>
            <a:br>
              <a:rPr lang="en-GB" sz="1000" b="1" dirty="0">
                <a:solidFill>
                  <a:srgbClr val="000000"/>
                </a:solidFill>
              </a:rPr>
            </a:br>
            <a:r>
              <a:rPr lang="en-GB" sz="1000" b="1" dirty="0">
                <a:solidFill>
                  <a:srgbClr val="000000"/>
                </a:solidFill>
              </a:rPr>
              <a:t>(qualifier</a:t>
            </a:r>
            <a:br>
              <a:rPr lang="en-GB" sz="1000" b="1" dirty="0">
                <a:solidFill>
                  <a:srgbClr val="000000"/>
                </a:solidFill>
              </a:rPr>
            </a:br>
            <a:r>
              <a:rPr lang="en-GB" sz="1000" b="1" dirty="0">
                <a:solidFill>
                  <a:srgbClr val="000000"/>
                </a:solidFill>
              </a:rPr>
              <a:t> value)|</a:t>
            </a:r>
          </a:p>
        </p:txBody>
      </p:sp>
      <p:sp>
        <p:nvSpPr>
          <p:cNvPr id="34" name="Ellipse 33"/>
          <p:cNvSpPr/>
          <p:nvPr/>
        </p:nvSpPr>
        <p:spPr>
          <a:xfrm>
            <a:off x="6562363" y="1878724"/>
            <a:ext cx="805366" cy="774700"/>
          </a:xfrm>
          <a:prstGeom prst="ellipse">
            <a:avLst/>
          </a:prstGeom>
          <a:solidFill>
            <a:srgbClr val="0070C0"/>
          </a:solidFill>
          <a:ln w="25400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i</a:t>
            </a:r>
            <a:r>
              <a:rPr kumimoji="0" lang="en-GB" sz="2000" b="0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4</a:t>
            </a:r>
          </a:p>
        </p:txBody>
      </p:sp>
      <p:sp>
        <p:nvSpPr>
          <p:cNvPr id="29" name="Rechteck 28"/>
          <p:cNvSpPr/>
          <p:nvPr/>
        </p:nvSpPr>
        <p:spPr>
          <a:xfrm>
            <a:off x="9434496" y="2878696"/>
            <a:ext cx="829964" cy="707886"/>
          </a:xfrm>
          <a:prstGeom prst="rect">
            <a:avLst/>
          </a:prstGeom>
          <a:solidFill>
            <a:srgbClr val="ABE3FF"/>
          </a:solidFill>
        </p:spPr>
        <p:txBody>
          <a:bodyPr wrap="square" lIns="18000" rIns="18000">
            <a:sp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sz="1000" b="1" kern="0" dirty="0">
                <a:solidFill>
                  <a:prstClr val="black"/>
                </a:solidFill>
              </a:rPr>
              <a:t>439401001 |Diagnosis (observable entity)|</a:t>
            </a:r>
          </a:p>
        </p:txBody>
      </p:sp>
      <p:cxnSp>
        <p:nvCxnSpPr>
          <p:cNvPr id="38" name="Gekrümmter Verbinder 37"/>
          <p:cNvCxnSpPr>
            <a:stCxn id="86" idx="1"/>
            <a:endCxn id="81" idx="7"/>
          </p:cNvCxnSpPr>
          <p:nvPr/>
        </p:nvCxnSpPr>
        <p:spPr>
          <a:xfrm rot="16200000" flipV="1">
            <a:off x="6859011" y="-1912710"/>
            <a:ext cx="12700" cy="7747787"/>
          </a:xfrm>
          <a:prstGeom prst="curvedConnector3">
            <a:avLst>
              <a:gd name="adj1" fmla="val 8752724"/>
            </a:avLst>
          </a:prstGeom>
          <a:noFill/>
          <a:ln w="19050" cap="flat" cmpd="sng" algn="ctr">
            <a:solidFill>
              <a:srgbClr val="FF0000"/>
            </a:solidFill>
            <a:prstDash val="solid"/>
            <a:headEnd type="none" w="med" len="med"/>
            <a:tailEnd type="triangle" w="med" len="med"/>
          </a:ln>
          <a:effectLst/>
        </p:spPr>
      </p:cxnSp>
      <p:cxnSp>
        <p:nvCxnSpPr>
          <p:cNvPr id="75" name="Gekrümmter Verbinder 74"/>
          <p:cNvCxnSpPr>
            <a:stCxn id="86" idx="1"/>
            <a:endCxn id="80" idx="7"/>
          </p:cNvCxnSpPr>
          <p:nvPr/>
        </p:nvCxnSpPr>
        <p:spPr>
          <a:xfrm rot="16200000" flipH="1" flipV="1">
            <a:off x="5869301" y="-2880739"/>
            <a:ext cx="21680" cy="9705526"/>
          </a:xfrm>
          <a:prstGeom prst="curvedConnector3">
            <a:avLst>
              <a:gd name="adj1" fmla="val -6588870"/>
            </a:avLst>
          </a:prstGeom>
          <a:noFill/>
          <a:ln w="19050" cap="flat" cmpd="sng" algn="ctr">
            <a:solidFill>
              <a:srgbClr val="FF0000"/>
            </a:solidFill>
            <a:prstDash val="solid"/>
            <a:headEnd type="none" w="med" len="med"/>
            <a:tailEnd type="triangle" w="med" len="med"/>
          </a:ln>
          <a:effectLst/>
        </p:spPr>
      </p:cxnSp>
      <p:sp>
        <p:nvSpPr>
          <p:cNvPr id="79" name="Rechteck 78"/>
          <p:cNvSpPr/>
          <p:nvPr/>
        </p:nvSpPr>
        <p:spPr>
          <a:xfrm>
            <a:off x="5587969" y="552267"/>
            <a:ext cx="1451967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050" b="1" dirty="0">
                <a:solidFill>
                  <a:srgbClr val="FF0000"/>
                </a:solidFill>
              </a:rPr>
              <a:t>'Finding site'</a:t>
            </a:r>
            <a:endParaRPr lang="en-GB" sz="1400" dirty="0"/>
          </a:p>
        </p:txBody>
      </p:sp>
      <p:sp>
        <p:nvSpPr>
          <p:cNvPr id="35" name="Rechteck 34"/>
          <p:cNvSpPr/>
          <p:nvPr/>
        </p:nvSpPr>
        <p:spPr>
          <a:xfrm>
            <a:off x="217953" y="1000010"/>
            <a:ext cx="12192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br>
              <a:rPr lang="en-GB" sz="2000" b="1" dirty="0">
                <a:solidFill>
                  <a:srgbClr val="000000"/>
                </a:solidFill>
                <a:cs typeface="Arial" panose="020B0604020202020204" pitchFamily="34" charset="0"/>
              </a:rPr>
            </a:br>
            <a:r>
              <a:rPr lang="en-GB" sz="2000" b="1" dirty="0">
                <a:solidFill>
                  <a:srgbClr val="000000"/>
                </a:solidFill>
                <a:cs typeface="Arial" panose="020B0604020202020204" pitchFamily="34" charset="0"/>
              </a:rPr>
              <a:t> Pylorus and superior duodenum:                      </a:t>
            </a:r>
            <a:r>
              <a:rPr lang="en-GB" sz="2000" b="1" dirty="0" err="1">
                <a:solidFill>
                  <a:srgbClr val="000000"/>
                </a:solidFill>
                <a:cs typeface="Arial" panose="020B0604020202020204" pitchFamily="34" charset="0"/>
              </a:rPr>
              <a:t>Edematous</a:t>
            </a:r>
            <a:r>
              <a:rPr lang="en-GB" sz="2000" b="1" dirty="0">
                <a:solidFill>
                  <a:srgbClr val="000000"/>
                </a:solidFill>
                <a:cs typeface="Arial" panose="020B0604020202020204" pitchFamily="34" charset="0"/>
              </a:rPr>
              <a:t>  thickening.                               Diagnosis:      ulcer </a:t>
            </a:r>
          </a:p>
        </p:txBody>
      </p:sp>
    </p:spTree>
    <p:extLst>
      <p:ext uri="{BB962C8B-B14F-4D97-AF65-F5344CB8AC3E}">
        <p14:creationId xmlns:p14="http://schemas.microsoft.com/office/powerpoint/2010/main" val="711780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Explosion 2 46"/>
          <p:cNvSpPr/>
          <p:nvPr/>
        </p:nvSpPr>
        <p:spPr>
          <a:xfrm>
            <a:off x="8975010" y="4460174"/>
            <a:ext cx="2682766" cy="1938064"/>
          </a:xfrm>
          <a:prstGeom prst="irregularSeal2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Explosion 2 1"/>
          <p:cNvSpPr/>
          <p:nvPr/>
        </p:nvSpPr>
        <p:spPr>
          <a:xfrm>
            <a:off x="10031588" y="5410402"/>
            <a:ext cx="2682766" cy="1938064"/>
          </a:xfrm>
          <a:prstGeom prst="irregularSeal2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30" name="Gerader Verbinder 29"/>
          <p:cNvCxnSpPr>
            <a:stCxn id="50" idx="2"/>
            <a:endCxn id="59" idx="0"/>
          </p:cNvCxnSpPr>
          <p:nvPr/>
        </p:nvCxnSpPr>
        <p:spPr>
          <a:xfrm>
            <a:off x="11036988" y="1663276"/>
            <a:ext cx="0" cy="1215420"/>
          </a:xfrm>
          <a:prstGeom prst="line">
            <a:avLst/>
          </a:prstGeom>
          <a:noFill/>
          <a:ln w="38100" cap="flat" cmpd="sng" algn="ctr">
            <a:solidFill>
              <a:srgbClr val="FFFFFF">
                <a:lumMod val="65000"/>
              </a:srgbClr>
            </a:solidFill>
            <a:prstDash val="sysDot"/>
          </a:ln>
          <a:effectLst/>
        </p:spPr>
      </p:cxnSp>
      <p:cxnSp>
        <p:nvCxnSpPr>
          <p:cNvPr id="65" name="Gerader Verbinder 64"/>
          <p:cNvCxnSpPr>
            <a:stCxn id="55" idx="2"/>
            <a:endCxn id="29" idx="0"/>
          </p:cNvCxnSpPr>
          <p:nvPr/>
        </p:nvCxnSpPr>
        <p:spPr>
          <a:xfrm flipH="1">
            <a:off x="9849478" y="1663276"/>
            <a:ext cx="1" cy="1215420"/>
          </a:xfrm>
          <a:prstGeom prst="line">
            <a:avLst/>
          </a:prstGeom>
          <a:noFill/>
          <a:ln w="38100" cap="flat" cmpd="sng" algn="ctr">
            <a:solidFill>
              <a:srgbClr val="FFFFFF">
                <a:lumMod val="65000"/>
              </a:srgbClr>
            </a:solidFill>
            <a:prstDash val="sysDot"/>
          </a:ln>
          <a:effectLst/>
        </p:spPr>
      </p:cxnSp>
      <p:cxnSp>
        <p:nvCxnSpPr>
          <p:cNvPr id="63" name="Gerader Verbinder 62"/>
          <p:cNvCxnSpPr>
            <a:stCxn id="53" idx="2"/>
            <a:endCxn id="57" idx="0"/>
          </p:cNvCxnSpPr>
          <p:nvPr/>
        </p:nvCxnSpPr>
        <p:spPr>
          <a:xfrm flipH="1">
            <a:off x="739887" y="1663276"/>
            <a:ext cx="5773" cy="2339523"/>
          </a:xfrm>
          <a:prstGeom prst="line">
            <a:avLst/>
          </a:prstGeom>
          <a:noFill/>
          <a:ln w="38100" cap="flat" cmpd="sng" algn="ctr">
            <a:solidFill>
              <a:srgbClr val="FFFFFF">
                <a:lumMod val="65000"/>
              </a:srgbClr>
            </a:solidFill>
            <a:prstDash val="sysDot"/>
          </a:ln>
          <a:effectLst/>
        </p:spPr>
      </p:cxnSp>
      <p:cxnSp>
        <p:nvCxnSpPr>
          <p:cNvPr id="64" name="Gerader Verbinder 63"/>
          <p:cNvCxnSpPr>
            <a:stCxn id="54" idx="2"/>
            <a:endCxn id="58" idx="0"/>
          </p:cNvCxnSpPr>
          <p:nvPr/>
        </p:nvCxnSpPr>
        <p:spPr>
          <a:xfrm>
            <a:off x="2718393" y="1663276"/>
            <a:ext cx="0" cy="2349744"/>
          </a:xfrm>
          <a:prstGeom prst="line">
            <a:avLst/>
          </a:prstGeom>
          <a:noFill/>
          <a:ln w="38100" cap="flat" cmpd="sng" algn="ctr">
            <a:solidFill>
              <a:srgbClr val="FFFFFF">
                <a:lumMod val="65000"/>
              </a:srgbClr>
            </a:solidFill>
            <a:prstDash val="sysDot"/>
          </a:ln>
          <a:effectLst/>
        </p:spPr>
      </p:cxnSp>
      <p:cxnSp>
        <p:nvCxnSpPr>
          <p:cNvPr id="78" name="Gerader Verbinder 77"/>
          <p:cNvCxnSpPr>
            <a:stCxn id="51" idx="2"/>
            <a:endCxn id="76" idx="0"/>
          </p:cNvCxnSpPr>
          <p:nvPr/>
        </p:nvCxnSpPr>
        <p:spPr>
          <a:xfrm>
            <a:off x="5671674" y="1663276"/>
            <a:ext cx="0" cy="1701190"/>
          </a:xfrm>
          <a:prstGeom prst="line">
            <a:avLst/>
          </a:prstGeom>
          <a:noFill/>
          <a:ln w="38100" cap="flat" cmpd="sng" algn="ctr">
            <a:solidFill>
              <a:srgbClr val="FFFFFF">
                <a:lumMod val="65000"/>
              </a:srgbClr>
            </a:solidFill>
            <a:prstDash val="sysDot"/>
          </a:ln>
          <a:effectLst/>
        </p:spPr>
      </p:cxnSp>
      <p:sp>
        <p:nvSpPr>
          <p:cNvPr id="50" name="Rechteck 49"/>
          <p:cNvSpPr/>
          <p:nvPr/>
        </p:nvSpPr>
        <p:spPr>
          <a:xfrm>
            <a:off x="10705376" y="1375276"/>
            <a:ext cx="663224" cy="288000"/>
          </a:xfrm>
          <a:prstGeom prst="rect">
            <a:avLst/>
          </a:prstGeom>
          <a:solidFill>
            <a:srgbClr val="FFE69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51" name="Rechteck 50"/>
          <p:cNvSpPr/>
          <p:nvPr/>
        </p:nvSpPr>
        <p:spPr>
          <a:xfrm>
            <a:off x="5047509" y="1375276"/>
            <a:ext cx="1248330" cy="288000"/>
          </a:xfrm>
          <a:prstGeom prst="rect">
            <a:avLst/>
          </a:prstGeom>
          <a:solidFill>
            <a:srgbClr val="FFE69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52" name="Rechteck 51"/>
          <p:cNvSpPr/>
          <p:nvPr/>
        </p:nvSpPr>
        <p:spPr>
          <a:xfrm>
            <a:off x="6378061" y="1375276"/>
            <a:ext cx="1167797" cy="288000"/>
          </a:xfrm>
          <a:prstGeom prst="rect">
            <a:avLst/>
          </a:prstGeom>
          <a:solidFill>
            <a:srgbClr val="FFE69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53" name="Rechteck 52"/>
          <p:cNvSpPr/>
          <p:nvPr/>
        </p:nvSpPr>
        <p:spPr>
          <a:xfrm>
            <a:off x="326606" y="1375276"/>
            <a:ext cx="838107" cy="288000"/>
          </a:xfrm>
          <a:prstGeom prst="rect">
            <a:avLst/>
          </a:prstGeom>
          <a:solidFill>
            <a:srgbClr val="FFE69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54" name="Rechteck 53"/>
          <p:cNvSpPr/>
          <p:nvPr/>
        </p:nvSpPr>
        <p:spPr>
          <a:xfrm>
            <a:off x="1632468" y="1375276"/>
            <a:ext cx="2171850" cy="288000"/>
          </a:xfrm>
          <a:prstGeom prst="rect">
            <a:avLst/>
          </a:prstGeom>
          <a:solidFill>
            <a:srgbClr val="FFE69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55" name="Rechteck 54"/>
          <p:cNvSpPr/>
          <p:nvPr/>
        </p:nvSpPr>
        <p:spPr>
          <a:xfrm>
            <a:off x="9267649" y="1375276"/>
            <a:ext cx="1163659" cy="288000"/>
          </a:xfrm>
          <a:prstGeom prst="rect">
            <a:avLst/>
          </a:prstGeom>
          <a:solidFill>
            <a:srgbClr val="FFE69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57" name="Rechteck 56"/>
          <p:cNvSpPr/>
          <p:nvPr/>
        </p:nvSpPr>
        <p:spPr>
          <a:xfrm>
            <a:off x="175922" y="4002799"/>
            <a:ext cx="1127930" cy="707886"/>
          </a:xfrm>
          <a:prstGeom prst="rect">
            <a:avLst/>
          </a:prstGeom>
          <a:solidFill>
            <a:srgbClr val="ABE3FF"/>
          </a:solidFill>
        </p:spPr>
        <p:txBody>
          <a:bodyPr wrap="square" lIns="18000" rIns="180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1000" b="1" dirty="0">
                <a:solidFill>
                  <a:srgbClr val="000000"/>
                </a:solidFill>
              </a:rPr>
              <a:t>280119005</a:t>
            </a:r>
            <a:br>
              <a:rPr lang="en-GB" sz="1000" b="1" dirty="0">
                <a:solidFill>
                  <a:srgbClr val="000000"/>
                </a:solidFill>
              </a:rPr>
            </a:br>
            <a:r>
              <a:rPr lang="en-GB" sz="1000" b="1" dirty="0">
                <a:solidFill>
                  <a:srgbClr val="000000"/>
                </a:solidFill>
              </a:rPr>
              <a:t>|Pyloric structure </a:t>
            </a:r>
            <a:br>
              <a:rPr lang="en-GB" sz="1000" b="1" dirty="0">
                <a:solidFill>
                  <a:srgbClr val="000000"/>
                </a:solidFill>
              </a:rPr>
            </a:br>
            <a:r>
              <a:rPr lang="en-GB" sz="1000" b="1" dirty="0">
                <a:solidFill>
                  <a:srgbClr val="000000"/>
                </a:solidFill>
              </a:rPr>
              <a:t>of stomach </a:t>
            </a:r>
            <a:br>
              <a:rPr lang="en-GB" sz="1000" b="1" dirty="0">
                <a:solidFill>
                  <a:srgbClr val="000000"/>
                </a:solidFill>
              </a:rPr>
            </a:br>
            <a:r>
              <a:rPr lang="en-GB" sz="1000" b="1" dirty="0">
                <a:solidFill>
                  <a:srgbClr val="000000"/>
                </a:solidFill>
              </a:rPr>
              <a:t>(body structure)|</a:t>
            </a:r>
          </a:p>
        </p:txBody>
      </p:sp>
      <p:sp>
        <p:nvSpPr>
          <p:cNvPr id="58" name="Rechteck 57"/>
          <p:cNvSpPr/>
          <p:nvPr/>
        </p:nvSpPr>
        <p:spPr>
          <a:xfrm>
            <a:off x="2090521" y="4013020"/>
            <a:ext cx="1255744" cy="707886"/>
          </a:xfrm>
          <a:prstGeom prst="rect">
            <a:avLst/>
          </a:prstGeom>
          <a:solidFill>
            <a:srgbClr val="ABE3FF"/>
          </a:solidFill>
        </p:spPr>
        <p:txBody>
          <a:bodyPr wrap="square" lIns="18000" rIns="180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1000" b="1" dirty="0">
                <a:solidFill>
                  <a:srgbClr val="000000"/>
                </a:solidFill>
              </a:rPr>
              <a:t>56734009 </a:t>
            </a:r>
            <a:br>
              <a:rPr lang="en-GB" sz="1000" b="1" dirty="0">
                <a:solidFill>
                  <a:srgbClr val="000000"/>
                </a:solidFill>
              </a:rPr>
            </a:br>
            <a:r>
              <a:rPr lang="en-GB" sz="1000" b="1" dirty="0">
                <a:solidFill>
                  <a:srgbClr val="000000"/>
                </a:solidFill>
              </a:rPr>
              <a:t>|Structure of superior portion of duodenum </a:t>
            </a:r>
            <a:br>
              <a:rPr lang="en-GB" sz="1000" b="1" dirty="0">
                <a:solidFill>
                  <a:srgbClr val="000000"/>
                </a:solidFill>
              </a:rPr>
            </a:br>
            <a:r>
              <a:rPr lang="en-GB" sz="1000" b="1" dirty="0">
                <a:solidFill>
                  <a:srgbClr val="000000"/>
                </a:solidFill>
              </a:rPr>
              <a:t>(body structure)|</a:t>
            </a:r>
          </a:p>
        </p:txBody>
      </p:sp>
      <p:sp>
        <p:nvSpPr>
          <p:cNvPr id="59" name="Rechteck 58"/>
          <p:cNvSpPr/>
          <p:nvPr/>
        </p:nvSpPr>
        <p:spPr>
          <a:xfrm>
            <a:off x="10529627" y="2878696"/>
            <a:ext cx="1014721" cy="707886"/>
          </a:xfrm>
          <a:prstGeom prst="rect">
            <a:avLst/>
          </a:prstGeom>
          <a:solidFill>
            <a:srgbClr val="ABE3FF"/>
          </a:solidFill>
        </p:spPr>
        <p:txBody>
          <a:bodyPr wrap="square" lIns="18000" rIns="180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1000" b="1" dirty="0">
                <a:solidFill>
                  <a:srgbClr val="000000"/>
                </a:solidFill>
              </a:rPr>
              <a:t>429040005 |</a:t>
            </a:r>
            <a:br>
              <a:rPr lang="en-GB" sz="1000" b="1" dirty="0">
                <a:solidFill>
                  <a:srgbClr val="000000"/>
                </a:solidFill>
              </a:rPr>
            </a:br>
            <a:r>
              <a:rPr lang="en-GB" sz="1000" b="1" dirty="0">
                <a:solidFill>
                  <a:srgbClr val="000000"/>
                </a:solidFill>
              </a:rPr>
              <a:t>Ulcer </a:t>
            </a:r>
            <a:br>
              <a:rPr lang="en-GB" sz="1000" b="1" dirty="0">
                <a:solidFill>
                  <a:srgbClr val="000000"/>
                </a:solidFill>
              </a:rPr>
            </a:br>
            <a:r>
              <a:rPr lang="en-GB" sz="1000" b="1" dirty="0">
                <a:solidFill>
                  <a:srgbClr val="000000"/>
                </a:solidFill>
              </a:rPr>
              <a:t>(disorder)|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GB" sz="1000" b="1" dirty="0">
              <a:solidFill>
                <a:srgbClr val="000000"/>
              </a:solidFill>
            </a:endParaRPr>
          </a:p>
        </p:txBody>
      </p:sp>
      <p:sp>
        <p:nvSpPr>
          <p:cNvPr id="76" name="Rechteck 75"/>
          <p:cNvSpPr/>
          <p:nvPr/>
        </p:nvSpPr>
        <p:spPr>
          <a:xfrm>
            <a:off x="5196484" y="3364466"/>
            <a:ext cx="950379" cy="707886"/>
          </a:xfrm>
          <a:prstGeom prst="rect">
            <a:avLst/>
          </a:prstGeom>
          <a:solidFill>
            <a:srgbClr val="ABE3FF"/>
          </a:solidFill>
        </p:spPr>
        <p:txBody>
          <a:bodyPr wrap="square" lIns="18000" rIns="180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1000" b="1" dirty="0">
                <a:solidFill>
                  <a:srgbClr val="000000"/>
                </a:solidFill>
              </a:rPr>
              <a:t>267038008 |</a:t>
            </a:r>
            <a:r>
              <a:rPr lang="en-GB" sz="1000" b="1" dirty="0" err="1">
                <a:solidFill>
                  <a:srgbClr val="000000"/>
                </a:solidFill>
              </a:rPr>
              <a:t>Edema</a:t>
            </a:r>
            <a:r>
              <a:rPr lang="en-GB" sz="1000" b="1" dirty="0">
                <a:solidFill>
                  <a:srgbClr val="000000"/>
                </a:solidFill>
              </a:rPr>
              <a:t> (finding)|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GB" sz="1000" b="1" dirty="0">
              <a:solidFill>
                <a:srgbClr val="000000"/>
              </a:solidFill>
            </a:endParaRPr>
          </a:p>
        </p:txBody>
      </p:sp>
      <p:sp>
        <p:nvSpPr>
          <p:cNvPr id="80" name="Ellipse 79"/>
          <p:cNvSpPr/>
          <p:nvPr/>
        </p:nvSpPr>
        <p:spPr>
          <a:xfrm>
            <a:off x="366130" y="1873132"/>
            <a:ext cx="774700" cy="749300"/>
          </a:xfrm>
          <a:prstGeom prst="ellipse">
            <a:avLst/>
          </a:prstGeom>
          <a:solidFill>
            <a:srgbClr val="0070C0"/>
          </a:solidFill>
          <a:ln w="25400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i</a:t>
            </a:r>
            <a:r>
              <a:rPr kumimoji="0" lang="en-GB" sz="2000" b="0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1</a:t>
            </a:r>
          </a:p>
        </p:txBody>
      </p:sp>
      <p:sp>
        <p:nvSpPr>
          <p:cNvPr id="81" name="Ellipse 80"/>
          <p:cNvSpPr/>
          <p:nvPr/>
        </p:nvSpPr>
        <p:spPr>
          <a:xfrm>
            <a:off x="2297694" y="1847732"/>
            <a:ext cx="805366" cy="774700"/>
          </a:xfrm>
          <a:prstGeom prst="ellipse">
            <a:avLst/>
          </a:prstGeom>
          <a:solidFill>
            <a:srgbClr val="0070C0"/>
          </a:solidFill>
          <a:ln w="25400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i</a:t>
            </a:r>
            <a:r>
              <a:rPr kumimoji="0" lang="en-GB" sz="2000" b="0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2</a:t>
            </a:r>
          </a:p>
        </p:txBody>
      </p:sp>
      <p:sp>
        <p:nvSpPr>
          <p:cNvPr id="82" name="Ellipse 81"/>
          <p:cNvSpPr/>
          <p:nvPr/>
        </p:nvSpPr>
        <p:spPr>
          <a:xfrm>
            <a:off x="5271940" y="1857621"/>
            <a:ext cx="805366" cy="774700"/>
          </a:xfrm>
          <a:prstGeom prst="ellipse">
            <a:avLst/>
          </a:prstGeom>
          <a:solidFill>
            <a:srgbClr val="0070C0"/>
          </a:solidFill>
          <a:ln w="25400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i</a:t>
            </a:r>
            <a:r>
              <a:rPr kumimoji="0" lang="en-GB" sz="2000" b="0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3</a:t>
            </a:r>
          </a:p>
        </p:txBody>
      </p:sp>
      <p:sp>
        <p:nvSpPr>
          <p:cNvPr id="84" name="Ellipse 83"/>
          <p:cNvSpPr/>
          <p:nvPr/>
        </p:nvSpPr>
        <p:spPr>
          <a:xfrm>
            <a:off x="9423331" y="1868378"/>
            <a:ext cx="805366" cy="774700"/>
          </a:xfrm>
          <a:prstGeom prst="ellipse">
            <a:avLst/>
          </a:prstGeom>
          <a:solidFill>
            <a:srgbClr val="0070C0"/>
          </a:solidFill>
          <a:ln w="25400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i</a:t>
            </a:r>
            <a:r>
              <a:rPr kumimoji="0" lang="en-GB" sz="2000" b="0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5</a:t>
            </a:r>
          </a:p>
        </p:txBody>
      </p:sp>
      <p:sp>
        <p:nvSpPr>
          <p:cNvPr id="86" name="Ellipse 85"/>
          <p:cNvSpPr/>
          <p:nvPr/>
        </p:nvSpPr>
        <p:spPr>
          <a:xfrm>
            <a:off x="10614961" y="1847732"/>
            <a:ext cx="805366" cy="774700"/>
          </a:xfrm>
          <a:prstGeom prst="ellipse">
            <a:avLst/>
          </a:prstGeom>
          <a:solidFill>
            <a:srgbClr val="0070C0"/>
          </a:solidFill>
          <a:ln w="25400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i</a:t>
            </a:r>
            <a:r>
              <a:rPr kumimoji="0" lang="en-GB" sz="2000" b="0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6</a:t>
            </a:r>
          </a:p>
        </p:txBody>
      </p:sp>
      <p:cxnSp>
        <p:nvCxnSpPr>
          <p:cNvPr id="32" name="Gerader Verbinder 31"/>
          <p:cNvCxnSpPr>
            <a:stCxn id="52" idx="2"/>
            <a:endCxn id="33" idx="0"/>
          </p:cNvCxnSpPr>
          <p:nvPr/>
        </p:nvCxnSpPr>
        <p:spPr>
          <a:xfrm flipH="1">
            <a:off x="6961959" y="1663276"/>
            <a:ext cx="1" cy="1706820"/>
          </a:xfrm>
          <a:prstGeom prst="line">
            <a:avLst/>
          </a:prstGeom>
          <a:noFill/>
          <a:ln w="38100" cap="flat" cmpd="sng" algn="ctr">
            <a:solidFill>
              <a:srgbClr val="FFFFFF">
                <a:lumMod val="65000"/>
              </a:srgbClr>
            </a:solidFill>
            <a:prstDash val="sysDot"/>
          </a:ln>
          <a:effectLst/>
        </p:spPr>
      </p:cxnSp>
      <p:sp>
        <p:nvSpPr>
          <p:cNvPr id="33" name="Rechteck 32"/>
          <p:cNvSpPr/>
          <p:nvPr/>
        </p:nvSpPr>
        <p:spPr>
          <a:xfrm>
            <a:off x="6523031" y="3370096"/>
            <a:ext cx="877855" cy="707886"/>
          </a:xfrm>
          <a:prstGeom prst="rect">
            <a:avLst/>
          </a:prstGeom>
          <a:solidFill>
            <a:srgbClr val="ABE3FF"/>
          </a:solidFill>
        </p:spPr>
        <p:txBody>
          <a:bodyPr wrap="square" lIns="18000" rIns="180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1000" b="1" dirty="0">
                <a:solidFill>
                  <a:srgbClr val="000000"/>
                </a:solidFill>
              </a:rPr>
              <a:t>263899003 </a:t>
            </a:r>
            <a:br>
              <a:rPr lang="en-GB" sz="1000" b="1" dirty="0">
                <a:solidFill>
                  <a:srgbClr val="000000"/>
                </a:solidFill>
              </a:rPr>
            </a:br>
            <a:r>
              <a:rPr lang="en-GB" sz="1000" b="1" dirty="0">
                <a:solidFill>
                  <a:srgbClr val="000000"/>
                </a:solidFill>
              </a:rPr>
              <a:t>|Thickened </a:t>
            </a:r>
            <a:br>
              <a:rPr lang="en-GB" sz="1000" b="1" dirty="0">
                <a:solidFill>
                  <a:srgbClr val="000000"/>
                </a:solidFill>
              </a:rPr>
            </a:br>
            <a:r>
              <a:rPr lang="en-GB" sz="1000" b="1" dirty="0">
                <a:solidFill>
                  <a:srgbClr val="000000"/>
                </a:solidFill>
              </a:rPr>
              <a:t>(qualifier</a:t>
            </a:r>
            <a:br>
              <a:rPr lang="en-GB" sz="1000" b="1" dirty="0">
                <a:solidFill>
                  <a:srgbClr val="000000"/>
                </a:solidFill>
              </a:rPr>
            </a:br>
            <a:r>
              <a:rPr lang="en-GB" sz="1000" b="1" dirty="0">
                <a:solidFill>
                  <a:srgbClr val="000000"/>
                </a:solidFill>
              </a:rPr>
              <a:t> value)|</a:t>
            </a:r>
          </a:p>
        </p:txBody>
      </p:sp>
      <p:sp>
        <p:nvSpPr>
          <p:cNvPr id="34" name="Ellipse 33"/>
          <p:cNvSpPr/>
          <p:nvPr/>
        </p:nvSpPr>
        <p:spPr>
          <a:xfrm>
            <a:off x="6562363" y="1878724"/>
            <a:ext cx="805366" cy="774700"/>
          </a:xfrm>
          <a:prstGeom prst="ellipse">
            <a:avLst/>
          </a:prstGeom>
          <a:solidFill>
            <a:srgbClr val="0070C0"/>
          </a:solidFill>
          <a:ln w="25400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i</a:t>
            </a:r>
            <a:r>
              <a:rPr kumimoji="0" lang="en-GB" sz="2000" b="0" i="0" u="none" strike="noStrike" kern="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4</a:t>
            </a:r>
          </a:p>
        </p:txBody>
      </p:sp>
      <p:sp>
        <p:nvSpPr>
          <p:cNvPr id="29" name="Rechteck 28"/>
          <p:cNvSpPr/>
          <p:nvPr/>
        </p:nvSpPr>
        <p:spPr>
          <a:xfrm>
            <a:off x="9434496" y="2878696"/>
            <a:ext cx="829964" cy="707886"/>
          </a:xfrm>
          <a:prstGeom prst="rect">
            <a:avLst/>
          </a:prstGeom>
          <a:solidFill>
            <a:srgbClr val="ABE3FF"/>
          </a:solidFill>
        </p:spPr>
        <p:txBody>
          <a:bodyPr wrap="square" lIns="18000" rIns="18000">
            <a:sp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sz="1000" b="1" kern="0" dirty="0">
                <a:solidFill>
                  <a:prstClr val="black"/>
                </a:solidFill>
              </a:rPr>
              <a:t>439401001 |Diagnosis (observable entity)|</a:t>
            </a:r>
          </a:p>
        </p:txBody>
      </p:sp>
      <p:cxnSp>
        <p:nvCxnSpPr>
          <p:cNvPr id="38" name="Gekrümmter Verbinder 37"/>
          <p:cNvCxnSpPr>
            <a:stCxn id="86" idx="1"/>
            <a:endCxn id="81" idx="7"/>
          </p:cNvCxnSpPr>
          <p:nvPr/>
        </p:nvCxnSpPr>
        <p:spPr>
          <a:xfrm rot="16200000" flipV="1">
            <a:off x="6859011" y="-1912710"/>
            <a:ext cx="12700" cy="7747787"/>
          </a:xfrm>
          <a:prstGeom prst="curvedConnector3">
            <a:avLst>
              <a:gd name="adj1" fmla="val 8752724"/>
            </a:avLst>
          </a:prstGeom>
          <a:noFill/>
          <a:ln w="19050" cap="flat" cmpd="sng" algn="ctr">
            <a:solidFill>
              <a:srgbClr val="FF0000"/>
            </a:solidFill>
            <a:prstDash val="solid"/>
            <a:headEnd type="none" w="med" len="med"/>
            <a:tailEnd type="triangle" w="med" len="med"/>
          </a:ln>
          <a:effectLst/>
        </p:spPr>
      </p:cxnSp>
      <p:cxnSp>
        <p:nvCxnSpPr>
          <p:cNvPr id="75" name="Gekrümmter Verbinder 74"/>
          <p:cNvCxnSpPr>
            <a:stCxn id="86" idx="1"/>
            <a:endCxn id="80" idx="7"/>
          </p:cNvCxnSpPr>
          <p:nvPr/>
        </p:nvCxnSpPr>
        <p:spPr>
          <a:xfrm rot="16200000" flipH="1" flipV="1">
            <a:off x="5869301" y="-2880739"/>
            <a:ext cx="21680" cy="9705526"/>
          </a:xfrm>
          <a:prstGeom prst="curvedConnector3">
            <a:avLst>
              <a:gd name="adj1" fmla="val -6588870"/>
            </a:avLst>
          </a:prstGeom>
          <a:noFill/>
          <a:ln w="19050" cap="flat" cmpd="sng" algn="ctr">
            <a:solidFill>
              <a:srgbClr val="FF0000"/>
            </a:solidFill>
            <a:prstDash val="solid"/>
            <a:headEnd type="none" w="med" len="med"/>
            <a:tailEnd type="triangle" w="med" len="med"/>
          </a:ln>
          <a:effectLst/>
        </p:spPr>
      </p:cxnSp>
      <p:sp>
        <p:nvSpPr>
          <p:cNvPr id="79" name="Rechteck 78"/>
          <p:cNvSpPr/>
          <p:nvPr/>
        </p:nvSpPr>
        <p:spPr>
          <a:xfrm>
            <a:off x="5587969" y="552267"/>
            <a:ext cx="1451967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050" b="1" dirty="0">
                <a:solidFill>
                  <a:srgbClr val="FF0000"/>
                </a:solidFill>
              </a:rPr>
              <a:t>'Finding site'</a:t>
            </a:r>
            <a:endParaRPr lang="en-GB" sz="1400" dirty="0"/>
          </a:p>
        </p:txBody>
      </p:sp>
      <p:sp>
        <p:nvSpPr>
          <p:cNvPr id="37" name="Rechteck 36"/>
          <p:cNvSpPr/>
          <p:nvPr/>
        </p:nvSpPr>
        <p:spPr>
          <a:xfrm>
            <a:off x="3118309" y="3240612"/>
            <a:ext cx="1255744" cy="553998"/>
          </a:xfrm>
          <a:prstGeom prst="rect">
            <a:avLst/>
          </a:prstGeom>
          <a:solidFill>
            <a:srgbClr val="ABE3FF"/>
          </a:solidFill>
        </p:spPr>
        <p:txBody>
          <a:bodyPr wrap="square" lIns="18000" rIns="180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1000" b="1" dirty="0">
                <a:solidFill>
                  <a:srgbClr val="000000"/>
                </a:solidFill>
              </a:rPr>
              <a:t>38848004 |</a:t>
            </a:r>
            <a:br>
              <a:rPr lang="en-GB" sz="1000" b="1" dirty="0">
                <a:solidFill>
                  <a:srgbClr val="000000"/>
                </a:solidFill>
              </a:rPr>
            </a:br>
            <a:r>
              <a:rPr lang="en-GB" sz="1000" b="1" dirty="0">
                <a:solidFill>
                  <a:srgbClr val="000000"/>
                </a:solidFill>
              </a:rPr>
              <a:t>Duodenal structure </a:t>
            </a:r>
            <a:br>
              <a:rPr lang="en-GB" sz="1000" b="1" dirty="0">
                <a:solidFill>
                  <a:srgbClr val="000000"/>
                </a:solidFill>
              </a:rPr>
            </a:br>
            <a:r>
              <a:rPr lang="en-GB" sz="1000" b="1" dirty="0">
                <a:solidFill>
                  <a:srgbClr val="000000"/>
                </a:solidFill>
              </a:rPr>
              <a:t>(body structure)|</a:t>
            </a:r>
          </a:p>
        </p:txBody>
      </p:sp>
      <p:cxnSp>
        <p:nvCxnSpPr>
          <p:cNvPr id="39" name="Gerader Verbinder 38"/>
          <p:cNvCxnSpPr>
            <a:stCxn id="37" idx="2"/>
            <a:endCxn id="58" idx="0"/>
          </p:cNvCxnSpPr>
          <p:nvPr/>
        </p:nvCxnSpPr>
        <p:spPr>
          <a:xfrm flipH="1">
            <a:off x="2718393" y="3794610"/>
            <a:ext cx="1027788" cy="218410"/>
          </a:xfrm>
          <a:prstGeom prst="line">
            <a:avLst/>
          </a:prstGeom>
          <a:noFill/>
          <a:ln w="38100" cap="flat" cmpd="sng" algn="ctr">
            <a:solidFill>
              <a:srgbClr val="FFFFFF">
                <a:lumMod val="65000"/>
              </a:srgbClr>
            </a:solidFill>
            <a:prstDash val="solid"/>
            <a:headEnd type="triangle" w="med" len="med"/>
            <a:tailEnd type="none" w="med" len="med"/>
          </a:ln>
          <a:effectLst/>
        </p:spPr>
      </p:cxnSp>
      <p:sp>
        <p:nvSpPr>
          <p:cNvPr id="40" name="Rechteck 39"/>
          <p:cNvSpPr/>
          <p:nvPr/>
        </p:nvSpPr>
        <p:spPr>
          <a:xfrm>
            <a:off x="10768493" y="6028906"/>
            <a:ext cx="1127930" cy="577081"/>
          </a:xfrm>
          <a:prstGeom prst="rect">
            <a:avLst/>
          </a:prstGeom>
          <a:solidFill>
            <a:srgbClr val="ABE3FF"/>
          </a:solidFill>
        </p:spPr>
        <p:txBody>
          <a:bodyPr wrap="square" lIns="18000" rIns="180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1050" b="1" dirty="0">
                <a:solidFill>
                  <a:srgbClr val="000000"/>
                </a:solidFill>
              </a:rPr>
              <a:t>39204006 </a:t>
            </a:r>
            <a:br>
              <a:rPr lang="en-GB" sz="1050" b="1" dirty="0">
                <a:solidFill>
                  <a:srgbClr val="000000"/>
                </a:solidFill>
              </a:rPr>
            </a:br>
            <a:r>
              <a:rPr lang="en-GB" sz="1050" b="1" dirty="0">
                <a:solidFill>
                  <a:srgbClr val="000000"/>
                </a:solidFill>
              </a:rPr>
              <a:t>|Pyloric ulcer </a:t>
            </a:r>
            <a:br>
              <a:rPr lang="en-GB" sz="1050" b="1" dirty="0">
                <a:solidFill>
                  <a:srgbClr val="000000"/>
                </a:solidFill>
              </a:rPr>
            </a:br>
            <a:r>
              <a:rPr lang="en-GB" sz="1050" b="1" dirty="0">
                <a:solidFill>
                  <a:srgbClr val="000000"/>
                </a:solidFill>
              </a:rPr>
              <a:t>(disorder)|</a:t>
            </a:r>
          </a:p>
        </p:txBody>
      </p:sp>
      <p:cxnSp>
        <p:nvCxnSpPr>
          <p:cNvPr id="41" name="Gerader Verbinder 40"/>
          <p:cNvCxnSpPr>
            <a:stCxn id="59" idx="2"/>
            <a:endCxn id="40" idx="0"/>
          </p:cNvCxnSpPr>
          <p:nvPr/>
        </p:nvCxnSpPr>
        <p:spPr>
          <a:xfrm>
            <a:off x="11036988" y="3586582"/>
            <a:ext cx="295470" cy="2442324"/>
          </a:xfrm>
          <a:prstGeom prst="line">
            <a:avLst/>
          </a:prstGeom>
          <a:noFill/>
          <a:ln w="38100" cap="flat" cmpd="sng" algn="ctr">
            <a:solidFill>
              <a:srgbClr val="FFFFFF">
                <a:lumMod val="65000"/>
              </a:srgbClr>
            </a:solidFill>
            <a:prstDash val="solid"/>
            <a:headEnd type="triangle" w="med" len="med"/>
            <a:tailEnd type="none" w="med" len="med"/>
          </a:ln>
          <a:effectLst/>
        </p:spPr>
      </p:cxnSp>
      <p:cxnSp>
        <p:nvCxnSpPr>
          <p:cNvPr id="42" name="Gerader Verbinder 41"/>
          <p:cNvCxnSpPr>
            <a:stCxn id="59" idx="2"/>
          </p:cNvCxnSpPr>
          <p:nvPr/>
        </p:nvCxnSpPr>
        <p:spPr>
          <a:xfrm flipH="1">
            <a:off x="10141411" y="3586582"/>
            <a:ext cx="895577" cy="1513550"/>
          </a:xfrm>
          <a:prstGeom prst="line">
            <a:avLst/>
          </a:prstGeom>
          <a:noFill/>
          <a:ln w="38100" cap="flat" cmpd="sng" algn="ctr">
            <a:solidFill>
              <a:srgbClr val="FFFFFF">
                <a:lumMod val="65000"/>
              </a:srgbClr>
            </a:solidFill>
            <a:prstDash val="solid"/>
            <a:headEnd type="triangle" w="med" len="med"/>
            <a:tailEnd type="none" w="med" len="med"/>
          </a:ln>
          <a:effectLst/>
        </p:spPr>
      </p:cxnSp>
      <p:sp>
        <p:nvSpPr>
          <p:cNvPr id="43" name="Rechteck 42"/>
          <p:cNvSpPr/>
          <p:nvPr/>
        </p:nvSpPr>
        <p:spPr>
          <a:xfrm>
            <a:off x="9577446" y="5100132"/>
            <a:ext cx="1127930" cy="738664"/>
          </a:xfrm>
          <a:prstGeom prst="rect">
            <a:avLst/>
          </a:prstGeom>
          <a:solidFill>
            <a:srgbClr val="ABE3FF"/>
          </a:solidFill>
        </p:spPr>
        <p:txBody>
          <a:bodyPr wrap="square" lIns="18000" rIns="180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1050" b="1" dirty="0">
                <a:solidFill>
                  <a:srgbClr val="000000"/>
                </a:solidFill>
              </a:rPr>
              <a:t>51868009 </a:t>
            </a:r>
            <a:br>
              <a:rPr lang="en-GB" sz="1050" b="1" dirty="0">
                <a:solidFill>
                  <a:srgbClr val="000000"/>
                </a:solidFill>
              </a:rPr>
            </a:br>
            <a:r>
              <a:rPr lang="en-GB" sz="1050" b="1" dirty="0">
                <a:solidFill>
                  <a:srgbClr val="000000"/>
                </a:solidFill>
              </a:rPr>
              <a:t>|Ulcer of </a:t>
            </a:r>
            <a:br>
              <a:rPr lang="en-GB" sz="1050" b="1" dirty="0">
                <a:solidFill>
                  <a:srgbClr val="000000"/>
                </a:solidFill>
              </a:rPr>
            </a:br>
            <a:r>
              <a:rPr lang="en-GB" sz="1050" b="1" dirty="0">
                <a:solidFill>
                  <a:srgbClr val="000000"/>
                </a:solidFill>
              </a:rPr>
              <a:t>duodenum (disorder)|</a:t>
            </a:r>
          </a:p>
        </p:txBody>
      </p:sp>
      <p:cxnSp>
        <p:nvCxnSpPr>
          <p:cNvPr id="44" name="Gewinkelter Verbinder 43"/>
          <p:cNvCxnSpPr/>
          <p:nvPr/>
        </p:nvCxnSpPr>
        <p:spPr>
          <a:xfrm rot="10800000">
            <a:off x="883885" y="4707413"/>
            <a:ext cx="9884608" cy="1610034"/>
          </a:xfrm>
          <a:prstGeom prst="bentConnector2">
            <a:avLst/>
          </a:prstGeom>
          <a:noFill/>
          <a:ln w="19050" cap="flat" cmpd="sng" algn="ctr">
            <a:solidFill>
              <a:srgbClr val="FF0000"/>
            </a:solidFill>
            <a:prstDash val="solid"/>
            <a:headEnd type="none" w="med" len="med"/>
            <a:tailEnd type="triangle" w="med" len="med"/>
          </a:ln>
          <a:effectLst/>
        </p:spPr>
      </p:cxnSp>
      <p:sp>
        <p:nvSpPr>
          <p:cNvPr id="45" name="Rechteck 44"/>
          <p:cNvSpPr/>
          <p:nvPr/>
        </p:nvSpPr>
        <p:spPr>
          <a:xfrm>
            <a:off x="3964821" y="6028906"/>
            <a:ext cx="1451967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050" b="1" dirty="0">
                <a:solidFill>
                  <a:srgbClr val="FF0000"/>
                </a:solidFill>
              </a:rPr>
              <a:t>'Finding site‘ some</a:t>
            </a:r>
            <a:endParaRPr lang="en-GB" sz="1400" dirty="0"/>
          </a:p>
        </p:txBody>
      </p:sp>
      <p:cxnSp>
        <p:nvCxnSpPr>
          <p:cNvPr id="46" name="Gewinkelter Verbinder 45"/>
          <p:cNvCxnSpPr>
            <a:stCxn id="43" idx="1"/>
            <a:endCxn id="37" idx="2"/>
          </p:cNvCxnSpPr>
          <p:nvPr/>
        </p:nvCxnSpPr>
        <p:spPr>
          <a:xfrm rot="10800000">
            <a:off x="3746182" y="3794610"/>
            <a:ext cx="5831265" cy="1674854"/>
          </a:xfrm>
          <a:prstGeom prst="bentConnector2">
            <a:avLst/>
          </a:prstGeom>
          <a:noFill/>
          <a:ln w="19050" cap="flat" cmpd="sng" algn="ctr">
            <a:solidFill>
              <a:srgbClr val="FF0000"/>
            </a:solidFill>
            <a:prstDash val="solid"/>
            <a:headEnd type="none" w="med" len="med"/>
            <a:tailEnd type="triangle" w="med" len="med"/>
          </a:ln>
          <a:effectLst/>
        </p:spPr>
      </p:cxnSp>
      <p:sp>
        <p:nvSpPr>
          <p:cNvPr id="49" name="Rechteck 48"/>
          <p:cNvSpPr/>
          <p:nvPr/>
        </p:nvSpPr>
        <p:spPr>
          <a:xfrm>
            <a:off x="3964821" y="5178506"/>
            <a:ext cx="1451967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050" b="1" dirty="0">
                <a:solidFill>
                  <a:srgbClr val="FF0000"/>
                </a:solidFill>
              </a:rPr>
              <a:t>'Finding site‘ some</a:t>
            </a:r>
            <a:endParaRPr lang="en-GB" sz="1400" dirty="0"/>
          </a:p>
        </p:txBody>
      </p:sp>
      <p:sp>
        <p:nvSpPr>
          <p:cNvPr id="56" name="Rechteck 55"/>
          <p:cNvSpPr/>
          <p:nvPr/>
        </p:nvSpPr>
        <p:spPr>
          <a:xfrm>
            <a:off x="217953" y="1000010"/>
            <a:ext cx="12192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br>
              <a:rPr lang="en-GB" sz="2000" b="1" dirty="0">
                <a:solidFill>
                  <a:srgbClr val="000000"/>
                </a:solidFill>
                <a:cs typeface="Arial" panose="020B0604020202020204" pitchFamily="34" charset="0"/>
              </a:rPr>
            </a:br>
            <a:r>
              <a:rPr lang="en-GB" sz="2000" b="1" dirty="0">
                <a:solidFill>
                  <a:srgbClr val="000000"/>
                </a:solidFill>
                <a:cs typeface="Arial" panose="020B0604020202020204" pitchFamily="34" charset="0"/>
              </a:rPr>
              <a:t> Pylorus and superior duodenum:                      </a:t>
            </a:r>
            <a:r>
              <a:rPr lang="en-GB" sz="2000" b="1" dirty="0" err="1">
                <a:solidFill>
                  <a:srgbClr val="000000"/>
                </a:solidFill>
                <a:cs typeface="Arial" panose="020B0604020202020204" pitchFamily="34" charset="0"/>
              </a:rPr>
              <a:t>Edematous</a:t>
            </a:r>
            <a:r>
              <a:rPr lang="en-GB" sz="2000" b="1" dirty="0">
                <a:solidFill>
                  <a:srgbClr val="000000"/>
                </a:solidFill>
                <a:cs typeface="Arial" panose="020B0604020202020204" pitchFamily="34" charset="0"/>
              </a:rPr>
              <a:t>  thickening.                               Diagnosis:      ulcer </a:t>
            </a:r>
          </a:p>
        </p:txBody>
      </p:sp>
    </p:spTree>
    <p:extLst>
      <p:ext uri="{BB962C8B-B14F-4D97-AF65-F5344CB8AC3E}">
        <p14:creationId xmlns:p14="http://schemas.microsoft.com/office/powerpoint/2010/main" val="2866857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2" grpId="0" animBg="1"/>
      <p:bldP spid="37" grpId="0" animBg="1"/>
      <p:bldP spid="40" grpId="0" animBg="1"/>
      <p:bldP spid="43" grpId="0" animBg="1"/>
      <p:bldP spid="45" grpId="0"/>
      <p:bldP spid="4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uppieren 18"/>
          <p:cNvGrpSpPr/>
          <p:nvPr/>
        </p:nvGrpSpPr>
        <p:grpSpPr>
          <a:xfrm>
            <a:off x="286256" y="2172038"/>
            <a:ext cx="2028825" cy="1726862"/>
            <a:chOff x="286256" y="1727538"/>
            <a:chExt cx="2028825" cy="1726862"/>
          </a:xfrm>
        </p:grpSpPr>
        <p:cxnSp>
          <p:nvCxnSpPr>
            <p:cNvPr id="16" name="Gerader Verbinder 15"/>
            <p:cNvCxnSpPr/>
            <p:nvPr/>
          </p:nvCxnSpPr>
          <p:spPr>
            <a:xfrm>
              <a:off x="375663" y="3007197"/>
              <a:ext cx="358268" cy="0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Gerader Verbinder 14"/>
            <p:cNvCxnSpPr/>
            <p:nvPr/>
          </p:nvCxnSpPr>
          <p:spPr>
            <a:xfrm>
              <a:off x="375663" y="2632547"/>
              <a:ext cx="358268" cy="0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Gerader Verbinder 12"/>
            <p:cNvCxnSpPr/>
            <p:nvPr/>
          </p:nvCxnSpPr>
          <p:spPr>
            <a:xfrm>
              <a:off x="382013" y="2232497"/>
              <a:ext cx="358268" cy="0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" name="Grafik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6256" y="1727538"/>
              <a:ext cx="1152525" cy="209550"/>
            </a:xfrm>
            <a:prstGeom prst="rect">
              <a:avLst/>
            </a:prstGeom>
          </p:spPr>
        </p:pic>
        <p:pic>
          <p:nvPicPr>
            <p:cNvPr id="6" name="Grafik 5"/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7F7F7"/>
                </a:clrFrom>
                <a:clrTo>
                  <a:srgbClr val="F7F7F7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524381" y="2113435"/>
              <a:ext cx="1790700" cy="238125"/>
            </a:xfrm>
            <a:prstGeom prst="rect">
              <a:avLst/>
            </a:prstGeom>
          </p:spPr>
        </p:pic>
        <p:pic>
          <p:nvPicPr>
            <p:cNvPr id="7" name="Grafik 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3431" y="2504162"/>
              <a:ext cx="771525" cy="238125"/>
            </a:xfrm>
            <a:prstGeom prst="rect">
              <a:avLst/>
            </a:prstGeom>
          </p:spPr>
        </p:pic>
        <p:pic>
          <p:nvPicPr>
            <p:cNvPr id="8" name="Grafik 7"/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7F7F7"/>
                </a:clrFrom>
                <a:clrTo>
                  <a:srgbClr val="F7F7F7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543431" y="2875772"/>
              <a:ext cx="1047750" cy="257175"/>
            </a:xfrm>
            <a:prstGeom prst="rect">
              <a:avLst/>
            </a:prstGeom>
          </p:spPr>
        </p:pic>
        <p:cxnSp>
          <p:nvCxnSpPr>
            <p:cNvPr id="4" name="Gerader Verbinder 3"/>
            <p:cNvCxnSpPr/>
            <p:nvPr/>
          </p:nvCxnSpPr>
          <p:spPr>
            <a:xfrm flipH="1">
              <a:off x="374650" y="1892638"/>
              <a:ext cx="3682" cy="1561762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Abgerundetes Rechteck 19"/>
          <p:cNvSpPr/>
          <p:nvPr/>
        </p:nvSpPr>
        <p:spPr>
          <a:xfrm>
            <a:off x="1435605" y="2911649"/>
            <a:ext cx="1847345" cy="408623"/>
          </a:xfrm>
          <a:prstGeom prst="roundRect">
            <a:avLst/>
          </a:prstGeom>
          <a:solidFill>
            <a:srgbClr val="ABE3FF"/>
          </a:solidFill>
        </p:spPr>
        <p:txBody>
          <a:bodyPr wrap="square" lIns="36000" tIns="0" rIns="36000" bIns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1200" b="1" dirty="0">
                <a:solidFill>
                  <a:srgbClr val="000000"/>
                </a:solidFill>
              </a:rPr>
              <a:t>390926006 |Suspected gallstones (situation)|</a:t>
            </a:r>
          </a:p>
        </p:txBody>
      </p:sp>
      <p:grpSp>
        <p:nvGrpSpPr>
          <p:cNvPr id="22" name="Gruppieren 21"/>
          <p:cNvGrpSpPr/>
          <p:nvPr/>
        </p:nvGrpSpPr>
        <p:grpSpPr>
          <a:xfrm>
            <a:off x="4372481" y="2137113"/>
            <a:ext cx="2028825" cy="1726862"/>
            <a:chOff x="286256" y="1727538"/>
            <a:chExt cx="2028825" cy="1726862"/>
          </a:xfrm>
        </p:grpSpPr>
        <p:cxnSp>
          <p:nvCxnSpPr>
            <p:cNvPr id="23" name="Gerader Verbinder 22"/>
            <p:cNvCxnSpPr/>
            <p:nvPr/>
          </p:nvCxnSpPr>
          <p:spPr>
            <a:xfrm>
              <a:off x="375663" y="3007197"/>
              <a:ext cx="358268" cy="0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Gerader Verbinder 23"/>
            <p:cNvCxnSpPr/>
            <p:nvPr/>
          </p:nvCxnSpPr>
          <p:spPr>
            <a:xfrm>
              <a:off x="375663" y="2632547"/>
              <a:ext cx="358268" cy="0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Gerader Verbinder 24"/>
            <p:cNvCxnSpPr/>
            <p:nvPr/>
          </p:nvCxnSpPr>
          <p:spPr>
            <a:xfrm>
              <a:off x="382013" y="2232497"/>
              <a:ext cx="358268" cy="0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6" name="Grafik 2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6256" y="1727538"/>
              <a:ext cx="1152525" cy="209550"/>
            </a:xfrm>
            <a:prstGeom prst="rect">
              <a:avLst/>
            </a:prstGeom>
          </p:spPr>
        </p:pic>
        <p:pic>
          <p:nvPicPr>
            <p:cNvPr id="27" name="Grafik 26"/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7F7F7"/>
                </a:clrFrom>
                <a:clrTo>
                  <a:srgbClr val="F7F7F7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524381" y="2113435"/>
              <a:ext cx="1790700" cy="238125"/>
            </a:xfrm>
            <a:prstGeom prst="rect">
              <a:avLst/>
            </a:prstGeom>
          </p:spPr>
        </p:pic>
        <p:pic>
          <p:nvPicPr>
            <p:cNvPr id="28" name="Grafik 2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3431" y="2504162"/>
              <a:ext cx="771525" cy="238125"/>
            </a:xfrm>
            <a:prstGeom prst="rect">
              <a:avLst/>
            </a:prstGeom>
          </p:spPr>
        </p:pic>
        <p:pic>
          <p:nvPicPr>
            <p:cNvPr id="29" name="Grafik 28"/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7F7F7"/>
                </a:clrFrom>
                <a:clrTo>
                  <a:srgbClr val="F7F7F7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543431" y="2875772"/>
              <a:ext cx="1047750" cy="257175"/>
            </a:xfrm>
            <a:prstGeom prst="rect">
              <a:avLst/>
            </a:prstGeom>
          </p:spPr>
        </p:pic>
        <p:cxnSp>
          <p:nvCxnSpPr>
            <p:cNvPr id="30" name="Gerader Verbinder 29"/>
            <p:cNvCxnSpPr/>
            <p:nvPr/>
          </p:nvCxnSpPr>
          <p:spPr>
            <a:xfrm flipH="1">
              <a:off x="374650" y="1892638"/>
              <a:ext cx="3682" cy="1561762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Abgerundetes Rechteck 30"/>
          <p:cNvSpPr/>
          <p:nvPr/>
        </p:nvSpPr>
        <p:spPr>
          <a:xfrm>
            <a:off x="5704643" y="2882733"/>
            <a:ext cx="1847345" cy="408623"/>
          </a:xfrm>
          <a:prstGeom prst="roundRect">
            <a:avLst/>
          </a:prstGeom>
          <a:solidFill>
            <a:srgbClr val="ABE3FF"/>
          </a:solidFill>
        </p:spPr>
        <p:txBody>
          <a:bodyPr wrap="square" lIns="36000" tIns="0" rIns="36000" bIns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1200" b="1" dirty="0">
                <a:solidFill>
                  <a:srgbClr val="000000"/>
                </a:solidFill>
              </a:rPr>
              <a:t>235919008 |Gallbladder calculus (disorder)|</a:t>
            </a:r>
          </a:p>
        </p:txBody>
      </p:sp>
      <p:sp>
        <p:nvSpPr>
          <p:cNvPr id="32" name="Abgerundetes Rechteck 31"/>
          <p:cNvSpPr/>
          <p:nvPr/>
        </p:nvSpPr>
        <p:spPr>
          <a:xfrm>
            <a:off x="6401307" y="2523010"/>
            <a:ext cx="1150682" cy="237010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unconfirmed</a:t>
            </a:r>
            <a:endParaRPr lang="en-GB" dirty="0"/>
          </a:p>
        </p:txBody>
      </p:sp>
      <p:grpSp>
        <p:nvGrpSpPr>
          <p:cNvPr id="33" name="Gruppieren 32"/>
          <p:cNvGrpSpPr/>
          <p:nvPr/>
        </p:nvGrpSpPr>
        <p:grpSpPr>
          <a:xfrm>
            <a:off x="8338055" y="2141064"/>
            <a:ext cx="2028825" cy="1726862"/>
            <a:chOff x="286256" y="1727538"/>
            <a:chExt cx="2028825" cy="1726862"/>
          </a:xfrm>
        </p:grpSpPr>
        <p:cxnSp>
          <p:nvCxnSpPr>
            <p:cNvPr id="34" name="Gerader Verbinder 33"/>
            <p:cNvCxnSpPr/>
            <p:nvPr/>
          </p:nvCxnSpPr>
          <p:spPr>
            <a:xfrm>
              <a:off x="375663" y="3007197"/>
              <a:ext cx="358268" cy="0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Gerader Verbinder 34"/>
            <p:cNvCxnSpPr/>
            <p:nvPr/>
          </p:nvCxnSpPr>
          <p:spPr>
            <a:xfrm>
              <a:off x="375663" y="2632547"/>
              <a:ext cx="358268" cy="0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Gerader Verbinder 35"/>
            <p:cNvCxnSpPr/>
            <p:nvPr/>
          </p:nvCxnSpPr>
          <p:spPr>
            <a:xfrm>
              <a:off x="382013" y="2232497"/>
              <a:ext cx="358268" cy="0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7" name="Grafik 3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6256" y="1727538"/>
              <a:ext cx="1152525" cy="209550"/>
            </a:xfrm>
            <a:prstGeom prst="rect">
              <a:avLst/>
            </a:prstGeom>
          </p:spPr>
        </p:pic>
        <p:pic>
          <p:nvPicPr>
            <p:cNvPr id="38" name="Grafik 37"/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7F7F7"/>
                </a:clrFrom>
                <a:clrTo>
                  <a:srgbClr val="F7F7F7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524381" y="2113435"/>
              <a:ext cx="1790700" cy="238125"/>
            </a:xfrm>
            <a:prstGeom prst="rect">
              <a:avLst/>
            </a:prstGeom>
          </p:spPr>
        </p:pic>
        <p:pic>
          <p:nvPicPr>
            <p:cNvPr id="39" name="Grafik 3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3431" y="2504162"/>
              <a:ext cx="771525" cy="238125"/>
            </a:xfrm>
            <a:prstGeom prst="rect">
              <a:avLst/>
            </a:prstGeom>
          </p:spPr>
        </p:pic>
        <p:pic>
          <p:nvPicPr>
            <p:cNvPr id="40" name="Grafik 39"/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7F7F7"/>
                </a:clrFrom>
                <a:clrTo>
                  <a:srgbClr val="F7F7F7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543431" y="2875772"/>
              <a:ext cx="1047750" cy="257175"/>
            </a:xfrm>
            <a:prstGeom prst="rect">
              <a:avLst/>
            </a:prstGeom>
          </p:spPr>
        </p:pic>
        <p:cxnSp>
          <p:nvCxnSpPr>
            <p:cNvPr id="41" name="Gerader Verbinder 40"/>
            <p:cNvCxnSpPr/>
            <p:nvPr/>
          </p:nvCxnSpPr>
          <p:spPr>
            <a:xfrm flipH="1">
              <a:off x="374650" y="1892638"/>
              <a:ext cx="3682" cy="1561762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Abgerundetes Rechteck 41"/>
          <p:cNvSpPr/>
          <p:nvPr/>
        </p:nvSpPr>
        <p:spPr>
          <a:xfrm>
            <a:off x="9666535" y="2863412"/>
            <a:ext cx="1847345" cy="408623"/>
          </a:xfrm>
          <a:prstGeom prst="roundRect">
            <a:avLst/>
          </a:prstGeom>
          <a:solidFill>
            <a:srgbClr val="ABE3FF"/>
          </a:solidFill>
        </p:spPr>
        <p:txBody>
          <a:bodyPr wrap="square" lIns="36000" tIns="0" rIns="36000" bIns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1200" b="1" dirty="0">
                <a:solidFill>
                  <a:srgbClr val="000000"/>
                </a:solidFill>
              </a:rPr>
              <a:t>313413008 |Calculus finding (finding)|</a:t>
            </a:r>
          </a:p>
        </p:txBody>
      </p:sp>
      <p:sp>
        <p:nvSpPr>
          <p:cNvPr id="43" name="Abgerundetes Rechteck 42"/>
          <p:cNvSpPr/>
          <p:nvPr/>
        </p:nvSpPr>
        <p:spPr>
          <a:xfrm>
            <a:off x="10366881" y="2526961"/>
            <a:ext cx="1147000" cy="237010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unconfirmed</a:t>
            </a:r>
            <a:endParaRPr lang="en-GB" dirty="0"/>
          </a:p>
        </p:txBody>
      </p:sp>
      <p:sp>
        <p:nvSpPr>
          <p:cNvPr id="44" name="Abgerundetes Rechteck 43"/>
          <p:cNvSpPr/>
          <p:nvPr/>
        </p:nvSpPr>
        <p:spPr>
          <a:xfrm>
            <a:off x="9666535" y="3318882"/>
            <a:ext cx="1847345" cy="612934"/>
          </a:xfrm>
          <a:prstGeom prst="roundRect">
            <a:avLst/>
          </a:prstGeom>
          <a:solidFill>
            <a:srgbClr val="ABE3FF"/>
          </a:solidFill>
        </p:spPr>
        <p:txBody>
          <a:bodyPr wrap="square" lIns="36000" tIns="0" rIns="36000" bIns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1200" b="1" dirty="0">
                <a:solidFill>
                  <a:srgbClr val="000000"/>
                </a:solidFill>
              </a:rPr>
              <a:t>3578005 |Structure of body of gallbladder (body structure)|</a:t>
            </a:r>
          </a:p>
        </p:txBody>
      </p:sp>
      <p:grpSp>
        <p:nvGrpSpPr>
          <p:cNvPr id="45" name="Gruppieren 44"/>
          <p:cNvGrpSpPr/>
          <p:nvPr/>
        </p:nvGrpSpPr>
        <p:grpSpPr>
          <a:xfrm>
            <a:off x="323850" y="4592215"/>
            <a:ext cx="2028825" cy="1726862"/>
            <a:chOff x="286256" y="1727538"/>
            <a:chExt cx="2028825" cy="1726862"/>
          </a:xfrm>
        </p:grpSpPr>
        <p:cxnSp>
          <p:nvCxnSpPr>
            <p:cNvPr id="46" name="Gerader Verbinder 45"/>
            <p:cNvCxnSpPr/>
            <p:nvPr/>
          </p:nvCxnSpPr>
          <p:spPr>
            <a:xfrm>
              <a:off x="375663" y="3007197"/>
              <a:ext cx="358268" cy="0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Gerader Verbinder 46"/>
            <p:cNvCxnSpPr/>
            <p:nvPr/>
          </p:nvCxnSpPr>
          <p:spPr>
            <a:xfrm>
              <a:off x="375663" y="2632547"/>
              <a:ext cx="358268" cy="0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Gerader Verbinder 47"/>
            <p:cNvCxnSpPr/>
            <p:nvPr/>
          </p:nvCxnSpPr>
          <p:spPr>
            <a:xfrm>
              <a:off x="382013" y="2232497"/>
              <a:ext cx="358268" cy="0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9" name="Grafik 4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6256" y="1727538"/>
              <a:ext cx="1152525" cy="209550"/>
            </a:xfrm>
            <a:prstGeom prst="rect">
              <a:avLst/>
            </a:prstGeom>
          </p:spPr>
        </p:pic>
        <p:pic>
          <p:nvPicPr>
            <p:cNvPr id="50" name="Grafik 49"/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7F7F7"/>
                </a:clrFrom>
                <a:clrTo>
                  <a:srgbClr val="F7F7F7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524381" y="2113435"/>
              <a:ext cx="1790700" cy="238125"/>
            </a:xfrm>
            <a:prstGeom prst="rect">
              <a:avLst/>
            </a:prstGeom>
          </p:spPr>
        </p:pic>
        <p:pic>
          <p:nvPicPr>
            <p:cNvPr id="51" name="Grafik 5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3431" y="2504162"/>
              <a:ext cx="771525" cy="238125"/>
            </a:xfrm>
            <a:prstGeom prst="rect">
              <a:avLst/>
            </a:prstGeom>
          </p:spPr>
        </p:pic>
        <p:pic>
          <p:nvPicPr>
            <p:cNvPr id="52" name="Grafik 51"/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7F7F7"/>
                </a:clrFrom>
                <a:clrTo>
                  <a:srgbClr val="F7F7F7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543431" y="2875772"/>
              <a:ext cx="1047750" cy="257175"/>
            </a:xfrm>
            <a:prstGeom prst="rect">
              <a:avLst/>
            </a:prstGeom>
          </p:spPr>
        </p:pic>
        <p:cxnSp>
          <p:nvCxnSpPr>
            <p:cNvPr id="53" name="Gerader Verbinder 52"/>
            <p:cNvCxnSpPr/>
            <p:nvPr/>
          </p:nvCxnSpPr>
          <p:spPr>
            <a:xfrm flipH="1">
              <a:off x="374650" y="1892638"/>
              <a:ext cx="3682" cy="1561762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Abgerundetes Rechteck 53"/>
          <p:cNvSpPr/>
          <p:nvPr/>
        </p:nvSpPr>
        <p:spPr>
          <a:xfrm>
            <a:off x="1397506" y="5312708"/>
            <a:ext cx="2234376" cy="408623"/>
          </a:xfrm>
          <a:prstGeom prst="roundRect">
            <a:avLst/>
          </a:prstGeom>
          <a:solidFill>
            <a:srgbClr val="ABE3FF"/>
          </a:solidFill>
        </p:spPr>
        <p:txBody>
          <a:bodyPr wrap="square" lIns="36000" tIns="0" rIns="36000" bIns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1200" b="1" dirty="0">
                <a:solidFill>
                  <a:srgbClr val="000000"/>
                </a:solidFill>
              </a:rPr>
              <a:t>56381008 |Calculus (morphologic abnormality)|</a:t>
            </a:r>
          </a:p>
        </p:txBody>
      </p:sp>
      <p:sp>
        <p:nvSpPr>
          <p:cNvPr id="55" name="Abgerundetes Rechteck 54"/>
          <p:cNvSpPr/>
          <p:nvPr/>
        </p:nvSpPr>
        <p:spPr>
          <a:xfrm>
            <a:off x="2486026" y="4978112"/>
            <a:ext cx="1147000" cy="237010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unconfirmed</a:t>
            </a:r>
            <a:endParaRPr lang="en-GB" dirty="0"/>
          </a:p>
        </p:txBody>
      </p:sp>
      <p:sp>
        <p:nvSpPr>
          <p:cNvPr id="56" name="Abgerundetes Rechteck 55"/>
          <p:cNvSpPr/>
          <p:nvPr/>
        </p:nvSpPr>
        <p:spPr>
          <a:xfrm>
            <a:off x="1785680" y="5970058"/>
            <a:ext cx="1847345" cy="612934"/>
          </a:xfrm>
          <a:prstGeom prst="roundRect">
            <a:avLst/>
          </a:prstGeom>
          <a:solidFill>
            <a:srgbClr val="ABE3FF"/>
          </a:solidFill>
        </p:spPr>
        <p:txBody>
          <a:bodyPr wrap="square" lIns="36000" tIns="0" rIns="36000" bIns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1200" b="1" dirty="0">
                <a:solidFill>
                  <a:srgbClr val="000000"/>
                </a:solidFill>
              </a:rPr>
              <a:t>3578005 |Structure of body of gallbladder (body structure)|</a:t>
            </a:r>
          </a:p>
        </p:txBody>
      </p:sp>
      <p:grpSp>
        <p:nvGrpSpPr>
          <p:cNvPr id="57" name="Gruppieren 56"/>
          <p:cNvGrpSpPr/>
          <p:nvPr/>
        </p:nvGrpSpPr>
        <p:grpSpPr>
          <a:xfrm>
            <a:off x="4379337" y="4592215"/>
            <a:ext cx="2028825" cy="1726862"/>
            <a:chOff x="286256" y="1727538"/>
            <a:chExt cx="2028825" cy="1726862"/>
          </a:xfrm>
        </p:grpSpPr>
        <p:cxnSp>
          <p:nvCxnSpPr>
            <p:cNvPr id="58" name="Gerader Verbinder 57"/>
            <p:cNvCxnSpPr/>
            <p:nvPr/>
          </p:nvCxnSpPr>
          <p:spPr>
            <a:xfrm>
              <a:off x="375663" y="3007197"/>
              <a:ext cx="358268" cy="0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Gerader Verbinder 58"/>
            <p:cNvCxnSpPr/>
            <p:nvPr/>
          </p:nvCxnSpPr>
          <p:spPr>
            <a:xfrm>
              <a:off x="375663" y="2632547"/>
              <a:ext cx="358268" cy="0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Gerader Verbinder 59"/>
            <p:cNvCxnSpPr/>
            <p:nvPr/>
          </p:nvCxnSpPr>
          <p:spPr>
            <a:xfrm>
              <a:off x="382013" y="2232497"/>
              <a:ext cx="358268" cy="0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1" name="Grafik 6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6256" y="1727538"/>
              <a:ext cx="1152525" cy="209550"/>
            </a:xfrm>
            <a:prstGeom prst="rect">
              <a:avLst/>
            </a:prstGeom>
          </p:spPr>
        </p:pic>
        <p:pic>
          <p:nvPicPr>
            <p:cNvPr id="62" name="Grafik 61"/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7F7F7"/>
                </a:clrFrom>
                <a:clrTo>
                  <a:srgbClr val="F7F7F7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524381" y="2113435"/>
              <a:ext cx="1790700" cy="238125"/>
            </a:xfrm>
            <a:prstGeom prst="rect">
              <a:avLst/>
            </a:prstGeom>
          </p:spPr>
        </p:pic>
        <p:pic>
          <p:nvPicPr>
            <p:cNvPr id="63" name="Grafik 6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3431" y="2504162"/>
              <a:ext cx="771525" cy="238125"/>
            </a:xfrm>
            <a:prstGeom prst="rect">
              <a:avLst/>
            </a:prstGeom>
          </p:spPr>
        </p:pic>
        <p:pic>
          <p:nvPicPr>
            <p:cNvPr id="64" name="Grafik 63"/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7F7F7"/>
                </a:clrFrom>
                <a:clrTo>
                  <a:srgbClr val="F7F7F7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543431" y="2875772"/>
              <a:ext cx="1047750" cy="257175"/>
            </a:xfrm>
            <a:prstGeom prst="rect">
              <a:avLst/>
            </a:prstGeom>
          </p:spPr>
        </p:pic>
        <p:cxnSp>
          <p:nvCxnSpPr>
            <p:cNvPr id="65" name="Gerader Verbinder 64"/>
            <p:cNvCxnSpPr/>
            <p:nvPr/>
          </p:nvCxnSpPr>
          <p:spPr>
            <a:xfrm flipH="1">
              <a:off x="374650" y="1892638"/>
              <a:ext cx="3682" cy="1561762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6" name="Abgerundetes Rechteck 65"/>
          <p:cNvSpPr/>
          <p:nvPr/>
        </p:nvSpPr>
        <p:spPr>
          <a:xfrm>
            <a:off x="5608726" y="5210552"/>
            <a:ext cx="6252408" cy="612934"/>
          </a:xfrm>
          <a:prstGeom prst="roundRect">
            <a:avLst/>
          </a:prstGeom>
          <a:solidFill>
            <a:srgbClr val="ABE3FF"/>
          </a:solidFill>
        </p:spPr>
        <p:txBody>
          <a:bodyPr wrap="square" lIns="36000" tIns="0" rIns="3600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sz="1200" b="1" dirty="0">
                <a:solidFill>
                  <a:srgbClr val="000000"/>
                </a:solidFill>
              </a:rPr>
              <a:t>41769001 |Disease suspected (situation)| 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sz="1200" b="1" dirty="0">
                <a:solidFill>
                  <a:srgbClr val="000000"/>
                </a:solidFill>
              </a:rPr>
              <a:t>     { 246090004 |Associated finding (attribute)| = 235919008 |Gallbladder calculus (disorder)|,             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sz="1200" b="1" dirty="0">
                <a:solidFill>
                  <a:srgbClr val="000000"/>
                </a:solidFill>
              </a:rPr>
              <a:t>       408729009 |Finding context (attribute)| = 415684004 |Suspected (qualifier value)| }</a:t>
            </a:r>
          </a:p>
        </p:txBody>
      </p:sp>
      <p:pic>
        <p:nvPicPr>
          <p:cNvPr id="9" name="Grafik 8"/>
          <p:cNvPicPr>
            <a:picLocks noChangeAspect="1"/>
          </p:cNvPicPr>
          <p:nvPr/>
        </p:nvPicPr>
        <p:blipFill>
          <a:blip r:embed="rId6">
            <a:clrChange>
              <a:clrFrom>
                <a:srgbClr val="F5F5F5"/>
              </a:clrFrom>
              <a:clrTo>
                <a:srgbClr val="F5F5F5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49687" y="1293373"/>
            <a:ext cx="3600450" cy="609600"/>
          </a:xfrm>
          <a:prstGeom prst="rect">
            <a:avLst/>
          </a:prstGeom>
        </p:spPr>
      </p:pic>
      <p:pic>
        <p:nvPicPr>
          <p:cNvPr id="10" name="Grafik 9"/>
          <p:cNvPicPr>
            <a:picLocks noChangeAspect="1"/>
          </p:cNvPicPr>
          <p:nvPr/>
        </p:nvPicPr>
        <p:blipFill>
          <a:blip r:embed="rId7">
            <a:clrChange>
              <a:clrFrom>
                <a:srgbClr val="E6E6E6"/>
              </a:clrFrom>
              <a:clrTo>
                <a:srgbClr val="E6E6E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509625" y="1365442"/>
            <a:ext cx="2529560" cy="537531"/>
          </a:xfrm>
          <a:prstGeom prst="rect">
            <a:avLst/>
          </a:prstGeom>
        </p:spPr>
      </p:pic>
      <p:sp>
        <p:nvSpPr>
          <p:cNvPr id="68" name="Abgerundetes Rechteck 67"/>
          <p:cNvSpPr/>
          <p:nvPr/>
        </p:nvSpPr>
        <p:spPr>
          <a:xfrm>
            <a:off x="190882" y="1986740"/>
            <a:ext cx="3759255" cy="2081263"/>
          </a:xfrm>
          <a:prstGeom prst="roundRect">
            <a:avLst>
              <a:gd name="adj" fmla="val 3905"/>
            </a:avLst>
          </a:prstGeom>
          <a:solidFill>
            <a:schemeClr val="bg1">
              <a:lumMod val="85000"/>
              <a:alpha val="7059"/>
            </a:schemeClr>
          </a:solidFill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9" name="Abgerundetes Rechteck 68"/>
          <p:cNvSpPr/>
          <p:nvPr/>
        </p:nvSpPr>
        <p:spPr>
          <a:xfrm>
            <a:off x="4187824" y="1986740"/>
            <a:ext cx="3759255" cy="2081263"/>
          </a:xfrm>
          <a:prstGeom prst="roundRect">
            <a:avLst>
              <a:gd name="adj" fmla="val 3905"/>
            </a:avLst>
          </a:prstGeom>
          <a:solidFill>
            <a:schemeClr val="bg1">
              <a:lumMod val="85000"/>
              <a:alpha val="7059"/>
            </a:schemeClr>
          </a:solidFill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0" name="Abgerundetes Rechteck 69"/>
          <p:cNvSpPr/>
          <p:nvPr/>
        </p:nvSpPr>
        <p:spPr>
          <a:xfrm>
            <a:off x="190882" y="4445077"/>
            <a:ext cx="3759255" cy="2270048"/>
          </a:xfrm>
          <a:prstGeom prst="roundRect">
            <a:avLst>
              <a:gd name="adj" fmla="val 3905"/>
            </a:avLst>
          </a:prstGeom>
          <a:solidFill>
            <a:schemeClr val="bg1">
              <a:lumMod val="85000"/>
              <a:alpha val="7059"/>
            </a:schemeClr>
          </a:solidFill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1" name="Abgerundetes Rechteck 70"/>
          <p:cNvSpPr/>
          <p:nvPr/>
        </p:nvSpPr>
        <p:spPr>
          <a:xfrm>
            <a:off x="4187824" y="4445077"/>
            <a:ext cx="7756197" cy="2270048"/>
          </a:xfrm>
          <a:prstGeom prst="roundRect">
            <a:avLst>
              <a:gd name="adj" fmla="val 3905"/>
            </a:avLst>
          </a:prstGeom>
          <a:solidFill>
            <a:schemeClr val="bg1">
              <a:lumMod val="85000"/>
              <a:alpha val="7059"/>
            </a:schemeClr>
          </a:solidFill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2" name="Abgerundetes Rechteck 71"/>
          <p:cNvSpPr/>
          <p:nvPr/>
        </p:nvSpPr>
        <p:spPr>
          <a:xfrm>
            <a:off x="8184766" y="1997093"/>
            <a:ext cx="3759255" cy="2081263"/>
          </a:xfrm>
          <a:prstGeom prst="roundRect">
            <a:avLst>
              <a:gd name="adj" fmla="val 3905"/>
            </a:avLst>
          </a:prstGeom>
          <a:solidFill>
            <a:schemeClr val="bg1">
              <a:lumMod val="85000"/>
              <a:alpha val="7059"/>
            </a:schemeClr>
          </a:solidFill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Titel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Resolve competing semantic representations</a:t>
            </a:r>
          </a:p>
        </p:txBody>
      </p:sp>
      <p:sp>
        <p:nvSpPr>
          <p:cNvPr id="17" name="Rechteck 16"/>
          <p:cNvSpPr/>
          <p:nvPr/>
        </p:nvSpPr>
        <p:spPr>
          <a:xfrm>
            <a:off x="5365253" y="6143865"/>
            <a:ext cx="64958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GB" sz="2400" b="1" dirty="0">
                <a:solidFill>
                  <a:srgbClr val="C00000"/>
                </a:solidFill>
              </a:rPr>
              <a:t>Use logical reasoning to recognize equivalence?</a:t>
            </a:r>
          </a:p>
        </p:txBody>
      </p:sp>
    </p:spTree>
    <p:extLst>
      <p:ext uri="{BB962C8B-B14F-4D97-AF65-F5344CB8AC3E}">
        <p14:creationId xmlns:p14="http://schemas.microsoft.com/office/powerpoint/2010/main" val="1370971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371" name="Rectangle 3"/>
          <p:cNvSpPr>
            <a:spLocks noChangeArrowheads="1"/>
          </p:cNvSpPr>
          <p:nvPr/>
        </p:nvSpPr>
        <p:spPr bwMode="auto">
          <a:xfrm>
            <a:off x="2566989" y="2857501"/>
            <a:ext cx="720725" cy="284163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466372" name="Rectangle 4"/>
          <p:cNvSpPr>
            <a:spLocks noChangeArrowheads="1"/>
          </p:cNvSpPr>
          <p:nvPr/>
        </p:nvSpPr>
        <p:spPr bwMode="auto">
          <a:xfrm>
            <a:off x="3575051" y="2657476"/>
            <a:ext cx="720725" cy="284163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466373" name="Rectangle 5"/>
          <p:cNvSpPr>
            <a:spLocks noChangeArrowheads="1"/>
          </p:cNvSpPr>
          <p:nvPr/>
        </p:nvSpPr>
        <p:spPr bwMode="auto">
          <a:xfrm>
            <a:off x="5159376" y="2657476"/>
            <a:ext cx="720725" cy="284163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466374" name="Rectangle 6"/>
          <p:cNvSpPr>
            <a:spLocks noChangeArrowheads="1"/>
          </p:cNvSpPr>
          <p:nvPr/>
        </p:nvSpPr>
        <p:spPr bwMode="auto">
          <a:xfrm>
            <a:off x="4295776" y="2513013"/>
            <a:ext cx="720725" cy="284162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466375" name="Rectangle 7"/>
          <p:cNvSpPr>
            <a:spLocks noChangeArrowheads="1"/>
          </p:cNvSpPr>
          <p:nvPr/>
        </p:nvSpPr>
        <p:spPr bwMode="auto">
          <a:xfrm>
            <a:off x="2998789" y="2441576"/>
            <a:ext cx="720725" cy="284163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466376" name="Rectangle 8"/>
          <p:cNvSpPr>
            <a:spLocks noChangeArrowheads="1"/>
          </p:cNvSpPr>
          <p:nvPr/>
        </p:nvSpPr>
        <p:spPr bwMode="auto">
          <a:xfrm>
            <a:off x="5664201" y="2441576"/>
            <a:ext cx="720725" cy="284163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466377" name="Rectangle 9"/>
          <p:cNvSpPr>
            <a:spLocks noChangeArrowheads="1"/>
          </p:cNvSpPr>
          <p:nvPr/>
        </p:nvSpPr>
        <p:spPr bwMode="auto">
          <a:xfrm>
            <a:off x="6456364" y="2586038"/>
            <a:ext cx="720725" cy="284162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466378" name="Rectangle 10"/>
          <p:cNvSpPr>
            <a:spLocks noChangeArrowheads="1"/>
          </p:cNvSpPr>
          <p:nvPr/>
        </p:nvSpPr>
        <p:spPr bwMode="auto">
          <a:xfrm>
            <a:off x="6096001" y="2728913"/>
            <a:ext cx="720725" cy="284162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466379" name="Rectangle 11"/>
          <p:cNvSpPr>
            <a:spLocks noChangeArrowheads="1"/>
          </p:cNvSpPr>
          <p:nvPr/>
        </p:nvSpPr>
        <p:spPr bwMode="auto">
          <a:xfrm>
            <a:off x="7031039" y="2728913"/>
            <a:ext cx="720725" cy="284162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466380" name="Rectangle 12"/>
          <p:cNvSpPr>
            <a:spLocks noChangeArrowheads="1"/>
          </p:cNvSpPr>
          <p:nvPr/>
        </p:nvSpPr>
        <p:spPr bwMode="auto">
          <a:xfrm>
            <a:off x="7680326" y="2586038"/>
            <a:ext cx="720725" cy="284162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466381" name="Rectangle 13"/>
          <p:cNvSpPr>
            <a:spLocks noChangeArrowheads="1"/>
          </p:cNvSpPr>
          <p:nvPr/>
        </p:nvSpPr>
        <p:spPr bwMode="auto">
          <a:xfrm>
            <a:off x="3575051" y="2078039"/>
            <a:ext cx="288925" cy="79375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466382" name="Rectangle 14"/>
          <p:cNvSpPr>
            <a:spLocks noChangeArrowheads="1"/>
          </p:cNvSpPr>
          <p:nvPr/>
        </p:nvSpPr>
        <p:spPr bwMode="auto">
          <a:xfrm>
            <a:off x="4078289" y="1993901"/>
            <a:ext cx="288925" cy="79375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466383" name="Rectangle 15"/>
          <p:cNvSpPr>
            <a:spLocks noChangeArrowheads="1"/>
          </p:cNvSpPr>
          <p:nvPr/>
        </p:nvSpPr>
        <p:spPr bwMode="auto">
          <a:xfrm>
            <a:off x="4941889" y="2286001"/>
            <a:ext cx="288925" cy="79375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466384" name="Rectangle 16"/>
          <p:cNvSpPr>
            <a:spLocks noChangeArrowheads="1"/>
          </p:cNvSpPr>
          <p:nvPr/>
        </p:nvSpPr>
        <p:spPr bwMode="auto">
          <a:xfrm>
            <a:off x="5662614" y="1993901"/>
            <a:ext cx="288925" cy="79375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466385" name="Rectangle 17"/>
          <p:cNvSpPr>
            <a:spLocks noChangeArrowheads="1"/>
          </p:cNvSpPr>
          <p:nvPr/>
        </p:nvSpPr>
        <p:spPr bwMode="auto">
          <a:xfrm>
            <a:off x="4799014" y="1849439"/>
            <a:ext cx="288925" cy="79375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466386" name="Rectangle 18"/>
          <p:cNvSpPr>
            <a:spLocks noChangeArrowheads="1"/>
          </p:cNvSpPr>
          <p:nvPr/>
        </p:nvSpPr>
        <p:spPr bwMode="auto">
          <a:xfrm>
            <a:off x="4583114" y="1862139"/>
            <a:ext cx="288925" cy="79375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466387" name="Rectangle 19"/>
          <p:cNvSpPr>
            <a:spLocks noChangeArrowheads="1"/>
          </p:cNvSpPr>
          <p:nvPr/>
        </p:nvSpPr>
        <p:spPr bwMode="auto">
          <a:xfrm>
            <a:off x="6167439" y="1778001"/>
            <a:ext cx="288925" cy="79375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466388" name="Rectangle 20"/>
          <p:cNvSpPr>
            <a:spLocks noChangeArrowheads="1"/>
          </p:cNvSpPr>
          <p:nvPr/>
        </p:nvSpPr>
        <p:spPr bwMode="auto">
          <a:xfrm>
            <a:off x="6959601" y="1922464"/>
            <a:ext cx="288925" cy="79375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466389" name="Rectangle 21"/>
          <p:cNvSpPr>
            <a:spLocks noChangeArrowheads="1"/>
          </p:cNvSpPr>
          <p:nvPr/>
        </p:nvSpPr>
        <p:spPr bwMode="auto">
          <a:xfrm>
            <a:off x="6022976" y="2286001"/>
            <a:ext cx="288925" cy="79375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466390" name="Rectangle 22"/>
          <p:cNvSpPr>
            <a:spLocks noChangeArrowheads="1"/>
          </p:cNvSpPr>
          <p:nvPr/>
        </p:nvSpPr>
        <p:spPr bwMode="auto">
          <a:xfrm>
            <a:off x="7031039" y="2286001"/>
            <a:ext cx="288925" cy="79375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466391" name="Rectangle 23"/>
          <p:cNvSpPr>
            <a:spLocks noChangeArrowheads="1"/>
          </p:cNvSpPr>
          <p:nvPr/>
        </p:nvSpPr>
        <p:spPr bwMode="auto">
          <a:xfrm>
            <a:off x="6599239" y="2065339"/>
            <a:ext cx="288925" cy="79375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466392" name="Rectangle 24"/>
          <p:cNvSpPr>
            <a:spLocks noChangeArrowheads="1"/>
          </p:cNvSpPr>
          <p:nvPr/>
        </p:nvSpPr>
        <p:spPr bwMode="auto">
          <a:xfrm>
            <a:off x="7534276" y="2065339"/>
            <a:ext cx="288925" cy="79375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466393" name="Rectangle 25"/>
          <p:cNvSpPr>
            <a:spLocks noChangeArrowheads="1"/>
          </p:cNvSpPr>
          <p:nvPr/>
        </p:nvSpPr>
        <p:spPr bwMode="auto">
          <a:xfrm>
            <a:off x="7967664" y="2286001"/>
            <a:ext cx="288925" cy="79375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466394" name="Rectangle 26"/>
          <p:cNvSpPr>
            <a:spLocks noChangeArrowheads="1"/>
          </p:cNvSpPr>
          <p:nvPr/>
        </p:nvSpPr>
        <p:spPr bwMode="auto">
          <a:xfrm>
            <a:off x="8183564" y="1922464"/>
            <a:ext cx="288925" cy="79375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466395" name="Rectangle 27"/>
          <p:cNvSpPr>
            <a:spLocks noChangeArrowheads="1"/>
          </p:cNvSpPr>
          <p:nvPr/>
        </p:nvSpPr>
        <p:spPr bwMode="auto">
          <a:xfrm>
            <a:off x="3933826" y="2286001"/>
            <a:ext cx="288925" cy="79375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466396" name="Rectangle 28"/>
          <p:cNvSpPr>
            <a:spLocks noChangeArrowheads="1"/>
          </p:cNvSpPr>
          <p:nvPr/>
        </p:nvSpPr>
        <p:spPr bwMode="auto">
          <a:xfrm>
            <a:off x="3286126" y="2278064"/>
            <a:ext cx="288925" cy="79375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466397" name="Rectangle 29"/>
          <p:cNvSpPr>
            <a:spLocks noChangeArrowheads="1"/>
          </p:cNvSpPr>
          <p:nvPr/>
        </p:nvSpPr>
        <p:spPr bwMode="auto">
          <a:xfrm>
            <a:off x="4294189" y="2078039"/>
            <a:ext cx="288925" cy="79375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466398" name="Rectangle 30"/>
          <p:cNvSpPr>
            <a:spLocks noChangeArrowheads="1"/>
          </p:cNvSpPr>
          <p:nvPr/>
        </p:nvSpPr>
        <p:spPr bwMode="auto">
          <a:xfrm>
            <a:off x="5157789" y="2370139"/>
            <a:ext cx="288925" cy="79375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466399" name="Rectangle 31"/>
          <p:cNvSpPr>
            <a:spLocks noChangeArrowheads="1"/>
          </p:cNvSpPr>
          <p:nvPr/>
        </p:nvSpPr>
        <p:spPr bwMode="auto">
          <a:xfrm>
            <a:off x="5878514" y="2078039"/>
            <a:ext cx="288925" cy="79375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466400" name="Rectangle 32"/>
          <p:cNvSpPr>
            <a:spLocks noChangeArrowheads="1"/>
          </p:cNvSpPr>
          <p:nvPr/>
        </p:nvSpPr>
        <p:spPr bwMode="auto">
          <a:xfrm>
            <a:off x="5014914" y="1933576"/>
            <a:ext cx="288925" cy="79375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466401" name="Rectangle 33"/>
          <p:cNvSpPr>
            <a:spLocks noChangeArrowheads="1"/>
          </p:cNvSpPr>
          <p:nvPr/>
        </p:nvSpPr>
        <p:spPr bwMode="auto">
          <a:xfrm>
            <a:off x="3717926" y="1862139"/>
            <a:ext cx="288925" cy="79375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466402" name="Rectangle 34"/>
          <p:cNvSpPr>
            <a:spLocks noChangeArrowheads="1"/>
          </p:cNvSpPr>
          <p:nvPr/>
        </p:nvSpPr>
        <p:spPr bwMode="auto">
          <a:xfrm>
            <a:off x="6383339" y="1862139"/>
            <a:ext cx="288925" cy="79375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466403" name="Rectangle 35"/>
          <p:cNvSpPr>
            <a:spLocks noChangeArrowheads="1"/>
          </p:cNvSpPr>
          <p:nvPr/>
        </p:nvSpPr>
        <p:spPr bwMode="auto">
          <a:xfrm>
            <a:off x="7175501" y="2006601"/>
            <a:ext cx="288925" cy="79375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466404" name="Rectangle 36"/>
          <p:cNvSpPr>
            <a:spLocks noChangeArrowheads="1"/>
          </p:cNvSpPr>
          <p:nvPr/>
        </p:nvSpPr>
        <p:spPr bwMode="auto">
          <a:xfrm>
            <a:off x="6238876" y="2370139"/>
            <a:ext cx="288925" cy="79375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466405" name="Rectangle 37"/>
          <p:cNvSpPr>
            <a:spLocks noChangeArrowheads="1"/>
          </p:cNvSpPr>
          <p:nvPr/>
        </p:nvSpPr>
        <p:spPr bwMode="auto">
          <a:xfrm>
            <a:off x="7246939" y="2370139"/>
            <a:ext cx="288925" cy="79375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466406" name="Rectangle 38"/>
          <p:cNvSpPr>
            <a:spLocks noChangeArrowheads="1"/>
          </p:cNvSpPr>
          <p:nvPr/>
        </p:nvSpPr>
        <p:spPr bwMode="auto">
          <a:xfrm>
            <a:off x="6815139" y="2149476"/>
            <a:ext cx="288925" cy="79375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466407" name="Rectangle 39"/>
          <p:cNvSpPr>
            <a:spLocks noChangeArrowheads="1"/>
          </p:cNvSpPr>
          <p:nvPr/>
        </p:nvSpPr>
        <p:spPr bwMode="auto">
          <a:xfrm>
            <a:off x="7750176" y="2149476"/>
            <a:ext cx="288925" cy="79375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466408" name="Rectangle 40"/>
          <p:cNvSpPr>
            <a:spLocks noChangeArrowheads="1"/>
          </p:cNvSpPr>
          <p:nvPr/>
        </p:nvSpPr>
        <p:spPr bwMode="auto">
          <a:xfrm>
            <a:off x="8183564" y="2370139"/>
            <a:ext cx="288925" cy="79375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466409" name="Rectangle 41"/>
          <p:cNvSpPr>
            <a:spLocks noChangeArrowheads="1"/>
          </p:cNvSpPr>
          <p:nvPr/>
        </p:nvSpPr>
        <p:spPr bwMode="auto">
          <a:xfrm>
            <a:off x="8399464" y="2006601"/>
            <a:ext cx="288925" cy="79375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466410" name="Rectangle 42"/>
          <p:cNvSpPr>
            <a:spLocks noChangeArrowheads="1"/>
          </p:cNvSpPr>
          <p:nvPr/>
        </p:nvSpPr>
        <p:spPr bwMode="auto">
          <a:xfrm>
            <a:off x="4149726" y="2370139"/>
            <a:ext cx="288925" cy="79375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466411" name="Rectangle 43"/>
          <p:cNvSpPr>
            <a:spLocks noChangeArrowheads="1"/>
          </p:cNvSpPr>
          <p:nvPr/>
        </p:nvSpPr>
        <p:spPr bwMode="auto">
          <a:xfrm>
            <a:off x="3357564" y="2149476"/>
            <a:ext cx="288925" cy="79375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466412" name="Rectangle 44"/>
          <p:cNvSpPr>
            <a:spLocks noChangeArrowheads="1"/>
          </p:cNvSpPr>
          <p:nvPr/>
        </p:nvSpPr>
        <p:spPr bwMode="auto">
          <a:xfrm>
            <a:off x="4292601" y="2005014"/>
            <a:ext cx="288925" cy="79375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466413" name="Rectangle 45"/>
          <p:cNvSpPr>
            <a:spLocks noChangeArrowheads="1"/>
          </p:cNvSpPr>
          <p:nvPr/>
        </p:nvSpPr>
        <p:spPr bwMode="auto">
          <a:xfrm>
            <a:off x="5157789" y="2220914"/>
            <a:ext cx="288925" cy="79375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466414" name="Rectangle 46"/>
          <p:cNvSpPr>
            <a:spLocks noChangeArrowheads="1"/>
          </p:cNvSpPr>
          <p:nvPr/>
        </p:nvSpPr>
        <p:spPr bwMode="auto">
          <a:xfrm>
            <a:off x="5876926" y="2005014"/>
            <a:ext cx="288925" cy="79375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466415" name="Rectangle 47"/>
          <p:cNvSpPr>
            <a:spLocks noChangeArrowheads="1"/>
          </p:cNvSpPr>
          <p:nvPr/>
        </p:nvSpPr>
        <p:spPr bwMode="auto">
          <a:xfrm>
            <a:off x="5013326" y="1860551"/>
            <a:ext cx="288925" cy="79375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466416" name="Rectangle 48"/>
          <p:cNvSpPr>
            <a:spLocks noChangeArrowheads="1"/>
          </p:cNvSpPr>
          <p:nvPr/>
        </p:nvSpPr>
        <p:spPr bwMode="auto">
          <a:xfrm>
            <a:off x="3717926" y="1933576"/>
            <a:ext cx="288925" cy="79375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466417" name="Rectangle 49"/>
          <p:cNvSpPr>
            <a:spLocks noChangeArrowheads="1"/>
          </p:cNvSpPr>
          <p:nvPr/>
        </p:nvSpPr>
        <p:spPr bwMode="auto">
          <a:xfrm>
            <a:off x="6381751" y="1789114"/>
            <a:ext cx="288925" cy="79375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466418" name="Rectangle 50"/>
          <p:cNvSpPr>
            <a:spLocks noChangeArrowheads="1"/>
          </p:cNvSpPr>
          <p:nvPr/>
        </p:nvSpPr>
        <p:spPr bwMode="auto">
          <a:xfrm>
            <a:off x="7173914" y="1933576"/>
            <a:ext cx="288925" cy="79375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466419" name="Rectangle 51"/>
          <p:cNvSpPr>
            <a:spLocks noChangeArrowheads="1"/>
          </p:cNvSpPr>
          <p:nvPr/>
        </p:nvSpPr>
        <p:spPr bwMode="auto">
          <a:xfrm>
            <a:off x="6526214" y="2149476"/>
            <a:ext cx="288925" cy="79375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466420" name="Rectangle 52"/>
          <p:cNvSpPr>
            <a:spLocks noChangeArrowheads="1"/>
          </p:cNvSpPr>
          <p:nvPr/>
        </p:nvSpPr>
        <p:spPr bwMode="auto">
          <a:xfrm>
            <a:off x="7245351" y="2297114"/>
            <a:ext cx="288925" cy="79375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466421" name="Rectangle 53"/>
          <p:cNvSpPr>
            <a:spLocks noChangeArrowheads="1"/>
          </p:cNvSpPr>
          <p:nvPr/>
        </p:nvSpPr>
        <p:spPr bwMode="auto">
          <a:xfrm>
            <a:off x="6813551" y="2076451"/>
            <a:ext cx="288925" cy="79375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466422" name="Rectangle 54"/>
          <p:cNvSpPr>
            <a:spLocks noChangeArrowheads="1"/>
          </p:cNvSpPr>
          <p:nvPr/>
        </p:nvSpPr>
        <p:spPr bwMode="auto">
          <a:xfrm>
            <a:off x="7748589" y="2076451"/>
            <a:ext cx="288925" cy="79375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466423" name="Rectangle 55"/>
          <p:cNvSpPr>
            <a:spLocks noChangeArrowheads="1"/>
          </p:cNvSpPr>
          <p:nvPr/>
        </p:nvSpPr>
        <p:spPr bwMode="auto">
          <a:xfrm>
            <a:off x="8181976" y="2297114"/>
            <a:ext cx="288925" cy="79375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466424" name="Rectangle 56"/>
          <p:cNvSpPr>
            <a:spLocks noChangeArrowheads="1"/>
          </p:cNvSpPr>
          <p:nvPr/>
        </p:nvSpPr>
        <p:spPr bwMode="auto">
          <a:xfrm>
            <a:off x="8110539" y="2005014"/>
            <a:ext cx="288925" cy="79375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466425" name="Rectangle 57"/>
          <p:cNvSpPr>
            <a:spLocks noChangeArrowheads="1"/>
          </p:cNvSpPr>
          <p:nvPr/>
        </p:nvSpPr>
        <p:spPr bwMode="auto">
          <a:xfrm>
            <a:off x="4006851" y="2149476"/>
            <a:ext cx="288925" cy="79375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466426" name="Rectangle 58"/>
          <p:cNvSpPr>
            <a:spLocks noChangeArrowheads="1"/>
          </p:cNvSpPr>
          <p:nvPr/>
        </p:nvSpPr>
        <p:spPr bwMode="auto">
          <a:xfrm>
            <a:off x="3500439" y="2420939"/>
            <a:ext cx="288925" cy="79375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466427" name="Rectangle 59"/>
          <p:cNvSpPr>
            <a:spLocks noChangeArrowheads="1"/>
          </p:cNvSpPr>
          <p:nvPr/>
        </p:nvSpPr>
        <p:spPr bwMode="auto">
          <a:xfrm>
            <a:off x="4508501" y="2220914"/>
            <a:ext cx="288925" cy="79375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466428" name="Rectangle 60"/>
          <p:cNvSpPr>
            <a:spLocks noChangeArrowheads="1"/>
          </p:cNvSpPr>
          <p:nvPr/>
        </p:nvSpPr>
        <p:spPr bwMode="auto">
          <a:xfrm>
            <a:off x="5662614" y="2149476"/>
            <a:ext cx="288925" cy="79375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466429" name="Rectangle 61"/>
          <p:cNvSpPr>
            <a:spLocks noChangeArrowheads="1"/>
          </p:cNvSpPr>
          <p:nvPr/>
        </p:nvSpPr>
        <p:spPr bwMode="auto">
          <a:xfrm>
            <a:off x="6092826" y="2220914"/>
            <a:ext cx="288925" cy="79375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466430" name="Rectangle 62"/>
          <p:cNvSpPr>
            <a:spLocks noChangeArrowheads="1"/>
          </p:cNvSpPr>
          <p:nvPr/>
        </p:nvSpPr>
        <p:spPr bwMode="auto">
          <a:xfrm>
            <a:off x="5229226" y="2076451"/>
            <a:ext cx="288925" cy="79375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466431" name="Rectangle 63"/>
          <p:cNvSpPr>
            <a:spLocks noChangeArrowheads="1"/>
          </p:cNvSpPr>
          <p:nvPr/>
        </p:nvSpPr>
        <p:spPr bwMode="auto">
          <a:xfrm>
            <a:off x="3932239" y="2005014"/>
            <a:ext cx="288925" cy="79375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466432" name="Rectangle 64"/>
          <p:cNvSpPr>
            <a:spLocks noChangeArrowheads="1"/>
          </p:cNvSpPr>
          <p:nvPr/>
        </p:nvSpPr>
        <p:spPr bwMode="auto">
          <a:xfrm>
            <a:off x="6597651" y="2005014"/>
            <a:ext cx="288925" cy="79375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466433" name="Rectangle 65"/>
          <p:cNvSpPr>
            <a:spLocks noChangeArrowheads="1"/>
          </p:cNvSpPr>
          <p:nvPr/>
        </p:nvSpPr>
        <p:spPr bwMode="auto">
          <a:xfrm>
            <a:off x="7389814" y="2149476"/>
            <a:ext cx="288925" cy="79375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466434" name="Rectangle 66"/>
          <p:cNvSpPr>
            <a:spLocks noChangeArrowheads="1"/>
          </p:cNvSpPr>
          <p:nvPr/>
        </p:nvSpPr>
        <p:spPr bwMode="auto">
          <a:xfrm>
            <a:off x="6670676" y="2438401"/>
            <a:ext cx="288925" cy="79375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466435" name="Rectangle 67"/>
          <p:cNvSpPr>
            <a:spLocks noChangeArrowheads="1"/>
          </p:cNvSpPr>
          <p:nvPr/>
        </p:nvSpPr>
        <p:spPr bwMode="auto">
          <a:xfrm>
            <a:off x="7461251" y="2513014"/>
            <a:ext cx="288925" cy="79375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466436" name="Rectangle 68"/>
          <p:cNvSpPr>
            <a:spLocks noChangeArrowheads="1"/>
          </p:cNvSpPr>
          <p:nvPr/>
        </p:nvSpPr>
        <p:spPr bwMode="auto">
          <a:xfrm>
            <a:off x="7029451" y="2292351"/>
            <a:ext cx="288925" cy="79375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466437" name="Rectangle 69"/>
          <p:cNvSpPr>
            <a:spLocks noChangeArrowheads="1"/>
          </p:cNvSpPr>
          <p:nvPr/>
        </p:nvSpPr>
        <p:spPr bwMode="auto">
          <a:xfrm>
            <a:off x="7964489" y="2292351"/>
            <a:ext cx="288925" cy="79375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466438" name="Rectangle 70"/>
          <p:cNvSpPr>
            <a:spLocks noChangeArrowheads="1"/>
          </p:cNvSpPr>
          <p:nvPr/>
        </p:nvSpPr>
        <p:spPr bwMode="auto">
          <a:xfrm>
            <a:off x="8397876" y="2513014"/>
            <a:ext cx="288925" cy="79375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466439" name="Rectangle 71"/>
          <p:cNvSpPr>
            <a:spLocks noChangeArrowheads="1"/>
          </p:cNvSpPr>
          <p:nvPr/>
        </p:nvSpPr>
        <p:spPr bwMode="auto">
          <a:xfrm>
            <a:off x="8613776" y="2149476"/>
            <a:ext cx="288925" cy="79375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466440" name="Rectangle 72"/>
          <p:cNvSpPr>
            <a:spLocks noChangeArrowheads="1"/>
          </p:cNvSpPr>
          <p:nvPr/>
        </p:nvSpPr>
        <p:spPr bwMode="auto">
          <a:xfrm>
            <a:off x="4364039" y="2513014"/>
            <a:ext cx="288925" cy="79375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466441" name="Rectangle 73"/>
          <p:cNvSpPr>
            <a:spLocks noChangeArrowheads="1"/>
          </p:cNvSpPr>
          <p:nvPr/>
        </p:nvSpPr>
        <p:spPr bwMode="auto">
          <a:xfrm>
            <a:off x="3716339" y="2278064"/>
            <a:ext cx="288925" cy="79375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466442" name="Rectangle 74"/>
          <p:cNvSpPr>
            <a:spLocks noChangeArrowheads="1"/>
          </p:cNvSpPr>
          <p:nvPr/>
        </p:nvSpPr>
        <p:spPr bwMode="auto">
          <a:xfrm>
            <a:off x="4724401" y="2078039"/>
            <a:ext cx="288925" cy="79375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466443" name="Rectangle 75"/>
          <p:cNvSpPr>
            <a:spLocks noChangeArrowheads="1"/>
          </p:cNvSpPr>
          <p:nvPr/>
        </p:nvSpPr>
        <p:spPr bwMode="auto">
          <a:xfrm>
            <a:off x="5588001" y="2370139"/>
            <a:ext cx="288925" cy="79375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466444" name="Rectangle 76"/>
          <p:cNvSpPr>
            <a:spLocks noChangeArrowheads="1"/>
          </p:cNvSpPr>
          <p:nvPr/>
        </p:nvSpPr>
        <p:spPr bwMode="auto">
          <a:xfrm>
            <a:off x="6308726" y="2078039"/>
            <a:ext cx="288925" cy="79375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466445" name="Rectangle 77"/>
          <p:cNvSpPr>
            <a:spLocks noChangeArrowheads="1"/>
          </p:cNvSpPr>
          <p:nvPr/>
        </p:nvSpPr>
        <p:spPr bwMode="auto">
          <a:xfrm>
            <a:off x="5445126" y="1933576"/>
            <a:ext cx="288925" cy="79375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466446" name="Rectangle 78"/>
          <p:cNvSpPr>
            <a:spLocks noChangeArrowheads="1"/>
          </p:cNvSpPr>
          <p:nvPr/>
        </p:nvSpPr>
        <p:spPr bwMode="auto">
          <a:xfrm>
            <a:off x="4148139" y="1862139"/>
            <a:ext cx="288925" cy="79375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466447" name="Rectangle 79"/>
          <p:cNvSpPr>
            <a:spLocks noChangeArrowheads="1"/>
          </p:cNvSpPr>
          <p:nvPr/>
        </p:nvSpPr>
        <p:spPr bwMode="auto">
          <a:xfrm>
            <a:off x="6813551" y="1862139"/>
            <a:ext cx="288925" cy="79375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466448" name="Rectangle 80"/>
          <p:cNvSpPr>
            <a:spLocks noChangeArrowheads="1"/>
          </p:cNvSpPr>
          <p:nvPr/>
        </p:nvSpPr>
        <p:spPr bwMode="auto">
          <a:xfrm>
            <a:off x="7605714" y="2006601"/>
            <a:ext cx="288925" cy="79375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466449" name="Rectangle 81"/>
          <p:cNvSpPr>
            <a:spLocks noChangeArrowheads="1"/>
          </p:cNvSpPr>
          <p:nvPr/>
        </p:nvSpPr>
        <p:spPr bwMode="auto">
          <a:xfrm>
            <a:off x="6669089" y="2370139"/>
            <a:ext cx="288925" cy="79375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466450" name="Rectangle 82"/>
          <p:cNvSpPr>
            <a:spLocks noChangeArrowheads="1"/>
          </p:cNvSpPr>
          <p:nvPr/>
        </p:nvSpPr>
        <p:spPr bwMode="auto">
          <a:xfrm>
            <a:off x="7677151" y="2370139"/>
            <a:ext cx="288925" cy="79375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466451" name="Rectangle 83"/>
          <p:cNvSpPr>
            <a:spLocks noChangeArrowheads="1"/>
          </p:cNvSpPr>
          <p:nvPr/>
        </p:nvSpPr>
        <p:spPr bwMode="auto">
          <a:xfrm>
            <a:off x="7245351" y="2149476"/>
            <a:ext cx="288925" cy="79375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466452" name="Rectangle 84"/>
          <p:cNvSpPr>
            <a:spLocks noChangeArrowheads="1"/>
          </p:cNvSpPr>
          <p:nvPr/>
        </p:nvSpPr>
        <p:spPr bwMode="auto">
          <a:xfrm>
            <a:off x="8180389" y="2149476"/>
            <a:ext cx="288925" cy="79375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466453" name="Rectangle 85"/>
          <p:cNvSpPr>
            <a:spLocks noChangeArrowheads="1"/>
          </p:cNvSpPr>
          <p:nvPr/>
        </p:nvSpPr>
        <p:spPr bwMode="auto">
          <a:xfrm>
            <a:off x="8613776" y="2370139"/>
            <a:ext cx="288925" cy="79375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466454" name="Rectangle 86"/>
          <p:cNvSpPr>
            <a:spLocks noChangeArrowheads="1"/>
          </p:cNvSpPr>
          <p:nvPr/>
        </p:nvSpPr>
        <p:spPr bwMode="auto">
          <a:xfrm>
            <a:off x="8829676" y="2006601"/>
            <a:ext cx="288925" cy="79375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466455" name="Rectangle 87"/>
          <p:cNvSpPr>
            <a:spLocks noChangeArrowheads="1"/>
          </p:cNvSpPr>
          <p:nvPr/>
        </p:nvSpPr>
        <p:spPr bwMode="auto">
          <a:xfrm>
            <a:off x="4579939" y="2370139"/>
            <a:ext cx="288925" cy="79375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466457" name="Rectangle 89"/>
          <p:cNvSpPr>
            <a:spLocks noChangeArrowheads="1"/>
          </p:cNvSpPr>
          <p:nvPr/>
        </p:nvSpPr>
        <p:spPr bwMode="auto">
          <a:xfrm>
            <a:off x="2249488" y="3068639"/>
            <a:ext cx="895350" cy="466725"/>
          </a:xfrm>
          <a:prstGeom prst="rect">
            <a:avLst/>
          </a:prstGeom>
          <a:solidFill>
            <a:srgbClr val="FFFF99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incisional</a:t>
            </a:r>
            <a:br>
              <a:rPr kumimoji="0" lang="en-US" altLang="de-DE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br>
            <a:r>
              <a:rPr kumimoji="0" lang="en-US" altLang="de-DE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hernia</a:t>
            </a:r>
          </a:p>
        </p:txBody>
      </p:sp>
      <p:sp>
        <p:nvSpPr>
          <p:cNvPr id="1466458" name="Rectangle 90"/>
          <p:cNvSpPr>
            <a:spLocks noChangeArrowheads="1"/>
          </p:cNvSpPr>
          <p:nvPr/>
        </p:nvSpPr>
        <p:spPr bwMode="auto">
          <a:xfrm>
            <a:off x="3617913" y="3213101"/>
            <a:ext cx="1211262" cy="284163"/>
          </a:xfrm>
          <a:prstGeom prst="rect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54000" tIns="46800" rIns="54000" bIns="46800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herniorrhaphy</a:t>
            </a:r>
          </a:p>
        </p:txBody>
      </p:sp>
      <p:sp>
        <p:nvSpPr>
          <p:cNvPr id="1466459" name="Rectangle 91"/>
          <p:cNvSpPr>
            <a:spLocks noChangeArrowheads="1"/>
          </p:cNvSpPr>
          <p:nvPr/>
        </p:nvSpPr>
        <p:spPr bwMode="auto">
          <a:xfrm>
            <a:off x="6210300" y="3068639"/>
            <a:ext cx="928688" cy="466725"/>
          </a:xfrm>
          <a:prstGeom prst="rect">
            <a:avLst/>
          </a:prstGeom>
          <a:solidFill>
            <a:srgbClr val="FF6600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operation </a:t>
            </a:r>
            <a:br>
              <a:rPr kumimoji="0" lang="en-US" altLang="de-DE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br>
            <a:r>
              <a:rPr kumimoji="0" lang="en-US" altLang="de-DE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room</a:t>
            </a:r>
          </a:p>
        </p:txBody>
      </p:sp>
      <p:sp>
        <p:nvSpPr>
          <p:cNvPr id="1466460" name="Rectangle 92"/>
          <p:cNvSpPr>
            <a:spLocks noChangeArrowheads="1"/>
          </p:cNvSpPr>
          <p:nvPr/>
        </p:nvSpPr>
        <p:spPr bwMode="auto">
          <a:xfrm>
            <a:off x="7578725" y="3068639"/>
            <a:ext cx="927100" cy="466725"/>
          </a:xfrm>
          <a:prstGeom prst="rect">
            <a:avLst/>
          </a:prstGeom>
          <a:solidFill>
            <a:srgbClr val="FF7C80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liver </a:t>
            </a:r>
            <a:br>
              <a:rPr kumimoji="0" lang="en-US" altLang="de-DE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br>
            <a:r>
              <a:rPr kumimoji="0" lang="en-US" altLang="de-DE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transplant</a:t>
            </a:r>
          </a:p>
        </p:txBody>
      </p:sp>
      <p:sp>
        <p:nvSpPr>
          <p:cNvPr id="1466461" name="Rectangle 93"/>
          <p:cNvSpPr>
            <a:spLocks noChangeArrowheads="1"/>
          </p:cNvSpPr>
          <p:nvPr/>
        </p:nvSpPr>
        <p:spPr bwMode="auto">
          <a:xfrm>
            <a:off x="4295776" y="1773239"/>
            <a:ext cx="288925" cy="79375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466462" name="Rectangle 94"/>
          <p:cNvSpPr>
            <a:spLocks noChangeArrowheads="1"/>
          </p:cNvSpPr>
          <p:nvPr/>
        </p:nvSpPr>
        <p:spPr bwMode="auto">
          <a:xfrm>
            <a:off x="4800601" y="1700214"/>
            <a:ext cx="288925" cy="79375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466463" name="Rectangle 95"/>
          <p:cNvSpPr>
            <a:spLocks noChangeArrowheads="1"/>
          </p:cNvSpPr>
          <p:nvPr/>
        </p:nvSpPr>
        <p:spPr bwMode="auto">
          <a:xfrm>
            <a:off x="5375276" y="1773239"/>
            <a:ext cx="288925" cy="79375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466464" name="Rectangle 96"/>
          <p:cNvSpPr>
            <a:spLocks noChangeArrowheads="1"/>
          </p:cNvSpPr>
          <p:nvPr/>
        </p:nvSpPr>
        <p:spPr bwMode="auto">
          <a:xfrm>
            <a:off x="5808664" y="1844676"/>
            <a:ext cx="288925" cy="79375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466465" name="Rectangle 97"/>
          <p:cNvSpPr>
            <a:spLocks noChangeArrowheads="1"/>
          </p:cNvSpPr>
          <p:nvPr/>
        </p:nvSpPr>
        <p:spPr bwMode="auto">
          <a:xfrm>
            <a:off x="6167439" y="1844676"/>
            <a:ext cx="288925" cy="79375"/>
          </a:xfrm>
          <a:prstGeom prst="rect">
            <a:avLst/>
          </a:prstGeom>
          <a:solidFill>
            <a:srgbClr val="FFFFCC"/>
          </a:solidFill>
          <a:ln w="9525" algn="ctr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466466" name="Rectangle 98"/>
          <p:cNvSpPr>
            <a:spLocks noChangeArrowheads="1"/>
          </p:cNvSpPr>
          <p:nvPr/>
        </p:nvSpPr>
        <p:spPr bwMode="auto">
          <a:xfrm>
            <a:off x="8904288" y="3216276"/>
            <a:ext cx="1008062" cy="284163"/>
          </a:xfrm>
          <a:prstGeom prst="rect">
            <a:avLst/>
          </a:prstGeom>
          <a:solidFill>
            <a:srgbClr val="FF66CC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operation</a:t>
            </a:r>
          </a:p>
        </p:txBody>
      </p:sp>
      <p:sp>
        <p:nvSpPr>
          <p:cNvPr id="1466467" name="Rectangle 99"/>
          <p:cNvSpPr>
            <a:spLocks noChangeArrowheads="1"/>
          </p:cNvSpPr>
          <p:nvPr/>
        </p:nvSpPr>
        <p:spPr bwMode="auto">
          <a:xfrm>
            <a:off x="2135188" y="3767138"/>
            <a:ext cx="1166812" cy="3099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8000" tIns="46800" rIns="18000" bIns="46800">
            <a:spAutoFit/>
          </a:bodyPr>
          <a:lstStyle>
            <a:lvl1pPr marL="177800" indent="-17780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177800" marR="0" lvl="0" indent="-1778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pt-BR" altLang="de-DE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exists</a:t>
            </a:r>
            <a:endParaRPr kumimoji="0" lang="en-US" altLang="de-DE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466468" name="Rectangle 100"/>
          <p:cNvSpPr>
            <a:spLocks noChangeArrowheads="1"/>
          </p:cNvSpPr>
          <p:nvPr/>
        </p:nvSpPr>
        <p:spPr bwMode="auto">
          <a:xfrm>
            <a:off x="3451226" y="3797301"/>
            <a:ext cx="1439863" cy="7408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8000" tIns="46800" rIns="18000" bIns="46800">
            <a:spAutoFit/>
          </a:bodyPr>
          <a:lstStyle>
            <a:lvl1pPr marL="177800" indent="-17780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177800" marR="0" lvl="0" indent="-1778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pt-BR" altLang="de-DE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doesn’t exist</a:t>
            </a:r>
          </a:p>
          <a:p>
            <a:pPr marL="177800" marR="0" lvl="0" indent="-1778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pt-BR" altLang="de-DE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reference to a plan</a:t>
            </a:r>
            <a:endParaRPr kumimoji="0" lang="en-US" altLang="de-DE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466469" name="Rectangle 101"/>
          <p:cNvSpPr>
            <a:spLocks noChangeArrowheads="1"/>
          </p:cNvSpPr>
          <p:nvPr/>
        </p:nvSpPr>
        <p:spPr bwMode="auto">
          <a:xfrm>
            <a:off x="5057775" y="3216276"/>
            <a:ext cx="928688" cy="284163"/>
          </a:xfrm>
          <a:prstGeom prst="rect">
            <a:avLst/>
          </a:prstGeom>
          <a:solidFill>
            <a:srgbClr val="FFCC00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operation </a:t>
            </a:r>
          </a:p>
        </p:txBody>
      </p:sp>
      <p:sp>
        <p:nvSpPr>
          <p:cNvPr id="1466470" name="Rectangle 102"/>
          <p:cNvSpPr>
            <a:spLocks noChangeArrowheads="1"/>
          </p:cNvSpPr>
          <p:nvPr/>
        </p:nvSpPr>
        <p:spPr bwMode="auto">
          <a:xfrm>
            <a:off x="4918075" y="3778251"/>
            <a:ext cx="1296988" cy="7408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8000" tIns="46800" rIns="18000" bIns="46800">
            <a:spAutoFit/>
          </a:bodyPr>
          <a:lstStyle>
            <a:lvl1pPr marL="177800" indent="-17780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177800" marR="0" lvl="0" indent="-1778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pt-BR" altLang="de-DE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reference to </a:t>
            </a:r>
            <a:br>
              <a:rPr kumimoji="0" lang="pt-BR" altLang="de-DE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br>
            <a:r>
              <a:rPr kumimoji="0" lang="pt-BR" altLang="de-DE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 suspended</a:t>
            </a:r>
            <a:br>
              <a:rPr kumimoji="0" lang="pt-BR" altLang="de-DE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br>
            <a:r>
              <a:rPr kumimoji="0" lang="pt-BR" altLang="de-DE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plan</a:t>
            </a:r>
            <a:endParaRPr kumimoji="0" lang="en-US" altLang="de-DE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466471" name="Rectangle 103"/>
          <p:cNvSpPr>
            <a:spLocks noChangeArrowheads="1"/>
          </p:cNvSpPr>
          <p:nvPr/>
        </p:nvSpPr>
        <p:spPr bwMode="auto">
          <a:xfrm>
            <a:off x="6281738" y="3789363"/>
            <a:ext cx="1008062" cy="3099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8000" tIns="46800" rIns="18000" bIns="46800">
            <a:spAutoFit/>
          </a:bodyPr>
          <a:lstStyle>
            <a:lvl1pPr marL="177800" indent="-17780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177800" marR="0" lvl="0" indent="-1778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pt-BR" altLang="de-DE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exists</a:t>
            </a:r>
            <a:endParaRPr kumimoji="0" lang="en-US" altLang="de-DE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466472" name="Rectangle 104"/>
          <p:cNvSpPr>
            <a:spLocks noChangeArrowheads="1"/>
          </p:cNvSpPr>
          <p:nvPr/>
        </p:nvSpPr>
        <p:spPr bwMode="auto">
          <a:xfrm>
            <a:off x="7577139" y="3860800"/>
            <a:ext cx="1296987" cy="1171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8000" tIns="46800" rIns="18000" bIns="46800">
            <a:spAutoFit/>
          </a:bodyPr>
          <a:lstStyle>
            <a:lvl1pPr marL="177800" indent="-17780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177800" marR="0" lvl="0" indent="-1778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pt-BR" altLang="de-DE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reference</a:t>
            </a:r>
            <a:br>
              <a:rPr kumimoji="0" lang="pt-BR" altLang="de-DE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br>
            <a:r>
              <a:rPr kumimoji="0" lang="pt-BR" altLang="de-DE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to a plan</a:t>
            </a:r>
          </a:p>
          <a:p>
            <a:pPr marL="177800" marR="0" lvl="0" indent="-1778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pt-BR" altLang="de-DE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NOT referring</a:t>
            </a:r>
            <a:br>
              <a:rPr kumimoji="0" lang="pt-BR" altLang="de-DE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br>
            <a:r>
              <a:rPr kumimoji="0" lang="pt-BR" altLang="de-DE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to the same</a:t>
            </a:r>
            <a:br>
              <a:rPr kumimoji="0" lang="pt-BR" altLang="de-DE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br>
            <a:r>
              <a:rPr kumimoji="0" lang="pt-BR" altLang="de-DE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patient</a:t>
            </a:r>
            <a:endParaRPr kumimoji="0" lang="en-US" altLang="de-DE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466473" name="Rectangle 105"/>
          <p:cNvSpPr>
            <a:spLocks noChangeArrowheads="1"/>
          </p:cNvSpPr>
          <p:nvPr/>
        </p:nvSpPr>
        <p:spPr bwMode="auto">
          <a:xfrm>
            <a:off x="8980489" y="3873500"/>
            <a:ext cx="1296987" cy="956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8000" tIns="46800" rIns="18000" bIns="46800">
            <a:spAutoFit/>
          </a:bodyPr>
          <a:lstStyle>
            <a:lvl1pPr marL="177800" indent="-17780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177800" marR="0" lvl="0" indent="-1778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pt-BR" altLang="de-DE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reference to a new plan</a:t>
            </a:r>
          </a:p>
          <a:p>
            <a:pPr marL="177800" marR="0" lvl="0" indent="-1778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pt-BR" altLang="de-DE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not yet executed</a:t>
            </a:r>
            <a:endParaRPr kumimoji="0" lang="en-US" altLang="de-DE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466474" name="Rectangle 106"/>
          <p:cNvSpPr>
            <a:spLocks noChangeArrowheads="1"/>
          </p:cNvSpPr>
          <p:nvPr/>
        </p:nvSpPr>
        <p:spPr bwMode="auto">
          <a:xfrm>
            <a:off x="3216275" y="5373689"/>
            <a:ext cx="1727200" cy="268287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466475" name="Rectangle 107"/>
          <p:cNvSpPr>
            <a:spLocks noChangeArrowheads="1"/>
          </p:cNvSpPr>
          <p:nvPr/>
        </p:nvSpPr>
        <p:spPr bwMode="auto">
          <a:xfrm>
            <a:off x="6240464" y="5373689"/>
            <a:ext cx="1368425" cy="268287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466476" name="Rectangle 108"/>
          <p:cNvSpPr>
            <a:spLocks noChangeArrowheads="1"/>
          </p:cNvSpPr>
          <p:nvPr/>
        </p:nvSpPr>
        <p:spPr bwMode="auto">
          <a:xfrm>
            <a:off x="8112126" y="5373689"/>
            <a:ext cx="1008063" cy="268287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466477" name="Rectangle 109"/>
          <p:cNvSpPr>
            <a:spLocks noChangeArrowheads="1"/>
          </p:cNvSpPr>
          <p:nvPr/>
        </p:nvSpPr>
        <p:spPr bwMode="auto">
          <a:xfrm>
            <a:off x="4079876" y="5653088"/>
            <a:ext cx="1584325" cy="284162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466478" name="Rectangle 110"/>
          <p:cNvSpPr>
            <a:spLocks noChangeArrowheads="1"/>
          </p:cNvSpPr>
          <p:nvPr/>
        </p:nvSpPr>
        <p:spPr bwMode="auto">
          <a:xfrm>
            <a:off x="8183564" y="5635625"/>
            <a:ext cx="1584325" cy="268288"/>
          </a:xfrm>
          <a:prstGeom prst="rect">
            <a:avLst/>
          </a:prstGeom>
          <a:solidFill>
            <a:srgbClr val="FF7C8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466479" name="Rectangle 111"/>
          <p:cNvSpPr>
            <a:spLocks noChangeArrowheads="1"/>
          </p:cNvSpPr>
          <p:nvPr/>
        </p:nvSpPr>
        <p:spPr bwMode="auto">
          <a:xfrm>
            <a:off x="6575426" y="5916614"/>
            <a:ext cx="1008063" cy="268287"/>
          </a:xfrm>
          <a:prstGeom prst="rect">
            <a:avLst/>
          </a:prstGeom>
          <a:solidFill>
            <a:srgbClr val="FF66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1466480" name="Rectangle 112"/>
          <p:cNvSpPr>
            <a:spLocks noChangeArrowheads="1"/>
          </p:cNvSpPr>
          <p:nvPr/>
        </p:nvSpPr>
        <p:spPr bwMode="auto">
          <a:xfrm>
            <a:off x="1919288" y="5300664"/>
            <a:ext cx="8748712" cy="9255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Patient with incisional hernia admitted for herniorrhaphy, but operation was suspended because operation room was urgently needed for liver transplant. Discharged with orientation and rescheduled operation.</a:t>
            </a:r>
          </a:p>
        </p:txBody>
      </p:sp>
      <p:sp>
        <p:nvSpPr>
          <p:cNvPr id="1466482" name="Rectangle 114"/>
          <p:cNvSpPr>
            <a:spLocks noChangeArrowheads="1"/>
          </p:cNvSpPr>
          <p:nvPr/>
        </p:nvSpPr>
        <p:spPr bwMode="auto">
          <a:xfrm>
            <a:off x="1631950" y="1520825"/>
            <a:ext cx="1398588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de-DE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Ontology, </a:t>
            </a:r>
            <a:br>
              <a:rPr kumimoji="0" lang="en-US" altLang="de-DE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br>
            <a:r>
              <a:rPr kumimoji="0" lang="en-US" altLang="de-DE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e.g. </a:t>
            </a:r>
            <a:br>
              <a:rPr kumimoji="0" lang="en-US" altLang="de-DE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br>
            <a:r>
              <a:rPr kumimoji="0" lang="en-US" altLang="de-DE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SNOMED CT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28860ED-BC28-B2CA-C551-3EC3EB5344DF}"/>
              </a:ext>
            </a:extLst>
          </p:cNvPr>
          <p:cNvSpPr txBox="1">
            <a:spLocks/>
          </p:cNvSpPr>
          <p:nvPr/>
        </p:nvSpPr>
        <p:spPr>
          <a:xfrm>
            <a:off x="8963" y="-17462"/>
            <a:ext cx="12192000" cy="132556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C00000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kumimoji="0" lang="en-GB" sz="4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Concept mapping is not enough</a:t>
            </a:r>
            <a:endParaRPr lang="en-GB" sz="3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78376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6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66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6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66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6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66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6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66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6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66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6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66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6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66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6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66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6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66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6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66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6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466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6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466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6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466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6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466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6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466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6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66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6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466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6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466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6457" grpId="0" animBg="1"/>
      <p:bldP spid="1466458" grpId="0" animBg="1"/>
      <p:bldP spid="1466459" grpId="0" animBg="1"/>
      <p:bldP spid="1466460" grpId="0" animBg="1"/>
      <p:bldP spid="1466466" grpId="0" animBg="1"/>
      <p:bldP spid="1466467" grpId="0"/>
      <p:bldP spid="1466468" grpId="0"/>
      <p:bldP spid="1466469" grpId="0" animBg="1"/>
      <p:bldP spid="1466470" grpId="0"/>
      <p:bldP spid="1466471" grpId="0"/>
      <p:bldP spid="1466472" grpId="0"/>
      <p:bldP spid="1466473" grpId="0"/>
      <p:bldP spid="1466474" grpId="0" animBg="1"/>
      <p:bldP spid="1466475" grpId="0" animBg="1"/>
      <p:bldP spid="1466476" grpId="0" animBg="1"/>
      <p:bldP spid="1466477" grpId="0" animBg="1"/>
      <p:bldP spid="1466478" grpId="0" animBg="1"/>
      <p:bldP spid="146647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Inhaltsplatzhalter 23"/>
          <p:cNvSpPr>
            <a:spLocks noGrp="1"/>
          </p:cNvSpPr>
          <p:nvPr>
            <p:ph idx="1"/>
          </p:nvPr>
        </p:nvSpPr>
        <p:spPr>
          <a:xfrm>
            <a:off x="457200" y="1914517"/>
            <a:ext cx="11372850" cy="4743451"/>
          </a:xfrm>
        </p:spPr>
        <p:txBody>
          <a:bodyPr>
            <a:normAutofit/>
          </a:bodyPr>
          <a:lstStyle/>
          <a:p>
            <a:r>
              <a:rPr lang="en-GB" sz="2400" dirty="0"/>
              <a:t>Mention of drug in EHR</a:t>
            </a:r>
          </a:p>
          <a:p>
            <a:pPr lvl="1"/>
            <a:r>
              <a:rPr lang="en-GB" sz="2000" dirty="0"/>
              <a:t>Recommended by hospital doctor</a:t>
            </a:r>
          </a:p>
          <a:p>
            <a:pPr lvl="1"/>
            <a:r>
              <a:rPr lang="en-GB" sz="2000" dirty="0"/>
              <a:t>Prescribed by general practitioner</a:t>
            </a:r>
          </a:p>
          <a:p>
            <a:pPr lvl="1"/>
            <a:r>
              <a:rPr lang="en-GB" sz="2000" dirty="0"/>
              <a:t>Purchased by patient</a:t>
            </a:r>
          </a:p>
          <a:p>
            <a:pPr lvl="1"/>
            <a:r>
              <a:rPr lang="en-GB" sz="2000" dirty="0"/>
              <a:t>Taken by patients</a:t>
            </a:r>
          </a:p>
          <a:p>
            <a:r>
              <a:rPr lang="en-GB" sz="2400" dirty="0"/>
              <a:t>Mention of disease</a:t>
            </a:r>
          </a:p>
          <a:p>
            <a:pPr lvl="1"/>
            <a:r>
              <a:rPr lang="en-GB" sz="2000" dirty="0"/>
              <a:t>Suspected vs. confirmed</a:t>
            </a:r>
          </a:p>
          <a:p>
            <a:pPr lvl="1"/>
            <a:r>
              <a:rPr lang="en-GB" sz="2000" dirty="0"/>
              <a:t>Disease or cause of death</a:t>
            </a:r>
          </a:p>
          <a:p>
            <a:pPr lvl="1"/>
            <a:r>
              <a:rPr lang="en-GB" sz="2000" dirty="0"/>
              <a:t>Disease != Diagnosis !</a:t>
            </a:r>
          </a:p>
          <a:p>
            <a:pPr lvl="2"/>
            <a:r>
              <a:rPr lang="en-GB" sz="1800" dirty="0"/>
              <a:t>There are undiagnosed diseases</a:t>
            </a:r>
          </a:p>
          <a:p>
            <a:pPr lvl="2"/>
            <a:r>
              <a:rPr lang="en-GB" sz="1800" dirty="0"/>
              <a:t>There are wrong diagnoses</a:t>
            </a:r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9322" y="2268017"/>
            <a:ext cx="7029777" cy="3894652"/>
          </a:xfrm>
          <a:prstGeom prst="rect">
            <a:avLst/>
          </a:prstGeom>
        </p:spPr>
      </p:pic>
      <p:sp>
        <p:nvSpPr>
          <p:cNvPr id="26" name="Inhaltsplatzhalter 2"/>
          <p:cNvSpPr txBox="1">
            <a:spLocks/>
          </p:cNvSpPr>
          <p:nvPr/>
        </p:nvSpPr>
        <p:spPr>
          <a:xfrm>
            <a:off x="12211" y="1354601"/>
            <a:ext cx="11372850" cy="49933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dirty="0">
                <a:solidFill>
                  <a:srgbClr val="C00000"/>
                </a:solidFill>
              </a:rPr>
              <a:t> Complex relationship between healthcare data and reality</a:t>
            </a:r>
            <a:endParaRPr lang="en-GB" dirty="0"/>
          </a:p>
          <a:p>
            <a:endParaRPr lang="en-GB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6F5A8394-039C-3042-ACD7-F76EE3299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Data, </a:t>
            </a:r>
            <a:r>
              <a:rPr lang="de-DE" dirty="0" err="1"/>
              <a:t>reality</a:t>
            </a:r>
            <a:r>
              <a:rPr lang="de-DE" dirty="0"/>
              <a:t> and </a:t>
            </a:r>
            <a:r>
              <a:rPr lang="de-DE" dirty="0" err="1"/>
              <a:t>context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872957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Seminal</a:t>
            </a:r>
            <a:r>
              <a:rPr lang="de-DE" dirty="0"/>
              <a:t> </a:t>
            </a:r>
            <a:r>
              <a:rPr lang="de-DE" dirty="0" err="1"/>
              <a:t>papers</a:t>
            </a:r>
            <a:endParaRPr lang="de-DE" dirty="0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 rotWithShape="1">
          <a:blip r:embed="rId2"/>
          <a:srcRect t="10823"/>
          <a:stretch/>
        </p:blipFill>
        <p:spPr>
          <a:xfrm>
            <a:off x="84222" y="1092528"/>
            <a:ext cx="5715000" cy="4990740"/>
          </a:xfrm>
          <a:prstGeom prst="rect">
            <a:avLst/>
          </a:prstGeom>
        </p:spPr>
      </p:pic>
      <p:pic>
        <p:nvPicPr>
          <p:cNvPr id="5" name="Grafik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6223" y="1095427"/>
            <a:ext cx="6425777" cy="4987841"/>
          </a:xfrm>
          <a:prstGeom prst="rect">
            <a:avLst/>
          </a:prstGeom>
        </p:spPr>
      </p:pic>
      <p:sp>
        <p:nvSpPr>
          <p:cNvPr id="6" name="Rechteck 5"/>
          <p:cNvSpPr/>
          <p:nvPr/>
        </p:nvSpPr>
        <p:spPr>
          <a:xfrm>
            <a:off x="6096000" y="6396335"/>
            <a:ext cx="58293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200" dirty="0">
                <a:solidFill>
                  <a:srgbClr val="222222"/>
                </a:solidFill>
              </a:rPr>
              <a:t>Rector AL, </a:t>
            </a:r>
            <a:r>
              <a:rPr lang="en-GB" sz="1200" dirty="0" err="1">
                <a:solidFill>
                  <a:srgbClr val="222222"/>
                </a:solidFill>
              </a:rPr>
              <a:t>Qamar</a:t>
            </a:r>
            <a:r>
              <a:rPr lang="en-GB" sz="1200" dirty="0">
                <a:solidFill>
                  <a:srgbClr val="222222"/>
                </a:solidFill>
              </a:rPr>
              <a:t> R; </a:t>
            </a:r>
            <a:r>
              <a:rPr lang="en-GB" sz="1200" dirty="0" err="1">
                <a:solidFill>
                  <a:srgbClr val="222222"/>
                </a:solidFill>
              </a:rPr>
              <a:t>MarleyT</a:t>
            </a:r>
            <a:r>
              <a:rPr lang="en-GB" sz="1200" dirty="0">
                <a:solidFill>
                  <a:srgbClr val="222222"/>
                </a:solidFill>
              </a:rPr>
              <a:t>. Binding ontologies and coding systems to electronic health records and messages. </a:t>
            </a:r>
            <a:r>
              <a:rPr lang="en-GB" sz="1200" i="1" dirty="0">
                <a:solidFill>
                  <a:srgbClr val="222222"/>
                </a:solidFill>
              </a:rPr>
              <a:t>Applied Ontology</a:t>
            </a:r>
            <a:r>
              <a:rPr lang="en-GB" sz="1200" dirty="0">
                <a:solidFill>
                  <a:srgbClr val="222222"/>
                </a:solidFill>
              </a:rPr>
              <a:t>, 2009 (4.) 1, 51-69.</a:t>
            </a:r>
            <a:endParaRPr lang="en-GB" sz="1200" dirty="0"/>
          </a:p>
        </p:txBody>
      </p:sp>
      <p:sp>
        <p:nvSpPr>
          <p:cNvPr id="7" name="Rechteck 6"/>
          <p:cNvSpPr/>
          <p:nvPr/>
        </p:nvSpPr>
        <p:spPr>
          <a:xfrm>
            <a:off x="461210" y="6396334"/>
            <a:ext cx="545832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200" dirty="0" err="1">
                <a:solidFill>
                  <a:srgbClr val="212121"/>
                </a:solidFill>
              </a:rPr>
              <a:t>Bodenreider</a:t>
            </a:r>
            <a:r>
              <a:rPr lang="de-DE" sz="1200" dirty="0">
                <a:solidFill>
                  <a:srgbClr val="212121"/>
                </a:solidFill>
              </a:rPr>
              <a:t> O, Smith B, </a:t>
            </a:r>
            <a:r>
              <a:rPr lang="de-DE" sz="1200" dirty="0" err="1">
                <a:solidFill>
                  <a:srgbClr val="212121"/>
                </a:solidFill>
              </a:rPr>
              <a:t>Burgun</a:t>
            </a:r>
            <a:r>
              <a:rPr lang="de-DE" sz="1200" dirty="0">
                <a:solidFill>
                  <a:srgbClr val="212121"/>
                </a:solidFill>
              </a:rPr>
              <a:t> A. The </a:t>
            </a:r>
            <a:r>
              <a:rPr lang="de-DE" sz="1200" dirty="0" err="1">
                <a:solidFill>
                  <a:srgbClr val="212121"/>
                </a:solidFill>
              </a:rPr>
              <a:t>Ontology-Epistemology</a:t>
            </a:r>
            <a:r>
              <a:rPr lang="de-DE" sz="1200" dirty="0">
                <a:solidFill>
                  <a:srgbClr val="212121"/>
                </a:solidFill>
              </a:rPr>
              <a:t> </a:t>
            </a:r>
            <a:r>
              <a:rPr lang="de-DE" sz="1200" dirty="0" err="1">
                <a:solidFill>
                  <a:srgbClr val="212121"/>
                </a:solidFill>
              </a:rPr>
              <a:t>Divide</a:t>
            </a:r>
            <a:r>
              <a:rPr lang="de-DE" sz="1200" dirty="0">
                <a:solidFill>
                  <a:srgbClr val="212121"/>
                </a:solidFill>
              </a:rPr>
              <a:t>: A Case Study in Medical </a:t>
            </a:r>
            <a:r>
              <a:rPr lang="de-DE" sz="1200" dirty="0" err="1">
                <a:solidFill>
                  <a:srgbClr val="212121"/>
                </a:solidFill>
              </a:rPr>
              <a:t>Terminology</a:t>
            </a:r>
            <a:r>
              <a:rPr lang="de-DE" sz="1200" dirty="0">
                <a:solidFill>
                  <a:srgbClr val="212121"/>
                </a:solidFill>
              </a:rPr>
              <a:t>. Form </a:t>
            </a:r>
            <a:r>
              <a:rPr lang="de-DE" sz="1200" dirty="0" err="1">
                <a:solidFill>
                  <a:srgbClr val="212121"/>
                </a:solidFill>
              </a:rPr>
              <a:t>Ontol</a:t>
            </a:r>
            <a:r>
              <a:rPr lang="de-DE" sz="1200" dirty="0">
                <a:solidFill>
                  <a:srgbClr val="212121"/>
                </a:solidFill>
              </a:rPr>
              <a:t> </a:t>
            </a:r>
            <a:r>
              <a:rPr lang="de-DE" sz="1200" dirty="0" err="1">
                <a:solidFill>
                  <a:srgbClr val="212121"/>
                </a:solidFill>
              </a:rPr>
              <a:t>Inf</a:t>
            </a:r>
            <a:r>
              <a:rPr lang="de-DE" sz="1200" dirty="0">
                <a:solidFill>
                  <a:srgbClr val="212121"/>
                </a:solidFill>
              </a:rPr>
              <a:t> Syst. 2004;2004:185-195. </a:t>
            </a:r>
            <a:endParaRPr lang="de-DE" sz="1200" dirty="0"/>
          </a:p>
        </p:txBody>
      </p:sp>
    </p:spTree>
    <p:extLst>
      <p:ext uri="{BB962C8B-B14F-4D97-AF65-F5344CB8AC3E}">
        <p14:creationId xmlns:p14="http://schemas.microsoft.com/office/powerpoint/2010/main" val="39322671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Abgerundetes Rechteck 14"/>
          <p:cNvSpPr/>
          <p:nvPr/>
        </p:nvSpPr>
        <p:spPr>
          <a:xfrm>
            <a:off x="134258" y="1767778"/>
            <a:ext cx="7009492" cy="5032531"/>
          </a:xfrm>
          <a:prstGeom prst="roundRect">
            <a:avLst>
              <a:gd name="adj" fmla="val 7012"/>
            </a:avLst>
          </a:prstGeom>
          <a:solidFill>
            <a:srgbClr val="CEEAB0"/>
          </a:solidFill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 rotWithShape="1">
          <a:blip r:embed="rId2"/>
          <a:srcRect r="4312" b="9179"/>
          <a:stretch/>
        </p:blipFill>
        <p:spPr>
          <a:xfrm>
            <a:off x="430364" y="2351959"/>
            <a:ext cx="6475543" cy="4310105"/>
          </a:xfrm>
          <a:prstGeom prst="rect">
            <a:avLst/>
          </a:prstGeom>
        </p:spPr>
      </p:pic>
      <p:sp>
        <p:nvSpPr>
          <p:cNvPr id="19" name="Abgerundetes Rechteck 18"/>
          <p:cNvSpPr/>
          <p:nvPr/>
        </p:nvSpPr>
        <p:spPr>
          <a:xfrm>
            <a:off x="7278008" y="1767778"/>
            <a:ext cx="4781550" cy="5032531"/>
          </a:xfrm>
          <a:prstGeom prst="roundRect">
            <a:avLst>
              <a:gd name="adj" fmla="val 7012"/>
            </a:avLst>
          </a:prstGeom>
          <a:solidFill>
            <a:srgbClr val="FFFF99"/>
          </a:solidFill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8" name="Rechteck 17"/>
          <p:cNvSpPr/>
          <p:nvPr/>
        </p:nvSpPr>
        <p:spPr>
          <a:xfrm>
            <a:off x="2075355" y="1767779"/>
            <a:ext cx="240674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C00000"/>
                </a:solidFill>
              </a:rPr>
              <a:t>Knowledge / context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C00000"/>
                </a:solidFill>
              </a:rPr>
              <a:t>Model of use</a:t>
            </a:r>
            <a:endParaRPr lang="de-DE" dirty="0"/>
          </a:p>
        </p:txBody>
      </p:sp>
      <p:sp>
        <p:nvSpPr>
          <p:cNvPr id="20" name="Rechteck 19"/>
          <p:cNvSpPr/>
          <p:nvPr/>
        </p:nvSpPr>
        <p:spPr>
          <a:xfrm>
            <a:off x="8549686" y="1776313"/>
            <a:ext cx="3509872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C00000"/>
                </a:solidFill>
              </a:rPr>
              <a:t>Entity types and their properties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C00000"/>
                </a:solidFill>
              </a:rPr>
              <a:t>Model of meaning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C00000"/>
                </a:solidFill>
              </a:rPr>
              <a:t>E.g. SNOMED CT codes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C00000"/>
                </a:solidFill>
              </a:rPr>
              <a:t>HL7 value sets</a:t>
            </a:r>
            <a:endParaRPr lang="de-DE" dirty="0"/>
          </a:p>
        </p:txBody>
      </p:sp>
      <p:sp>
        <p:nvSpPr>
          <p:cNvPr id="4" name="Rechteck 3"/>
          <p:cNvSpPr/>
          <p:nvPr/>
        </p:nvSpPr>
        <p:spPr>
          <a:xfrm>
            <a:off x="382914" y="1885632"/>
            <a:ext cx="15581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C00000"/>
                </a:solidFill>
              </a:rPr>
              <a:t>Epistemology: </a:t>
            </a:r>
          </a:p>
        </p:txBody>
      </p:sp>
      <p:sp>
        <p:nvSpPr>
          <p:cNvPr id="5" name="Rechteck 4"/>
          <p:cNvSpPr/>
          <p:nvPr/>
        </p:nvSpPr>
        <p:spPr>
          <a:xfrm>
            <a:off x="7441438" y="1868216"/>
            <a:ext cx="10411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C00000"/>
                </a:solidFill>
              </a:rPr>
              <a:t>Ontology</a:t>
            </a:r>
            <a:endParaRPr lang="de-DE" dirty="0"/>
          </a:p>
        </p:txBody>
      </p:sp>
      <p:cxnSp>
        <p:nvCxnSpPr>
          <p:cNvPr id="22" name="Gerade Verbindung mit Pfeil 21"/>
          <p:cNvCxnSpPr/>
          <p:nvPr/>
        </p:nvCxnSpPr>
        <p:spPr>
          <a:xfrm flipV="1">
            <a:off x="6487889" y="5146766"/>
            <a:ext cx="1803763" cy="301545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hteck 12"/>
          <p:cNvSpPr/>
          <p:nvPr/>
        </p:nvSpPr>
        <p:spPr>
          <a:xfrm>
            <a:off x="8395467" y="4898904"/>
            <a:ext cx="363963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100" dirty="0"/>
              <a:t>https://hl7.org/fhir/codesystem-condition-ver-status.html</a:t>
            </a:r>
            <a:br>
              <a:rPr lang="de-DE" sz="1100" dirty="0"/>
            </a:br>
            <a:r>
              <a:rPr lang="de-DE" sz="1100" dirty="0"/>
              <a:t>#condition-ver-status-unconfirmed</a:t>
            </a:r>
          </a:p>
        </p:txBody>
      </p:sp>
      <p:cxnSp>
        <p:nvCxnSpPr>
          <p:cNvPr id="24" name="Gerade Verbindung mit Pfeil 23"/>
          <p:cNvCxnSpPr/>
          <p:nvPr/>
        </p:nvCxnSpPr>
        <p:spPr>
          <a:xfrm flipV="1">
            <a:off x="6487889" y="4307463"/>
            <a:ext cx="1803763" cy="676009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hteck 13"/>
          <p:cNvSpPr/>
          <p:nvPr/>
        </p:nvSpPr>
        <p:spPr>
          <a:xfrm>
            <a:off x="8412885" y="4027934"/>
            <a:ext cx="38535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200" dirty="0"/>
              <a:t>https://hl7.org/fhir/codesystem-condition-clinical.html</a:t>
            </a:r>
            <a:br>
              <a:rPr lang="de-DE" sz="1200" dirty="0"/>
            </a:br>
            <a:r>
              <a:rPr lang="de-DE" sz="1200" dirty="0"/>
              <a:t>#condition-clinical-active</a:t>
            </a:r>
            <a:endParaRPr lang="de-DE" dirty="0"/>
          </a:p>
        </p:txBody>
      </p:sp>
      <p:sp>
        <p:nvSpPr>
          <p:cNvPr id="25" name="Rechteck 24"/>
          <p:cNvSpPr/>
          <p:nvPr/>
        </p:nvSpPr>
        <p:spPr>
          <a:xfrm>
            <a:off x="8338820" y="6153528"/>
            <a:ext cx="224510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200" dirty="0"/>
              <a:t>http://snomed.info/id/74400008</a:t>
            </a:r>
          </a:p>
        </p:txBody>
      </p:sp>
      <p:sp>
        <p:nvSpPr>
          <p:cNvPr id="26" name="Rechteck 25"/>
          <p:cNvSpPr/>
          <p:nvPr/>
        </p:nvSpPr>
        <p:spPr>
          <a:xfrm>
            <a:off x="382914" y="1270673"/>
            <a:ext cx="44532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000" dirty="0">
                <a:solidFill>
                  <a:srgbClr val="C00000"/>
                </a:solidFill>
              </a:rPr>
              <a:t>Example: "suspected active appendicitis"</a:t>
            </a:r>
            <a:endParaRPr lang="de-DE" sz="2000" dirty="0"/>
          </a:p>
        </p:txBody>
      </p:sp>
      <p:cxnSp>
        <p:nvCxnSpPr>
          <p:cNvPr id="10" name="Gerade Verbindung mit Pfeil 9"/>
          <p:cNvCxnSpPr/>
          <p:nvPr/>
        </p:nvCxnSpPr>
        <p:spPr>
          <a:xfrm>
            <a:off x="6531432" y="6284333"/>
            <a:ext cx="1760220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el 1">
            <a:extLst>
              <a:ext uri="{FF2B5EF4-FFF2-40B4-BE49-F238E27FC236}">
                <a16:creationId xmlns:a16="http://schemas.microsoft.com/office/drawing/2014/main" id="{5EBB7661-93CD-B612-33A1-F6A33985D562}"/>
              </a:ext>
            </a:extLst>
          </p:cNvPr>
          <p:cNvSpPr txBox="1">
            <a:spLocks/>
          </p:cNvSpPr>
          <p:nvPr/>
        </p:nvSpPr>
        <p:spPr>
          <a:xfrm>
            <a:off x="8963" y="-8497"/>
            <a:ext cx="12192000" cy="132556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C00000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GB" sz="4000" dirty="0"/>
              <a:t>Interface between information models and ontologies</a:t>
            </a:r>
            <a:endParaRPr lang="en-GB" sz="3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20232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2358" y="2224691"/>
            <a:ext cx="6886421" cy="4094250"/>
          </a:xfrm>
          <a:prstGeom prst="rect">
            <a:avLst/>
          </a:prstGeom>
        </p:spPr>
      </p:pic>
      <p:sp>
        <p:nvSpPr>
          <p:cNvPr id="5" name="Inhaltsplatzhalter 2"/>
          <p:cNvSpPr>
            <a:spLocks noGrp="1"/>
          </p:cNvSpPr>
          <p:nvPr>
            <p:ph idx="1"/>
          </p:nvPr>
        </p:nvSpPr>
        <p:spPr>
          <a:xfrm>
            <a:off x="2742358" y="1596571"/>
            <a:ext cx="6706442" cy="62812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Example: German interface terminology for SNOMED CT</a:t>
            </a:r>
          </a:p>
          <a:p>
            <a:pPr marL="0" indent="0" algn="ctr">
              <a:buNone/>
            </a:pPr>
            <a:endParaRPr lang="en-GB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Rectangle 1"/>
          <p:cNvSpPr>
            <a:spLocks noChangeArrowheads="1"/>
          </p:cNvSpPr>
          <p:nvPr/>
        </p:nvSpPr>
        <p:spPr bwMode="auto">
          <a:xfrm>
            <a:off x="148413" y="6424572"/>
            <a:ext cx="11843152" cy="3385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lang="en-GB" altLang="de-DE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[*]Schulz S, Hammer L, </a:t>
            </a:r>
            <a:r>
              <a:rPr lang="en-GB" altLang="de-DE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Hashemian</a:t>
            </a:r>
            <a:r>
              <a:rPr lang="en-GB" altLang="de-DE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-Nik D, </a:t>
            </a:r>
            <a:r>
              <a:rPr lang="en-GB" altLang="de-DE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Kreuzthaler</a:t>
            </a:r>
            <a:r>
              <a:rPr lang="en-GB" altLang="de-DE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M. Localising the Clinical Terminology SNOMED CT by Semi-automated Creation of a German Interface Vocabulary. Proceedings of the LREC 2020 Workshop on Multilingual Biomedical Text Processing (</a:t>
            </a:r>
            <a:r>
              <a:rPr lang="en-GB" altLang="de-DE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MultilingualBIO</a:t>
            </a:r>
            <a:r>
              <a:rPr lang="en-GB" altLang="de-DE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2020). Luxembourg: European Language Resources Association; p. 15-20. 2020  </a:t>
            </a:r>
            <a:endParaRPr kumimoji="0" lang="en-GB" altLang="de-DE" sz="1100" b="0" i="0" u="none" strike="noStrike" cap="none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latin typeface="+mn-lt"/>
            </a:endParaRPr>
          </a:p>
        </p:txBody>
      </p:sp>
      <p:sp>
        <p:nvSpPr>
          <p:cNvPr id="12" name="Abgerundetes Rechteck 11"/>
          <p:cNvSpPr/>
          <p:nvPr/>
        </p:nvSpPr>
        <p:spPr>
          <a:xfrm>
            <a:off x="2592233" y="1449472"/>
            <a:ext cx="7036546" cy="4888545"/>
          </a:xfrm>
          <a:prstGeom prst="roundRect">
            <a:avLst>
              <a:gd name="adj" fmla="val 7012"/>
            </a:avLst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98C5CCC0-15F1-51A7-5D68-A4824C68B529}"/>
              </a:ext>
            </a:extLst>
          </p:cNvPr>
          <p:cNvSpPr txBox="1">
            <a:spLocks/>
          </p:cNvSpPr>
          <p:nvPr/>
        </p:nvSpPr>
        <p:spPr>
          <a:xfrm>
            <a:off x="8963" y="-8497"/>
            <a:ext cx="12192000" cy="132556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C00000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GB" sz="4000" dirty="0"/>
              <a:t>I – Building resources: language specific dictionaries and linking to ontologies</a:t>
            </a:r>
            <a:endParaRPr lang="en-GB" sz="3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75981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200" y="1600884"/>
            <a:ext cx="10515600" cy="5522686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Manual creation / maintenance</a:t>
            </a:r>
          </a:p>
          <a:p>
            <a:pPr lvl="1"/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Language productivity / compositionality: impossible to collect all variations in a dictionary, as well as all ambiguous readings</a:t>
            </a:r>
          </a:p>
          <a:p>
            <a:pPr lvl="1"/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Community processes (crowdsourcing)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potential of machine learning</a:t>
            </a:r>
          </a:p>
          <a:p>
            <a:pPr lvl="1"/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Synonym detection </a:t>
            </a:r>
          </a:p>
          <a:p>
            <a:pPr lvl="1"/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Machine translation</a:t>
            </a:r>
          </a:p>
          <a:p>
            <a:pPr lvl="1"/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Spelling correction</a:t>
            </a:r>
          </a:p>
          <a:p>
            <a:pPr lvl="1"/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Short form resolution </a:t>
            </a:r>
          </a:p>
          <a:p>
            <a:pPr lvl="1"/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Word sense disambiguation</a:t>
            </a:r>
          </a:p>
          <a:p>
            <a:r>
              <a:rPr lang="en-GB" dirty="0">
                <a:solidFill>
                  <a:srgbClr val="C00000"/>
                </a:solidFill>
              </a:rPr>
              <a:t>Safe entity recognition and normalization still a long way to go</a:t>
            </a:r>
          </a:p>
          <a:p>
            <a:pPr marL="0" indent="0">
              <a:buNone/>
            </a:pP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Geschweifte Klammer rechts 3"/>
          <p:cNvSpPr/>
          <p:nvPr/>
        </p:nvSpPr>
        <p:spPr>
          <a:xfrm>
            <a:off x="5286375" y="3719291"/>
            <a:ext cx="371475" cy="1704975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hteck 4"/>
          <p:cNvSpPr/>
          <p:nvPr/>
        </p:nvSpPr>
        <p:spPr>
          <a:xfrm>
            <a:off x="6248431" y="4156279"/>
            <a:ext cx="3857594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Clinical training data required</a:t>
            </a:r>
            <a:br>
              <a:rPr lang="en-GB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GB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Still require human review</a:t>
            </a:r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992AF6A0-1B61-645A-4B96-D961AF8430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8965"/>
            <a:ext cx="12192000" cy="132556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C00000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GB" sz="4000" dirty="0"/>
              <a:t>Building resources: language specific dictionaries and linking to ontologies</a:t>
            </a:r>
            <a:endParaRPr lang="en-GB" sz="3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536303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511D3A51-89E8-105A-B994-B7901F7FF7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1925" y="1584877"/>
            <a:ext cx="7962900" cy="3975229"/>
          </a:xfrm>
          <a:prstGeom prst="rect">
            <a:avLst/>
          </a:prstGeom>
        </p:spPr>
      </p:pic>
      <p:sp>
        <p:nvSpPr>
          <p:cNvPr id="12" name="Textfeld 11"/>
          <p:cNvSpPr txBox="1"/>
          <p:nvPr/>
        </p:nvSpPr>
        <p:spPr>
          <a:xfrm>
            <a:off x="3971925" y="5782762"/>
            <a:ext cx="75152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solidFill>
                  <a:srgbClr val="C00000"/>
                </a:solidFill>
              </a:rPr>
              <a:t>Annotations should use the same semantic resources as expected for the processing of real data: </a:t>
            </a:r>
            <a:r>
              <a:rPr lang="en-GB" sz="2000" b="1" dirty="0">
                <a:solidFill>
                  <a:srgbClr val="C00000"/>
                </a:solidFill>
              </a:rPr>
              <a:t>in our case SNOMED CT and FHIR </a:t>
            </a:r>
          </a:p>
        </p:txBody>
      </p:sp>
      <p:sp>
        <p:nvSpPr>
          <p:cNvPr id="14" name="Abgerundetes Rechteck 13"/>
          <p:cNvSpPr/>
          <p:nvPr/>
        </p:nvSpPr>
        <p:spPr>
          <a:xfrm>
            <a:off x="215899" y="1452866"/>
            <a:ext cx="3471863" cy="5227333"/>
          </a:xfrm>
          <a:prstGeom prst="roundRect">
            <a:avLst>
              <a:gd name="adj" fmla="val 7012"/>
            </a:avLst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9C293E0F-E4F7-8863-FDBE-D975AB3F4A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594" y="1695997"/>
            <a:ext cx="3292471" cy="3466005"/>
          </a:xfrm>
          <a:prstGeom prst="rect">
            <a:avLst/>
          </a:prstGeom>
        </p:spPr>
      </p:pic>
      <p:pic>
        <p:nvPicPr>
          <p:cNvPr id="10" name="Grafik 9">
            <a:hlinkClick r:id="rId4"/>
            <a:extLst>
              <a:ext uri="{FF2B5EF4-FFF2-40B4-BE49-F238E27FC236}">
                <a16:creationId xmlns:a16="http://schemas.microsoft.com/office/drawing/2014/main" id="{50394AD2-9E4B-8A4D-C890-3DB3B434A7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4382" y="5317513"/>
            <a:ext cx="1171892" cy="1127988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A9820F6D-7A91-5E00-BC22-4D5DD6E8D8CA}"/>
              </a:ext>
            </a:extLst>
          </p:cNvPr>
          <p:cNvSpPr txBox="1">
            <a:spLocks/>
          </p:cNvSpPr>
          <p:nvPr/>
        </p:nvSpPr>
        <p:spPr>
          <a:xfrm>
            <a:off x="8963" y="-17462"/>
            <a:ext cx="12192000" cy="132556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C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000" dirty="0"/>
              <a:t>II – Building resources: annotated domain corpora </a:t>
            </a:r>
          </a:p>
        </p:txBody>
      </p:sp>
    </p:spTree>
    <p:extLst>
      <p:ext uri="{BB962C8B-B14F-4D97-AF65-F5344CB8AC3E}">
        <p14:creationId xmlns:p14="http://schemas.microsoft.com/office/powerpoint/2010/main" val="498905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e3d1021c37_0_11"/>
          <p:cNvSpPr txBox="1">
            <a:spLocks noGrp="1"/>
          </p:cNvSpPr>
          <p:nvPr>
            <p:ph type="sldNum" idx="12"/>
          </p:nvPr>
        </p:nvSpPr>
        <p:spPr>
          <a:xfrm>
            <a:off x="9069859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 smtClean="0"/>
              <a:t>30</a:t>
            </a:fld>
            <a:endParaRPr lang="en-GB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18A8DE36-C8E5-B747-A81B-B3971501F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From annotation to ontology-based knowledge graph</a:t>
            </a:r>
          </a:p>
        </p:txBody>
      </p:sp>
      <p:pic>
        <p:nvPicPr>
          <p:cNvPr id="2" name="Google Shape;117;g1e3d1021c37_0_11">
            <a:extLst>
              <a:ext uri="{FF2B5EF4-FFF2-40B4-BE49-F238E27FC236}">
                <a16:creationId xmlns:a16="http://schemas.microsoft.com/office/drawing/2014/main" id="{4C65D3FC-4EF0-C261-48A7-D9978B1A5A1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8386" y="1299411"/>
            <a:ext cx="9221303" cy="542203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</p:pic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C88F7ABC-46EE-2C52-9351-7CFEEBECD5D4}"/>
              </a:ext>
            </a:extLst>
          </p:cNvPr>
          <p:cNvSpPr/>
          <p:nvPr/>
        </p:nvSpPr>
        <p:spPr>
          <a:xfrm>
            <a:off x="1290320" y="4612640"/>
            <a:ext cx="944880" cy="528320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n>
                <a:solidFill>
                  <a:srgbClr val="C00000"/>
                </a:solidFill>
              </a:ln>
            </a:endParaRP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7DBD97A6-D29B-E1D6-02C5-54773E32EC83}"/>
              </a:ext>
            </a:extLst>
          </p:cNvPr>
          <p:cNvSpPr/>
          <p:nvPr/>
        </p:nvSpPr>
        <p:spPr>
          <a:xfrm>
            <a:off x="4399280" y="5486400"/>
            <a:ext cx="944880" cy="528320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n>
                <a:solidFill>
                  <a:srgbClr val="C00000"/>
                </a:solidFill>
              </a:ln>
            </a:endParaRPr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CDFF9CE0-F5AF-E289-F0E7-884CB61B5452}"/>
              </a:ext>
            </a:extLst>
          </p:cNvPr>
          <p:cNvSpPr/>
          <p:nvPr/>
        </p:nvSpPr>
        <p:spPr>
          <a:xfrm>
            <a:off x="4399280" y="6356350"/>
            <a:ext cx="944880" cy="328930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n>
                <a:solidFill>
                  <a:srgbClr val="C00000"/>
                </a:solidFill>
              </a:ln>
            </a:endParaRP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AA8D6AB5-63E9-ADED-8896-87251684D7EF}"/>
              </a:ext>
            </a:extLst>
          </p:cNvPr>
          <p:cNvSpPr/>
          <p:nvPr/>
        </p:nvSpPr>
        <p:spPr>
          <a:xfrm>
            <a:off x="8540750" y="3647440"/>
            <a:ext cx="847090" cy="410210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n>
                <a:solidFill>
                  <a:srgbClr val="C00000"/>
                </a:solidFill>
              </a:ln>
            </a:endParaRPr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3DCAED7C-E795-60DF-2590-18865D861821}"/>
              </a:ext>
            </a:extLst>
          </p:cNvPr>
          <p:cNvSpPr/>
          <p:nvPr/>
        </p:nvSpPr>
        <p:spPr>
          <a:xfrm>
            <a:off x="7249160" y="4549140"/>
            <a:ext cx="944880" cy="480060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n>
                <a:solidFill>
                  <a:srgbClr val="C0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2682664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F56D74-8D44-F18C-0ABD-64C2FF669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Example coreference </a:t>
            </a:r>
            <a:endParaRPr lang="en-GB" dirty="0"/>
          </a:p>
        </p:txBody>
      </p:sp>
      <p:pic>
        <p:nvPicPr>
          <p:cNvPr id="1026" name="Picture 2" descr="Breast cancer - Symptoms and causes - Mayo Clinic">
            <a:extLst>
              <a:ext uri="{FF2B5EF4-FFF2-40B4-BE49-F238E27FC236}">
                <a16:creationId xmlns:a16="http://schemas.microsoft.com/office/drawing/2014/main" id="{4359B930-8F06-BF43-6EB1-2D800875A9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9000"/>
                    </a14:imgEffect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1" y="4405047"/>
            <a:ext cx="1615208" cy="1615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Ellipse 6">
            <a:extLst>
              <a:ext uri="{FF2B5EF4-FFF2-40B4-BE49-F238E27FC236}">
                <a16:creationId xmlns:a16="http://schemas.microsoft.com/office/drawing/2014/main" id="{4473AA33-158F-18EA-B4E1-0E1050439262}"/>
              </a:ext>
            </a:extLst>
          </p:cNvPr>
          <p:cNvSpPr/>
          <p:nvPr/>
        </p:nvSpPr>
        <p:spPr>
          <a:xfrm>
            <a:off x="1611168" y="5241114"/>
            <a:ext cx="221673" cy="23090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8" name="Picture 2" descr="Breast cancer - Symptoms and causes - Mayo Clinic">
            <a:extLst>
              <a:ext uri="{FF2B5EF4-FFF2-40B4-BE49-F238E27FC236}">
                <a16:creationId xmlns:a16="http://schemas.microsoft.com/office/drawing/2014/main" id="{8BCBD573-9D26-0F85-A8B0-A8E8D05D6A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9000"/>
                    </a14:imgEffect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4100" y="4405047"/>
            <a:ext cx="1615208" cy="1615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Ellipse 8">
            <a:extLst>
              <a:ext uri="{FF2B5EF4-FFF2-40B4-BE49-F238E27FC236}">
                <a16:creationId xmlns:a16="http://schemas.microsoft.com/office/drawing/2014/main" id="{81DC9617-FB76-89EC-C635-A1699D051D72}"/>
              </a:ext>
            </a:extLst>
          </p:cNvPr>
          <p:cNvSpPr/>
          <p:nvPr/>
        </p:nvSpPr>
        <p:spPr>
          <a:xfrm>
            <a:off x="4740867" y="5241114"/>
            <a:ext cx="221673" cy="23090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0" name="Picture 2" descr="Breast cancer - Symptoms and causes - Mayo Clinic">
            <a:extLst>
              <a:ext uri="{FF2B5EF4-FFF2-40B4-BE49-F238E27FC236}">
                <a16:creationId xmlns:a16="http://schemas.microsoft.com/office/drawing/2014/main" id="{04486606-F79E-6AFB-C8EA-576D2240DD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9000"/>
                    </a14:imgEffect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1823" y="4405047"/>
            <a:ext cx="1615208" cy="1615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Ellipse 10">
            <a:extLst>
              <a:ext uri="{FF2B5EF4-FFF2-40B4-BE49-F238E27FC236}">
                <a16:creationId xmlns:a16="http://schemas.microsoft.com/office/drawing/2014/main" id="{4E716AF5-8C55-E471-82BE-AEA31E7D2FBB}"/>
              </a:ext>
            </a:extLst>
          </p:cNvPr>
          <p:cNvSpPr/>
          <p:nvPr/>
        </p:nvSpPr>
        <p:spPr>
          <a:xfrm>
            <a:off x="7738590" y="5241114"/>
            <a:ext cx="221673" cy="23090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2" name="Picture 2" descr="Breast cancer - Symptoms and causes - Mayo Clinic">
            <a:extLst>
              <a:ext uri="{FF2B5EF4-FFF2-40B4-BE49-F238E27FC236}">
                <a16:creationId xmlns:a16="http://schemas.microsoft.com/office/drawing/2014/main" id="{7312E722-2B1C-B144-8164-DDB4138A40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9000"/>
                    </a14:imgEffect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7827" y="4405047"/>
            <a:ext cx="1615208" cy="1615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Ellipse 12">
            <a:extLst>
              <a:ext uri="{FF2B5EF4-FFF2-40B4-BE49-F238E27FC236}">
                <a16:creationId xmlns:a16="http://schemas.microsoft.com/office/drawing/2014/main" id="{A01115C7-D5B9-867C-CA2F-DC90ED115B77}"/>
              </a:ext>
            </a:extLst>
          </p:cNvPr>
          <p:cNvSpPr/>
          <p:nvPr/>
        </p:nvSpPr>
        <p:spPr>
          <a:xfrm>
            <a:off x="10764594" y="5241114"/>
            <a:ext cx="221673" cy="23090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66EC0779-BFBF-1E18-AC01-F1A3CC132C7E}"/>
              </a:ext>
            </a:extLst>
          </p:cNvPr>
          <p:cNvSpPr/>
          <p:nvPr/>
        </p:nvSpPr>
        <p:spPr>
          <a:xfrm>
            <a:off x="10396950" y="4981743"/>
            <a:ext cx="76230" cy="8045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64D6E323-2DFF-2EC0-2A21-712BA31EB89A}"/>
              </a:ext>
            </a:extLst>
          </p:cNvPr>
          <p:cNvSpPr/>
          <p:nvPr/>
        </p:nvSpPr>
        <p:spPr>
          <a:xfrm>
            <a:off x="10511642" y="5171851"/>
            <a:ext cx="76230" cy="8045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DEE33943-1299-5F26-0F1D-B50B6B377698}"/>
              </a:ext>
            </a:extLst>
          </p:cNvPr>
          <p:cNvSpPr/>
          <p:nvPr/>
        </p:nvSpPr>
        <p:spPr>
          <a:xfrm>
            <a:off x="10569772" y="5352532"/>
            <a:ext cx="76230" cy="8045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D6ADA049-28D3-7962-F143-20AF76F8E311}"/>
              </a:ext>
            </a:extLst>
          </p:cNvPr>
          <p:cNvSpPr txBox="1"/>
          <p:nvPr/>
        </p:nvSpPr>
        <p:spPr>
          <a:xfrm>
            <a:off x="3252576" y="2047579"/>
            <a:ext cx="269370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/>
              <a:t>254837009 </a:t>
            </a:r>
            <a:br>
              <a:rPr lang="en-GB" sz="1400"/>
            </a:br>
            <a:r>
              <a:rPr lang="en-GB" sz="1400"/>
              <a:t>|Malignant neoplasm </a:t>
            </a:r>
            <a:br>
              <a:rPr lang="en-GB" sz="1400"/>
            </a:br>
            <a:r>
              <a:rPr lang="en-GB" sz="1400"/>
              <a:t>of breast (disorder)|</a:t>
            </a:r>
            <a:endParaRPr lang="en-GB" sz="1400" dirty="0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E35E20D1-573D-D60E-9EC3-B0F87F0B57EE}"/>
              </a:ext>
            </a:extLst>
          </p:cNvPr>
          <p:cNvSpPr txBox="1"/>
          <p:nvPr/>
        </p:nvSpPr>
        <p:spPr>
          <a:xfrm>
            <a:off x="587325" y="2030772"/>
            <a:ext cx="245753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dirty="0"/>
              <a:t>126926005</a:t>
            </a:r>
            <a:br>
              <a:rPr lang="en-GB" sz="1400" dirty="0"/>
            </a:br>
            <a:r>
              <a:rPr lang="en-GB" sz="1400" dirty="0"/>
              <a:t> |Neoplasm of breast (disorder)|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582FE246-19C2-92EE-792D-2A2A377BF3CE}"/>
              </a:ext>
            </a:extLst>
          </p:cNvPr>
          <p:cNvSpPr txBox="1"/>
          <p:nvPr/>
        </p:nvSpPr>
        <p:spPr>
          <a:xfrm>
            <a:off x="6335850" y="2138224"/>
            <a:ext cx="26937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dirty="0"/>
              <a:t>278054005 |Lobular carcinoma of breast (disorder)|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E7015D1B-1C89-5433-2CAB-CB563CDDCF4D}"/>
              </a:ext>
            </a:extLst>
          </p:cNvPr>
          <p:cNvSpPr txBox="1"/>
          <p:nvPr/>
        </p:nvSpPr>
        <p:spPr>
          <a:xfrm>
            <a:off x="9308720" y="1761153"/>
            <a:ext cx="286846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dirty="0"/>
              <a:t>713609000 |Invasive </a:t>
            </a:r>
            <a:br>
              <a:rPr lang="en-GB" sz="1400" dirty="0"/>
            </a:br>
            <a:r>
              <a:rPr lang="en-GB" sz="1400" dirty="0"/>
              <a:t>carcinoma of breast (disorder)|</a:t>
            </a:r>
            <a:br>
              <a:rPr lang="en-GB" sz="1400" dirty="0"/>
            </a:br>
            <a:r>
              <a:rPr lang="en-GB" sz="1400" dirty="0"/>
              <a:t>AND</a:t>
            </a:r>
            <a:br>
              <a:rPr lang="en-GB" sz="1400" dirty="0"/>
            </a:br>
            <a:endParaRPr lang="en-GB" sz="1400" dirty="0"/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350FC9A8-135E-B8C3-C12C-2BA8838685BF}"/>
              </a:ext>
            </a:extLst>
          </p:cNvPr>
          <p:cNvSpPr txBox="1"/>
          <p:nvPr/>
        </p:nvSpPr>
        <p:spPr>
          <a:xfrm>
            <a:off x="9380031" y="2438617"/>
            <a:ext cx="26937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 dirty="0"/>
              <a:t>278054005 |Lobular carcinoma of breast (disorder)|</a:t>
            </a:r>
          </a:p>
        </p:txBody>
      </p: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2F8852D0-75DB-02F5-03AF-71BA274DF8D1}"/>
              </a:ext>
            </a:extLst>
          </p:cNvPr>
          <p:cNvCxnSpPr/>
          <p:nvPr/>
        </p:nvCxnSpPr>
        <p:spPr>
          <a:xfrm>
            <a:off x="3101419" y="1917499"/>
            <a:ext cx="0" cy="4582375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A70C2529-0EE1-41AF-4B1D-FD5359D1005A}"/>
              </a:ext>
            </a:extLst>
          </p:cNvPr>
          <p:cNvCxnSpPr/>
          <p:nvPr/>
        </p:nvCxnSpPr>
        <p:spPr>
          <a:xfrm>
            <a:off x="6114854" y="1917498"/>
            <a:ext cx="0" cy="4582375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8FD6FF37-7F62-9E6C-853F-4A76593F3D6B}"/>
              </a:ext>
            </a:extLst>
          </p:cNvPr>
          <p:cNvCxnSpPr/>
          <p:nvPr/>
        </p:nvCxnSpPr>
        <p:spPr>
          <a:xfrm>
            <a:off x="9169139" y="1917497"/>
            <a:ext cx="0" cy="4582375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feld 28">
            <a:extLst>
              <a:ext uri="{FF2B5EF4-FFF2-40B4-BE49-F238E27FC236}">
                <a16:creationId xmlns:a16="http://schemas.microsoft.com/office/drawing/2014/main" id="{C9956871-9D4D-3293-03B6-7C148BA1647D}"/>
              </a:ext>
            </a:extLst>
          </p:cNvPr>
          <p:cNvSpPr txBox="1"/>
          <p:nvPr/>
        </p:nvSpPr>
        <p:spPr>
          <a:xfrm>
            <a:off x="1216059" y="1320968"/>
            <a:ext cx="480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/>
              <a:t>t</a:t>
            </a:r>
            <a:r>
              <a:rPr lang="en-GB" sz="2400" baseline="-25000"/>
              <a:t>1</a:t>
            </a:r>
            <a:endParaRPr lang="en-GB" sz="2400" baseline="-25000" dirty="0"/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5DC0716F-4418-E35E-702F-7AA4332F8F61}"/>
              </a:ext>
            </a:extLst>
          </p:cNvPr>
          <p:cNvSpPr txBox="1"/>
          <p:nvPr/>
        </p:nvSpPr>
        <p:spPr>
          <a:xfrm>
            <a:off x="4229493" y="1320967"/>
            <a:ext cx="480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/>
              <a:t>t</a:t>
            </a:r>
            <a:r>
              <a:rPr lang="en-GB" sz="2400" baseline="-25000"/>
              <a:t>2</a:t>
            </a:r>
            <a:endParaRPr lang="en-GB" sz="2400" baseline="-25000" dirty="0"/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A7A4A509-1431-DBC4-725C-2F4F1ECF919F}"/>
              </a:ext>
            </a:extLst>
          </p:cNvPr>
          <p:cNvSpPr txBox="1"/>
          <p:nvPr/>
        </p:nvSpPr>
        <p:spPr>
          <a:xfrm>
            <a:off x="7180151" y="1320967"/>
            <a:ext cx="480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/>
              <a:t>t</a:t>
            </a:r>
            <a:r>
              <a:rPr lang="en-GB" sz="2400" baseline="-25000"/>
              <a:t>3</a:t>
            </a:r>
            <a:endParaRPr lang="en-GB" sz="2400" baseline="-25000" dirty="0"/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2587BD59-062A-A60D-0763-29E486D911D9}"/>
              </a:ext>
            </a:extLst>
          </p:cNvPr>
          <p:cNvSpPr txBox="1"/>
          <p:nvPr/>
        </p:nvSpPr>
        <p:spPr>
          <a:xfrm>
            <a:off x="10193585" y="1320966"/>
            <a:ext cx="480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/>
              <a:t>t</a:t>
            </a:r>
            <a:r>
              <a:rPr lang="en-GB" sz="2400" baseline="-25000"/>
              <a:t>4</a:t>
            </a:r>
            <a:endParaRPr lang="en-GB" sz="2400" baseline="-25000" dirty="0"/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B948C90E-F36F-2C34-C5A3-3B1D431BF9CD}"/>
              </a:ext>
            </a:extLst>
          </p:cNvPr>
          <p:cNvSpPr txBox="1"/>
          <p:nvPr/>
        </p:nvSpPr>
        <p:spPr>
          <a:xfrm>
            <a:off x="754144" y="6183985"/>
            <a:ext cx="7711125" cy="646331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 lobular carcinoma </a:t>
            </a:r>
            <a:br>
              <a:rPr lang="en-GB" dirty="0">
                <a:solidFill>
                  <a:schemeClr val="bg1"/>
                </a:solidFill>
              </a:rPr>
            </a:br>
            <a:r>
              <a:rPr lang="en-GB" dirty="0">
                <a:solidFill>
                  <a:schemeClr val="bg1"/>
                </a:solidFill>
              </a:rPr>
              <a:t>of breast</a:t>
            </a: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90438C3D-3FBF-3B42-F78E-1608C2543B58}"/>
              </a:ext>
            </a:extLst>
          </p:cNvPr>
          <p:cNvSpPr txBox="1"/>
          <p:nvPr/>
        </p:nvSpPr>
        <p:spPr>
          <a:xfrm>
            <a:off x="9417739" y="6183983"/>
            <a:ext cx="2610862" cy="646331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Invasive lobular carcinoma of breast</a:t>
            </a:r>
          </a:p>
        </p:txBody>
      </p: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75BF3D71-C679-E1CA-24AB-0CD6002E8124}"/>
              </a:ext>
            </a:extLst>
          </p:cNvPr>
          <p:cNvCxnSpPr>
            <a:cxnSpLocks/>
          </p:cNvCxnSpPr>
          <p:nvPr/>
        </p:nvCxnSpPr>
        <p:spPr>
          <a:xfrm flipH="1">
            <a:off x="0" y="4086138"/>
            <a:ext cx="12073740" cy="5699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Pfeil: nach unten 37">
            <a:extLst>
              <a:ext uri="{FF2B5EF4-FFF2-40B4-BE49-F238E27FC236}">
                <a16:creationId xmlns:a16="http://schemas.microsoft.com/office/drawing/2014/main" id="{A34CCA03-899C-363F-8857-2937C05EC933}"/>
              </a:ext>
            </a:extLst>
          </p:cNvPr>
          <p:cNvSpPr/>
          <p:nvPr/>
        </p:nvSpPr>
        <p:spPr>
          <a:xfrm rot="10800000">
            <a:off x="1611845" y="2815688"/>
            <a:ext cx="220996" cy="343360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39" name="Pfeil: nach unten 38">
            <a:extLst>
              <a:ext uri="{FF2B5EF4-FFF2-40B4-BE49-F238E27FC236}">
                <a16:creationId xmlns:a16="http://schemas.microsoft.com/office/drawing/2014/main" id="{644EF890-A503-1D23-FCC0-7016712D9C0A}"/>
              </a:ext>
            </a:extLst>
          </p:cNvPr>
          <p:cNvSpPr/>
          <p:nvPr/>
        </p:nvSpPr>
        <p:spPr>
          <a:xfrm rot="10800000">
            <a:off x="4447921" y="2800328"/>
            <a:ext cx="220996" cy="343360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40" name="Pfeil: nach unten 39">
            <a:extLst>
              <a:ext uri="{FF2B5EF4-FFF2-40B4-BE49-F238E27FC236}">
                <a16:creationId xmlns:a16="http://schemas.microsoft.com/office/drawing/2014/main" id="{8EFE10E0-8C60-CD7A-8EEF-E0CE4C74E828}"/>
              </a:ext>
            </a:extLst>
          </p:cNvPr>
          <p:cNvSpPr/>
          <p:nvPr/>
        </p:nvSpPr>
        <p:spPr>
          <a:xfrm rot="10800000">
            <a:off x="7474660" y="2733938"/>
            <a:ext cx="220996" cy="343360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41" name="Pfeil: nach unten 40">
            <a:extLst>
              <a:ext uri="{FF2B5EF4-FFF2-40B4-BE49-F238E27FC236}">
                <a16:creationId xmlns:a16="http://schemas.microsoft.com/office/drawing/2014/main" id="{450565C9-A72B-2F5E-97FE-F724EA567267}"/>
              </a:ext>
            </a:extLst>
          </p:cNvPr>
          <p:cNvSpPr/>
          <p:nvPr/>
        </p:nvSpPr>
        <p:spPr>
          <a:xfrm rot="10800000">
            <a:off x="10587872" y="2921152"/>
            <a:ext cx="220996" cy="343360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 dirty="0"/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82688D0E-D52A-FC5B-72C9-3494B24BD061}"/>
              </a:ext>
            </a:extLst>
          </p:cNvPr>
          <p:cNvSpPr txBox="1"/>
          <p:nvPr/>
        </p:nvSpPr>
        <p:spPr>
          <a:xfrm flipH="1">
            <a:off x="1760225" y="2862352"/>
            <a:ext cx="11955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/>
              <a:t>rdf:type</a:t>
            </a:r>
            <a:endParaRPr lang="en-GB" sz="1400" dirty="0"/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ECCCC8F1-60D8-3612-0DD2-56484501FF1C}"/>
              </a:ext>
            </a:extLst>
          </p:cNvPr>
          <p:cNvSpPr txBox="1"/>
          <p:nvPr/>
        </p:nvSpPr>
        <p:spPr>
          <a:xfrm flipH="1">
            <a:off x="4663220" y="2854826"/>
            <a:ext cx="11955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/>
              <a:t>rdf:type</a:t>
            </a:r>
            <a:endParaRPr lang="en-GB" sz="1400" dirty="0"/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B5FEA4E1-4404-C104-38DD-BE99418940AA}"/>
              </a:ext>
            </a:extLst>
          </p:cNvPr>
          <p:cNvSpPr txBox="1"/>
          <p:nvPr/>
        </p:nvSpPr>
        <p:spPr>
          <a:xfrm flipH="1">
            <a:off x="7801736" y="2790346"/>
            <a:ext cx="11955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/>
              <a:t>rdf:type</a:t>
            </a:r>
            <a:endParaRPr lang="en-GB" sz="1400" dirty="0"/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C89D25A5-44AD-FA8D-1142-585BF4F8DDC5}"/>
              </a:ext>
            </a:extLst>
          </p:cNvPr>
          <p:cNvSpPr txBox="1"/>
          <p:nvPr/>
        </p:nvSpPr>
        <p:spPr>
          <a:xfrm flipH="1">
            <a:off x="10808868" y="3024642"/>
            <a:ext cx="11955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/>
              <a:t>rdf:type</a:t>
            </a:r>
            <a:endParaRPr lang="en-GB" sz="1400" dirty="0"/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A8EFBD34-F010-38BC-FE83-8798D15DA130}"/>
              </a:ext>
            </a:extLst>
          </p:cNvPr>
          <p:cNvSpPr txBox="1"/>
          <p:nvPr/>
        </p:nvSpPr>
        <p:spPr>
          <a:xfrm>
            <a:off x="946915" y="3293510"/>
            <a:ext cx="16160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/>
              <a:t>NoB34u73axn4us</a:t>
            </a:r>
            <a:endParaRPr lang="en-GB" sz="1400" dirty="0"/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94A378ED-DC14-505E-08F2-D06BEA98836D}"/>
              </a:ext>
            </a:extLst>
          </p:cNvPr>
          <p:cNvSpPr txBox="1"/>
          <p:nvPr/>
        </p:nvSpPr>
        <p:spPr>
          <a:xfrm>
            <a:off x="3764440" y="3273941"/>
            <a:ext cx="16160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/>
              <a:t>MoBkj88935elp</a:t>
            </a:r>
            <a:endParaRPr lang="en-GB" sz="1400" dirty="0"/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5B0D1DAC-53CF-B373-4178-292DE58EC3E5}"/>
              </a:ext>
            </a:extLst>
          </p:cNvPr>
          <p:cNvSpPr txBox="1"/>
          <p:nvPr/>
        </p:nvSpPr>
        <p:spPr>
          <a:xfrm>
            <a:off x="6607475" y="3264512"/>
            <a:ext cx="19795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/>
              <a:t>LCBrrp009g65t</a:t>
            </a:r>
            <a:endParaRPr lang="en-GB" sz="1400" dirty="0"/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DE28839A-124D-FB9E-DAD9-5E1438528A2D}"/>
              </a:ext>
            </a:extLst>
          </p:cNvPr>
          <p:cNvSpPr txBox="1"/>
          <p:nvPr/>
        </p:nvSpPr>
        <p:spPr>
          <a:xfrm>
            <a:off x="9697748" y="3384739"/>
            <a:ext cx="20763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400"/>
              <a:t>ILCB4tz5pplkll</a:t>
            </a:r>
            <a:endParaRPr lang="en-GB" sz="1400" dirty="0"/>
          </a:p>
        </p:txBody>
      </p:sp>
      <p:sp>
        <p:nvSpPr>
          <p:cNvPr id="52" name="Textfeld 51">
            <a:extLst>
              <a:ext uri="{FF2B5EF4-FFF2-40B4-BE49-F238E27FC236}">
                <a16:creationId xmlns:a16="http://schemas.microsoft.com/office/drawing/2014/main" id="{D338E39A-D3B4-1564-1FD2-C6B42EF66089}"/>
              </a:ext>
            </a:extLst>
          </p:cNvPr>
          <p:cNvSpPr txBox="1"/>
          <p:nvPr/>
        </p:nvSpPr>
        <p:spPr>
          <a:xfrm flipH="1">
            <a:off x="2717408" y="3271094"/>
            <a:ext cx="11955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/>
              <a:t>owl:sameAs</a:t>
            </a:r>
            <a:endParaRPr lang="en-GB" sz="1400" dirty="0"/>
          </a:p>
        </p:txBody>
      </p:sp>
      <p:sp>
        <p:nvSpPr>
          <p:cNvPr id="53" name="Textfeld 52">
            <a:extLst>
              <a:ext uri="{FF2B5EF4-FFF2-40B4-BE49-F238E27FC236}">
                <a16:creationId xmlns:a16="http://schemas.microsoft.com/office/drawing/2014/main" id="{0B41D9D7-B558-76BF-D480-52F22C431F96}"/>
              </a:ext>
            </a:extLst>
          </p:cNvPr>
          <p:cNvSpPr txBox="1"/>
          <p:nvPr/>
        </p:nvSpPr>
        <p:spPr>
          <a:xfrm flipH="1">
            <a:off x="5637165" y="3298715"/>
            <a:ext cx="11955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/>
              <a:t>owl:sameAs</a:t>
            </a:r>
            <a:endParaRPr lang="en-GB" sz="1400" dirty="0"/>
          </a:p>
        </p:txBody>
      </p:sp>
      <p:sp>
        <p:nvSpPr>
          <p:cNvPr id="54" name="Textfeld 53">
            <a:extLst>
              <a:ext uri="{FF2B5EF4-FFF2-40B4-BE49-F238E27FC236}">
                <a16:creationId xmlns:a16="http://schemas.microsoft.com/office/drawing/2014/main" id="{654B4714-55D8-E732-D8ED-5F8935FBD46F}"/>
              </a:ext>
            </a:extLst>
          </p:cNvPr>
          <p:cNvSpPr txBox="1"/>
          <p:nvPr/>
        </p:nvSpPr>
        <p:spPr>
          <a:xfrm flipH="1">
            <a:off x="8745576" y="3307437"/>
            <a:ext cx="11955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/>
              <a:t>owl:sameAs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14318212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1B954E-301C-DADE-A578-90523B918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Improving</a:t>
            </a:r>
            <a:r>
              <a:rPr lang="de-DE" dirty="0"/>
              <a:t> </a:t>
            </a:r>
            <a:r>
              <a:rPr lang="de-DE" dirty="0" err="1"/>
              <a:t>results</a:t>
            </a:r>
            <a:r>
              <a:rPr lang="de-DE" dirty="0"/>
              <a:t> </a:t>
            </a:r>
            <a:r>
              <a:rPr lang="de-DE" dirty="0" err="1"/>
              <a:t>using</a:t>
            </a:r>
            <a:r>
              <a:rPr lang="de-DE" dirty="0"/>
              <a:t> LLMs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40B5DD8-7F4D-4DFB-03E3-4E9591AAE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Shortcomings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established</a:t>
            </a:r>
            <a:r>
              <a:rPr lang="de-DE" dirty="0"/>
              <a:t> </a:t>
            </a:r>
            <a:r>
              <a:rPr lang="de-DE" dirty="0" err="1"/>
              <a:t>concept</a:t>
            </a:r>
            <a:r>
              <a:rPr lang="de-DE" dirty="0"/>
              <a:t> </a:t>
            </a:r>
            <a:r>
              <a:rPr lang="de-DE" dirty="0" err="1"/>
              <a:t>recognition</a:t>
            </a:r>
            <a:r>
              <a:rPr lang="de-DE" dirty="0"/>
              <a:t> </a:t>
            </a:r>
            <a:r>
              <a:rPr lang="de-DE" dirty="0" err="1"/>
              <a:t>approaches</a:t>
            </a:r>
            <a:r>
              <a:rPr lang="de-DE" dirty="0"/>
              <a:t>:</a:t>
            </a:r>
          </a:p>
          <a:p>
            <a:pPr lvl="1"/>
            <a:r>
              <a:rPr lang="de-DE" dirty="0"/>
              <a:t>Out-</a:t>
            </a:r>
            <a:r>
              <a:rPr lang="de-DE" dirty="0" err="1"/>
              <a:t>of</a:t>
            </a:r>
            <a:r>
              <a:rPr lang="de-DE" dirty="0"/>
              <a:t>-</a:t>
            </a:r>
            <a:r>
              <a:rPr lang="de-DE" dirty="0" err="1"/>
              <a:t>dictionary</a:t>
            </a:r>
            <a:r>
              <a:rPr lang="de-DE" dirty="0"/>
              <a:t> </a:t>
            </a:r>
            <a:r>
              <a:rPr lang="de-DE" dirty="0" err="1"/>
              <a:t>expressions</a:t>
            </a:r>
            <a:endParaRPr lang="de-DE" dirty="0"/>
          </a:p>
          <a:p>
            <a:pPr lvl="1"/>
            <a:r>
              <a:rPr lang="de-DE" dirty="0"/>
              <a:t>Spelling </a:t>
            </a:r>
            <a:r>
              <a:rPr lang="de-DE" dirty="0" err="1"/>
              <a:t>errors</a:t>
            </a:r>
            <a:endParaRPr lang="de-DE" dirty="0"/>
          </a:p>
          <a:p>
            <a:pPr lvl="1"/>
            <a:r>
              <a:rPr lang="de-DE" dirty="0" err="1"/>
              <a:t>Ellipses</a:t>
            </a:r>
            <a:r>
              <a:rPr lang="de-DE" dirty="0"/>
              <a:t>, </a:t>
            </a:r>
            <a:r>
              <a:rPr lang="de-DE" dirty="0" err="1"/>
              <a:t>co-ordinations</a:t>
            </a:r>
            <a:r>
              <a:rPr lang="de-DE" dirty="0"/>
              <a:t>, </a:t>
            </a:r>
            <a:r>
              <a:rPr lang="de-DE" dirty="0" err="1"/>
              <a:t>anaphora</a:t>
            </a:r>
            <a:endParaRPr lang="de-DE" dirty="0"/>
          </a:p>
          <a:p>
            <a:pPr lvl="1"/>
            <a:r>
              <a:rPr lang="de-DE" dirty="0" err="1"/>
              <a:t>Tabular</a:t>
            </a:r>
            <a:r>
              <a:rPr lang="de-DE" dirty="0"/>
              <a:t> </a:t>
            </a:r>
            <a:r>
              <a:rPr lang="de-DE" dirty="0" err="1"/>
              <a:t>content</a:t>
            </a:r>
            <a:endParaRPr lang="de-DE" dirty="0"/>
          </a:p>
          <a:p>
            <a:pPr lvl="1"/>
            <a:r>
              <a:rPr lang="de-DE" dirty="0"/>
              <a:t>Hidden </a:t>
            </a:r>
            <a:r>
              <a:rPr lang="de-DE" dirty="0" err="1"/>
              <a:t>negations</a:t>
            </a:r>
            <a:endParaRPr lang="de-DE" dirty="0"/>
          </a:p>
          <a:p>
            <a:pPr lvl="1"/>
            <a:r>
              <a:rPr lang="de-DE" dirty="0"/>
              <a:t>Brand </a:t>
            </a:r>
            <a:r>
              <a:rPr lang="de-DE" dirty="0" err="1"/>
              <a:t>names</a:t>
            </a:r>
            <a:endParaRPr lang="de-DE" dirty="0"/>
          </a:p>
          <a:p>
            <a:pPr lvl="1"/>
            <a:r>
              <a:rPr lang="de-DE" dirty="0" err="1"/>
              <a:t>Itemization</a:t>
            </a:r>
            <a:r>
              <a:rPr lang="de-DE" dirty="0"/>
              <a:t> / </a:t>
            </a:r>
            <a:r>
              <a:rPr lang="de-DE" dirty="0" err="1"/>
              <a:t>enumeration</a:t>
            </a:r>
            <a:endParaRPr lang="de-DE" dirty="0"/>
          </a:p>
          <a:p>
            <a:r>
              <a:rPr lang="de-DE" dirty="0"/>
              <a:t>"</a:t>
            </a:r>
            <a:r>
              <a:rPr lang="de-DE" dirty="0" err="1"/>
              <a:t>Document</a:t>
            </a:r>
            <a:r>
              <a:rPr lang="de-DE" dirty="0"/>
              <a:t> </a:t>
            </a:r>
            <a:r>
              <a:rPr lang="de-DE" dirty="0" err="1"/>
              <a:t>cleansing</a:t>
            </a:r>
            <a:r>
              <a:rPr lang="de-DE" dirty="0"/>
              <a:t>" </a:t>
            </a:r>
            <a:r>
              <a:rPr lang="de-DE" dirty="0" err="1"/>
              <a:t>using</a:t>
            </a:r>
            <a:r>
              <a:rPr lang="de-DE" dirty="0"/>
              <a:t> LLMs</a:t>
            </a:r>
          </a:p>
          <a:p>
            <a:pPr lvl="1"/>
            <a:r>
              <a:rPr lang="de-DE" dirty="0" err="1"/>
              <a:t>Rewriting</a:t>
            </a:r>
            <a:r>
              <a:rPr lang="de-DE" dirty="0"/>
              <a:t> </a:t>
            </a:r>
            <a:r>
              <a:rPr lang="de-DE" dirty="0" err="1"/>
              <a:t>document</a:t>
            </a:r>
            <a:r>
              <a:rPr lang="de-DE" dirty="0"/>
              <a:t>, </a:t>
            </a:r>
            <a:r>
              <a:rPr lang="de-DE" dirty="0" err="1"/>
              <a:t>resolving</a:t>
            </a:r>
            <a:r>
              <a:rPr lang="de-DE" dirty="0"/>
              <a:t> </a:t>
            </a:r>
            <a:r>
              <a:rPr lang="de-DE" dirty="0" err="1"/>
              <a:t>abovementioned</a:t>
            </a:r>
            <a:r>
              <a:rPr lang="de-DE" dirty="0"/>
              <a:t> </a:t>
            </a:r>
            <a:r>
              <a:rPr lang="de-DE" dirty="0" err="1"/>
              <a:t>issues</a:t>
            </a:r>
            <a:endParaRPr lang="de-DE" dirty="0"/>
          </a:p>
          <a:p>
            <a:pPr lvl="1"/>
            <a:r>
              <a:rPr lang="de-DE" dirty="0" err="1"/>
              <a:t>Normalization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syntax</a:t>
            </a:r>
            <a:r>
              <a:rPr lang="de-DE" dirty="0"/>
              <a:t> – </a:t>
            </a:r>
            <a:r>
              <a:rPr lang="de-DE" dirty="0" err="1"/>
              <a:t>transformation</a:t>
            </a:r>
            <a:r>
              <a:rPr lang="de-DE" dirty="0"/>
              <a:t> </a:t>
            </a:r>
            <a:r>
              <a:rPr lang="de-DE" dirty="0" err="1"/>
              <a:t>into</a:t>
            </a:r>
            <a:r>
              <a:rPr lang="de-DE" dirty="0"/>
              <a:t> </a:t>
            </a:r>
            <a:r>
              <a:rPr lang="de-DE" dirty="0" err="1"/>
              <a:t>Subject-Predicate-Object</a:t>
            </a:r>
            <a:r>
              <a:rPr lang="de-DE" dirty="0"/>
              <a:t> </a:t>
            </a:r>
            <a:r>
              <a:rPr lang="de-DE" dirty="0" err="1"/>
              <a:t>triples</a:t>
            </a:r>
            <a:endParaRPr lang="de-DE" dirty="0"/>
          </a:p>
          <a:p>
            <a:pPr marL="457200" lvl="1" indent="0">
              <a:buNone/>
            </a:pPr>
            <a:r>
              <a:rPr lang="de-DE" dirty="0"/>
              <a:t> </a:t>
            </a:r>
          </a:p>
          <a:p>
            <a:pPr lvl="1"/>
            <a:endParaRPr lang="de-DE" dirty="0"/>
          </a:p>
          <a:p>
            <a:pPr lvl="1"/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0F9519F2-296E-19D4-D51D-22B2A0F778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5828" y="2965154"/>
            <a:ext cx="1600424" cy="1590897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50787609-9FEE-CF1D-0C28-B52DD926C0FF}"/>
              </a:ext>
            </a:extLst>
          </p:cNvPr>
          <p:cNvSpPr txBox="1"/>
          <p:nvPr/>
        </p:nvSpPr>
        <p:spPr>
          <a:xfrm>
            <a:off x="8075541" y="2522974"/>
            <a:ext cx="2149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dirty="0" err="1"/>
              <a:t>Prompting</a:t>
            </a:r>
            <a:r>
              <a:rPr lang="de-DE" dirty="0"/>
              <a:t> </a:t>
            </a:r>
            <a:r>
              <a:rPr lang="de-DE" dirty="0" err="1"/>
              <a:t>exercise</a:t>
            </a:r>
            <a:endParaRPr lang="de-DE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F2EC67E9-F5E9-FBE8-5FB7-70A7DB4DA4F0}"/>
              </a:ext>
            </a:extLst>
          </p:cNvPr>
          <p:cNvSpPr txBox="1"/>
          <p:nvPr/>
        </p:nvSpPr>
        <p:spPr>
          <a:xfrm>
            <a:off x="8094976" y="4601113"/>
            <a:ext cx="2149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dirty="0" err="1">
                <a:hlinkClick r:id="rId3"/>
              </a:rPr>
              <a:t>Results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108526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Conclusion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The medical domain is rich of semantic resources, but heterogeneous</a:t>
            </a:r>
          </a:p>
          <a:p>
            <a:r>
              <a:rPr lang="en-GB" dirty="0"/>
              <a:t>Biomedical ontologies are rich in axioms, e.g. SNOMED CT</a:t>
            </a:r>
          </a:p>
          <a:p>
            <a:r>
              <a:rPr lang="en-GB" dirty="0"/>
              <a:t>Most relevant information is in clinical narratives</a:t>
            </a:r>
          </a:p>
          <a:p>
            <a:r>
              <a:rPr lang="en-GB" dirty="0"/>
              <a:t>Clinical language is particularly hard to normalize and disambiguate</a:t>
            </a:r>
          </a:p>
          <a:p>
            <a:r>
              <a:rPr lang="en-GB" dirty="0"/>
              <a:t>Much needed:</a:t>
            </a:r>
          </a:p>
          <a:p>
            <a:pPr lvl="1"/>
            <a:r>
              <a:rPr lang="en-GB" dirty="0"/>
              <a:t>Multilingual terminology resources</a:t>
            </a:r>
          </a:p>
          <a:p>
            <a:pPr lvl="1"/>
            <a:r>
              <a:rPr lang="en-GB" dirty="0"/>
              <a:t>Annotated corpora for training models and benchmarking implementations</a:t>
            </a:r>
          </a:p>
          <a:p>
            <a:pPr lvl="1"/>
            <a:r>
              <a:rPr lang="en-GB" dirty="0"/>
              <a:t>Scientific challenges for comparing and validating </a:t>
            </a:r>
          </a:p>
          <a:p>
            <a:pPr lvl="1"/>
            <a:r>
              <a:rPr lang="en-GB" dirty="0"/>
              <a:t>Safe access to clinical data extracts for research</a:t>
            </a:r>
          </a:p>
          <a:p>
            <a:r>
              <a:rPr lang="en-GB" dirty="0"/>
              <a:t>Combination of symbolic with probabilistic / neural methods: to explore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2328594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111624"/>
          </a:xfrm>
        </p:spPr>
        <p:txBody>
          <a:bodyPr/>
          <a:lstStyle/>
          <a:p>
            <a:pPr algn="ctr"/>
            <a:r>
              <a:rPr lang="en-GB" dirty="0"/>
              <a:t>Questions?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2529191"/>
            <a:ext cx="11372850" cy="4147380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Stefan Schulz:</a:t>
            </a:r>
            <a:br>
              <a:rPr lang="en-GB" dirty="0"/>
            </a:br>
            <a:br>
              <a:rPr lang="en-GB" dirty="0"/>
            </a:br>
            <a:r>
              <a:rPr lang="en-GB" dirty="0"/>
              <a:t>		</a:t>
            </a:r>
            <a:r>
              <a:rPr lang="en-GB" dirty="0">
                <a:hlinkClick r:id="rId2"/>
              </a:rPr>
              <a:t>stefan.schulz@medunigraz.at</a:t>
            </a:r>
            <a:r>
              <a:rPr lang="en-GB" dirty="0"/>
              <a:t> </a:t>
            </a:r>
          </a:p>
          <a:p>
            <a:pPr marL="0" indent="0">
              <a:buNone/>
            </a:pPr>
            <a:r>
              <a:rPr lang="en-GB" dirty="0"/>
              <a:t>		</a:t>
            </a:r>
            <a:r>
              <a:rPr lang="en-GB" dirty="0">
                <a:hlinkClick r:id="rId3"/>
              </a:rPr>
              <a:t>http://purl.org/steschu</a:t>
            </a:r>
            <a:r>
              <a:rPr lang="en-GB" dirty="0"/>
              <a:t> </a:t>
            </a:r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3102540"/>
            <a:ext cx="1225849" cy="1355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14202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8F24FB-D1BD-69AE-52C0-789AD9122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Annex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D89EA49-01D8-BB81-E29B-5FF99E9A62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248404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0E87DF-6219-60CE-D80A-FDD647E59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3B347A4-438A-9D1A-5E4F-3F3F14C4E4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102415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3189</Words>
  <Application>Microsoft Office PowerPoint</Application>
  <PresentationFormat>Breitbild</PresentationFormat>
  <Paragraphs>500</Paragraphs>
  <Slides>36</Slides>
  <Notes>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9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36</vt:i4>
      </vt:variant>
    </vt:vector>
  </HeadingPairs>
  <TitlesOfParts>
    <vt:vector size="46" baseType="lpstr">
      <vt:lpstr>Aptos</vt:lpstr>
      <vt:lpstr>Arial</vt:lpstr>
      <vt:lpstr>Calibri</vt:lpstr>
      <vt:lpstr>Calibri Light</vt:lpstr>
      <vt:lpstr>fkGroteskNeue</vt:lpstr>
      <vt:lpstr>Times New Roman</vt:lpstr>
      <vt:lpstr>Verdana</vt:lpstr>
      <vt:lpstr>Wingdings</vt:lpstr>
      <vt:lpstr>Wingdings 3</vt:lpstr>
      <vt:lpstr>Office</vt:lpstr>
      <vt:lpstr>Ontology, Terminology and Natural Language </vt:lpstr>
      <vt:lpstr>Motivation</vt:lpstr>
      <vt:lpstr>Example:  MeSH</vt:lpstr>
      <vt:lpstr>Example: WordNet</vt:lpstr>
      <vt:lpstr>Bringing ontology and terminology together: Example: SNOMED CT</vt:lpstr>
      <vt:lpstr>Bringing ontology and terminology together: Example: SNOMED CT                                             (browse)</vt:lpstr>
      <vt:lpstr>Terminology of terminology</vt:lpstr>
      <vt:lpstr>PowerPoint-Präsentation</vt:lpstr>
      <vt:lpstr>PowerPoint-Präsentation</vt:lpstr>
      <vt:lpstr>Human language</vt:lpstr>
      <vt:lpstr>PowerPoint-Präsentation</vt:lpstr>
      <vt:lpstr>PowerPoint-Präsentation</vt:lpstr>
      <vt:lpstr> 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Resolve competing semantic representations</vt:lpstr>
      <vt:lpstr>PowerPoint-Präsentation</vt:lpstr>
      <vt:lpstr>Data, reality and context</vt:lpstr>
      <vt:lpstr>Seminal papers</vt:lpstr>
      <vt:lpstr>PowerPoint-Präsentation</vt:lpstr>
      <vt:lpstr>PowerPoint-Präsentation</vt:lpstr>
      <vt:lpstr>Building resources: language specific dictionaries and linking to ontologies</vt:lpstr>
      <vt:lpstr>PowerPoint-Präsentation</vt:lpstr>
      <vt:lpstr>From annotation to ontology-based knowledge graph</vt:lpstr>
      <vt:lpstr>Example coreference </vt:lpstr>
      <vt:lpstr>Improving results using LLMs</vt:lpstr>
      <vt:lpstr>Conclusion</vt:lpstr>
      <vt:lpstr>Questions?</vt:lpstr>
      <vt:lpstr>Annex</vt:lpstr>
      <vt:lpstr>PowerPoint-Präsentation</vt:lpstr>
    </vt:vector>
  </TitlesOfParts>
  <Company>Medizinische Universitaet Graz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Aligning an administrative procedure coding system with SNOMED CT </dc:title>
  <dc:creator>Stefan Schulz</dc:creator>
  <cp:lastModifiedBy>Stefan Schulz</cp:lastModifiedBy>
  <cp:revision>133</cp:revision>
  <dcterms:created xsi:type="dcterms:W3CDTF">2019-09-22T09:30:36Z</dcterms:created>
  <dcterms:modified xsi:type="dcterms:W3CDTF">2025-09-19T06:45:05Z</dcterms:modified>
</cp:coreProperties>
</file>