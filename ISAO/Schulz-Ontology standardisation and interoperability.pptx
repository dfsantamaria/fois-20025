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445" r:id="rId4"/>
    <p:sldId id="313" r:id="rId5"/>
    <p:sldId id="304" r:id="rId6"/>
    <p:sldId id="442" r:id="rId7"/>
    <p:sldId id="306" r:id="rId8"/>
    <p:sldId id="307" r:id="rId9"/>
    <p:sldId id="443" r:id="rId10"/>
    <p:sldId id="305" r:id="rId11"/>
    <p:sldId id="308" r:id="rId12"/>
    <p:sldId id="309" r:id="rId13"/>
    <p:sldId id="311" r:id="rId14"/>
    <p:sldId id="310" r:id="rId15"/>
    <p:sldId id="446" r:id="rId16"/>
    <p:sldId id="441" r:id="rId17"/>
    <p:sldId id="444" r:id="rId18"/>
    <p:sldId id="314" r:id="rId19"/>
    <p:sldId id="440" r:id="rId20"/>
    <p:sldId id="447" r:id="rId21"/>
    <p:sldId id="448" r:id="rId2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8" autoAdjust="0"/>
    <p:restoredTop sz="94660"/>
  </p:normalViewPr>
  <p:slideViewPr>
    <p:cSldViewPr snapToGrid="0" showGuides="1">
      <p:cViewPr>
        <p:scale>
          <a:sx n="66" d="100"/>
          <a:sy n="66" d="100"/>
        </p:scale>
        <p:origin x="1224" y="9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en-GB"/>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GB"/>
          </a:p>
        </p:txBody>
      </p:sp>
      <p:sp>
        <p:nvSpPr>
          <p:cNvPr id="4" name="Datumsplatzhalter 3"/>
          <p:cNvSpPr>
            <a:spLocks noGrp="1"/>
          </p:cNvSpPr>
          <p:nvPr>
            <p:ph type="dt" sz="half" idx="10"/>
          </p:nvPr>
        </p:nvSpPr>
        <p:spPr/>
        <p:txBody>
          <a:bodyPr/>
          <a:lstStyle/>
          <a:p>
            <a:fld id="{8F04E16C-33D9-4B19-9FAC-DCF90033C15B}" type="datetimeFigureOut">
              <a:rPr lang="en-GB" smtClean="0"/>
              <a:t>17/09/2025</a:t>
            </a:fld>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2771918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12192000" cy="1325563"/>
          </a:xfrm>
          <a:solidFill>
            <a:schemeClr val="bg1">
              <a:lumMod val="85000"/>
            </a:schemeClr>
          </a:solidFill>
        </p:spPr>
        <p:txBody>
          <a:bodyPr/>
          <a:lstStyle>
            <a:lvl1pPr>
              <a:defRPr b="1">
                <a:solidFill>
                  <a:srgbClr val="C00000"/>
                </a:solidFill>
              </a:defRPr>
            </a:lvl1pPr>
          </a:lstStyle>
          <a:p>
            <a:r>
              <a:rPr lang="de-DE" dirty="0"/>
              <a:t>Titelmasterformat durch Klicken bearbeiten</a:t>
            </a:r>
            <a:endParaRPr lang="en-GB" dirty="0"/>
          </a:p>
        </p:txBody>
      </p:sp>
      <p:sp>
        <p:nvSpPr>
          <p:cNvPr id="3" name="Inhaltsplatzhalter 2"/>
          <p:cNvSpPr>
            <a:spLocks noGrp="1"/>
          </p:cNvSpPr>
          <p:nvPr>
            <p:ph idx="1"/>
          </p:nvPr>
        </p:nvSpPr>
        <p:spPr>
          <a:xfrm>
            <a:off x="328473" y="1660124"/>
            <a:ext cx="11425561" cy="4669655"/>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oliennummernplatzhalter 5"/>
          <p:cNvSpPr>
            <a:spLocks noGrp="1"/>
          </p:cNvSpPr>
          <p:nvPr>
            <p:ph type="sldNum" sz="quarter" idx="12"/>
          </p:nvPr>
        </p:nvSpPr>
        <p:spPr>
          <a:xfrm>
            <a:off x="11159970" y="6475058"/>
            <a:ext cx="594064" cy="365125"/>
          </a:xfrm>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3320354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endParaRPr lang="en-GB"/>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8F04E16C-33D9-4B19-9FAC-DCF90033C15B}" type="datetimeFigureOut">
              <a:rPr lang="en-GB" smtClean="0"/>
              <a:t>17/09/2025</a:t>
            </a:fld>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428691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p:cNvSpPr>
            <a:spLocks noGrp="1"/>
          </p:cNvSpPr>
          <p:nvPr>
            <p:ph type="dt" sz="half" idx="10"/>
          </p:nvPr>
        </p:nvSpPr>
        <p:spPr/>
        <p:txBody>
          <a:bodyPr/>
          <a:lstStyle/>
          <a:p>
            <a:fld id="{8F04E16C-33D9-4B19-9FAC-DCF90033C15B}" type="datetimeFigureOut">
              <a:rPr lang="en-GB" smtClean="0"/>
              <a:t>17/09/2025</a:t>
            </a:fld>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3116233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endParaRPr lang="en-GB"/>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p:cNvSpPr>
            <a:spLocks noGrp="1"/>
          </p:cNvSpPr>
          <p:nvPr>
            <p:ph type="dt" sz="half" idx="10"/>
          </p:nvPr>
        </p:nvSpPr>
        <p:spPr/>
        <p:txBody>
          <a:bodyPr/>
          <a:lstStyle/>
          <a:p>
            <a:fld id="{8F04E16C-33D9-4B19-9FAC-DCF90033C15B}" type="datetimeFigureOut">
              <a:rPr lang="en-GB" smtClean="0"/>
              <a:t>17/09/2025</a:t>
            </a:fld>
            <a:endParaRPr lang="en-GB"/>
          </a:p>
        </p:txBody>
      </p:sp>
      <p:sp>
        <p:nvSpPr>
          <p:cNvPr id="8" name="Fußzeilenplatzhalter 7"/>
          <p:cNvSpPr>
            <a:spLocks noGrp="1"/>
          </p:cNvSpPr>
          <p:nvPr>
            <p:ph type="ftr" sz="quarter" idx="11"/>
          </p:nvPr>
        </p:nvSpPr>
        <p:spPr/>
        <p:txBody>
          <a:bodyPr/>
          <a:lstStyle/>
          <a:p>
            <a:endParaRPr lang="en-GB"/>
          </a:p>
        </p:txBody>
      </p:sp>
      <p:sp>
        <p:nvSpPr>
          <p:cNvPr id="9" name="Foliennummernplatzhalter 8"/>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295387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Datumsplatzhalter 2"/>
          <p:cNvSpPr>
            <a:spLocks noGrp="1"/>
          </p:cNvSpPr>
          <p:nvPr>
            <p:ph type="dt" sz="half" idx="10"/>
          </p:nvPr>
        </p:nvSpPr>
        <p:spPr/>
        <p:txBody>
          <a:bodyPr/>
          <a:lstStyle/>
          <a:p>
            <a:fld id="{8F04E16C-33D9-4B19-9FAC-DCF90033C15B}" type="datetimeFigureOut">
              <a:rPr lang="en-GB" smtClean="0"/>
              <a:t>17/09/2025</a:t>
            </a:fld>
            <a:endParaRPr lang="en-GB"/>
          </a:p>
        </p:txBody>
      </p:sp>
      <p:sp>
        <p:nvSpPr>
          <p:cNvPr id="4" name="Fußzeilenplatzhalter 3"/>
          <p:cNvSpPr>
            <a:spLocks noGrp="1"/>
          </p:cNvSpPr>
          <p:nvPr>
            <p:ph type="ftr" sz="quarter" idx="11"/>
          </p:nvPr>
        </p:nvSpPr>
        <p:spPr/>
        <p:txBody>
          <a:bodyPr/>
          <a:lstStyle/>
          <a:p>
            <a:endParaRPr lang="en-GB"/>
          </a:p>
        </p:txBody>
      </p:sp>
      <p:sp>
        <p:nvSpPr>
          <p:cNvPr id="5" name="Foliennummernplatzhalter 4"/>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154052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8F04E16C-33D9-4B19-9FAC-DCF90033C15B}" type="datetimeFigureOut">
              <a:rPr lang="en-GB" smtClean="0"/>
              <a:t>17/09/2025</a:t>
            </a:fld>
            <a:endParaRPr lang="en-GB"/>
          </a:p>
        </p:txBody>
      </p:sp>
      <p:sp>
        <p:nvSpPr>
          <p:cNvPr id="3" name="Fußzeilenplatzhalter 2"/>
          <p:cNvSpPr>
            <a:spLocks noGrp="1"/>
          </p:cNvSpPr>
          <p:nvPr>
            <p:ph type="ftr" sz="quarter" idx="11"/>
          </p:nvPr>
        </p:nvSpPr>
        <p:spPr/>
        <p:txBody>
          <a:bodyPr/>
          <a:lstStyle/>
          <a:p>
            <a:endParaRPr lang="en-GB"/>
          </a:p>
        </p:txBody>
      </p:sp>
      <p:sp>
        <p:nvSpPr>
          <p:cNvPr id="4" name="Foliennummernplatzhalter 3"/>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2300410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GB"/>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8F04E16C-33D9-4B19-9FAC-DCF90033C15B}" type="datetimeFigureOut">
              <a:rPr lang="en-GB" smtClean="0"/>
              <a:t>17/09/2025</a:t>
            </a:fld>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3829964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endParaRPr lang="en-GB"/>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8F04E16C-33D9-4B19-9FAC-DCF90033C15B}" type="datetimeFigureOut">
              <a:rPr lang="en-GB" smtClean="0"/>
              <a:t>17/09/2025</a:t>
            </a:fld>
            <a:endParaRPr lang="en-GB"/>
          </a:p>
        </p:txBody>
      </p:sp>
      <p:sp>
        <p:nvSpPr>
          <p:cNvPr id="6" name="Fußzeilenplatzhalter 5"/>
          <p:cNvSpPr>
            <a:spLocks noGrp="1"/>
          </p:cNvSpPr>
          <p:nvPr>
            <p:ph type="ftr" sz="quarter" idx="11"/>
          </p:nvPr>
        </p:nvSpPr>
        <p:spPr/>
        <p:txBody>
          <a:bodyPr/>
          <a:lstStyle/>
          <a:p>
            <a:endParaRPr lang="en-GB"/>
          </a:p>
        </p:txBody>
      </p:sp>
      <p:sp>
        <p:nvSpPr>
          <p:cNvPr id="7" name="Foliennummernplatzhalter 6"/>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3337178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10"/>
          </p:nvPr>
        </p:nvSpPr>
        <p:spPr/>
        <p:txBody>
          <a:bodyPr/>
          <a:lstStyle/>
          <a:p>
            <a:fld id="{8F04E16C-33D9-4B19-9FAC-DCF90033C15B}" type="datetimeFigureOut">
              <a:rPr lang="en-GB" smtClean="0"/>
              <a:t>17/09/2025</a:t>
            </a:fld>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2198482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endParaRPr lang="en-GB"/>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10"/>
          </p:nvPr>
        </p:nvSpPr>
        <p:spPr/>
        <p:txBody>
          <a:bodyPr/>
          <a:lstStyle/>
          <a:p>
            <a:fld id="{8F04E16C-33D9-4B19-9FAC-DCF90033C15B}" type="datetimeFigureOut">
              <a:rPr lang="en-GB" smtClean="0"/>
              <a:t>17/09/2025</a:t>
            </a:fld>
            <a:endParaRPr lang="en-GB"/>
          </a:p>
        </p:txBody>
      </p:sp>
      <p:sp>
        <p:nvSpPr>
          <p:cNvPr id="5" name="Fußzeilenplatzhalter 4"/>
          <p:cNvSpPr>
            <a:spLocks noGrp="1"/>
          </p:cNvSpPr>
          <p:nvPr>
            <p:ph type="ftr" sz="quarter" idx="11"/>
          </p:nvPr>
        </p:nvSpPr>
        <p:spPr/>
        <p:txBody>
          <a:bodyPr/>
          <a:lstStyle/>
          <a:p>
            <a:endParaRPr lang="en-GB"/>
          </a:p>
        </p:txBody>
      </p:sp>
      <p:sp>
        <p:nvSpPr>
          <p:cNvPr id="6" name="Foliennummernplatzhalter 5"/>
          <p:cNvSpPr>
            <a:spLocks noGrp="1"/>
          </p:cNvSpPr>
          <p:nvPr>
            <p:ph type="sldNum" sz="quarter" idx="12"/>
          </p:nvPr>
        </p:nvSpPr>
        <p:spPr/>
        <p:txBody>
          <a:bodyPr/>
          <a:lstStyle/>
          <a:p>
            <a:fld id="{567864B6-4CE0-4546-8217-BE4A9A9B8A69}" type="slidenum">
              <a:rPr lang="en-GB" smtClean="0"/>
              <a:t>‹Nr.›</a:t>
            </a:fld>
            <a:endParaRPr lang="en-GB"/>
          </a:p>
        </p:txBody>
      </p:sp>
    </p:spTree>
    <p:extLst>
      <p:ext uri="{BB962C8B-B14F-4D97-AF65-F5344CB8AC3E}">
        <p14:creationId xmlns:p14="http://schemas.microsoft.com/office/powerpoint/2010/main" val="976603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GB"/>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4E16C-33D9-4B19-9FAC-DCF90033C15B}" type="datetimeFigureOut">
              <a:rPr lang="en-GB" smtClean="0"/>
              <a:t>17/09/2025</a:t>
            </a:fld>
            <a:endParaRPr lang="en-GB"/>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7864B6-4CE0-4546-8217-BE4A9A9B8A69}" type="slidenum">
              <a:rPr lang="en-GB" smtClean="0"/>
              <a:t>‹Nr.›</a:t>
            </a:fld>
            <a:endParaRPr lang="en-GB"/>
          </a:p>
        </p:txBody>
      </p:sp>
    </p:spTree>
    <p:extLst>
      <p:ext uri="{BB962C8B-B14F-4D97-AF65-F5344CB8AC3E}">
        <p14:creationId xmlns:p14="http://schemas.microsoft.com/office/powerpoint/2010/main" val="1852333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forms/d/1628V6Hoq7adJKQ3uCvS9ZtY7VGZdDXPhWpbq3aL3chI/edit#response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mayoclinic.org/diseases-conditions/appendicitis/symptoms-causes/syc-20369543"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 Id="rId9"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88894" y="2325637"/>
            <a:ext cx="10614212" cy="2148433"/>
          </a:xfrm>
        </p:spPr>
        <p:txBody>
          <a:bodyPr>
            <a:noAutofit/>
          </a:bodyPr>
          <a:lstStyle/>
          <a:p>
            <a:r>
              <a:rPr lang="en-GB" sz="4800" b="1" dirty="0">
                <a:solidFill>
                  <a:srgbClr val="C00000"/>
                </a:solidFill>
              </a:rPr>
              <a:t>Ontology standardisation and interoperability</a:t>
            </a:r>
            <a:br>
              <a:rPr lang="en-GB" sz="4800" b="1" dirty="0">
                <a:solidFill>
                  <a:srgbClr val="C00000"/>
                </a:solidFill>
              </a:rPr>
            </a:br>
            <a:endParaRPr lang="en-GB" sz="4800" dirty="0">
              <a:solidFill>
                <a:srgbClr val="C00000"/>
              </a:solidFill>
            </a:endParaRPr>
          </a:p>
        </p:txBody>
      </p:sp>
      <p:sp>
        <p:nvSpPr>
          <p:cNvPr id="3" name="Untertitel 2"/>
          <p:cNvSpPr>
            <a:spLocks noGrp="1"/>
          </p:cNvSpPr>
          <p:nvPr>
            <p:ph type="subTitle" idx="1"/>
          </p:nvPr>
        </p:nvSpPr>
        <p:spPr>
          <a:xfrm>
            <a:off x="1524000" y="4680346"/>
            <a:ext cx="9144000" cy="870821"/>
          </a:xfrm>
        </p:spPr>
        <p:txBody>
          <a:bodyPr/>
          <a:lstStyle/>
          <a:p>
            <a:pPr hangingPunct="0"/>
            <a:r>
              <a:rPr lang="en-GB" dirty="0"/>
              <a:t>Stefan Schulz</a:t>
            </a:r>
            <a:r>
              <a:rPr lang="en-GB" baseline="30000" dirty="0"/>
              <a:t>1,2 </a:t>
            </a:r>
          </a:p>
        </p:txBody>
      </p:sp>
      <p:sp>
        <p:nvSpPr>
          <p:cNvPr id="11" name="Textfeld 10">
            <a:extLst>
              <a:ext uri="{FF2B5EF4-FFF2-40B4-BE49-F238E27FC236}">
                <a16:creationId xmlns:a16="http://schemas.microsoft.com/office/drawing/2014/main" id="{090FC9CD-403A-7BFE-6C71-5DF539B8A135}"/>
              </a:ext>
            </a:extLst>
          </p:cNvPr>
          <p:cNvSpPr txBox="1"/>
          <p:nvPr/>
        </p:nvSpPr>
        <p:spPr>
          <a:xfrm>
            <a:off x="1107141" y="5757443"/>
            <a:ext cx="9995647" cy="584775"/>
          </a:xfrm>
          <a:prstGeom prst="rect">
            <a:avLst/>
          </a:prstGeom>
          <a:noFill/>
        </p:spPr>
        <p:txBody>
          <a:bodyPr wrap="square">
            <a:spAutoFit/>
          </a:bodyPr>
          <a:lstStyle/>
          <a:p>
            <a:pPr algn="ctr"/>
            <a:r>
              <a:rPr lang="en-GB" sz="1600" baseline="30000" dirty="0"/>
              <a:t>1</a:t>
            </a:r>
            <a:r>
              <a:rPr lang="en-GB" sz="1600" dirty="0"/>
              <a:t>Institute for Medical Informatics, Statistics and Documentation, Medical University of Graz, Austria</a:t>
            </a:r>
            <a:br>
              <a:rPr lang="en-GB" sz="1600" dirty="0"/>
            </a:br>
            <a:r>
              <a:rPr lang="en-GB" sz="1600" baseline="30000" dirty="0"/>
              <a:t>2</a:t>
            </a:r>
            <a:r>
              <a:rPr lang="en-GB" sz="1600" dirty="0"/>
              <a:t>Averbis GmbH, Freiburg, Germany</a:t>
            </a:r>
          </a:p>
        </p:txBody>
      </p:sp>
      <p:pic>
        <p:nvPicPr>
          <p:cNvPr id="5" name="Grafik 4">
            <a:extLst>
              <a:ext uri="{FF2B5EF4-FFF2-40B4-BE49-F238E27FC236}">
                <a16:creationId xmlns:a16="http://schemas.microsoft.com/office/drawing/2014/main" id="{FEAD353B-4A80-7B32-BC60-2E498E183088}"/>
              </a:ext>
            </a:extLst>
          </p:cNvPr>
          <p:cNvPicPr>
            <a:picLocks noChangeAspect="1"/>
          </p:cNvPicPr>
          <p:nvPr/>
        </p:nvPicPr>
        <p:blipFill>
          <a:blip r:embed="rId2"/>
          <a:stretch>
            <a:fillRect/>
          </a:stretch>
        </p:blipFill>
        <p:spPr>
          <a:xfrm>
            <a:off x="-1" y="15037"/>
            <a:ext cx="12185781" cy="1425879"/>
          </a:xfrm>
          <a:prstGeom prst="rect">
            <a:avLst/>
          </a:prstGeom>
        </p:spPr>
      </p:pic>
    </p:spTree>
    <p:extLst>
      <p:ext uri="{BB962C8B-B14F-4D97-AF65-F5344CB8AC3E}">
        <p14:creationId xmlns:p14="http://schemas.microsoft.com/office/powerpoint/2010/main" val="2059628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Objectives </a:t>
            </a:r>
          </a:p>
        </p:txBody>
      </p:sp>
      <p:sp>
        <p:nvSpPr>
          <p:cNvPr id="3" name="Content Placeholder 2"/>
          <p:cNvSpPr>
            <a:spLocks noGrp="1"/>
          </p:cNvSpPr>
          <p:nvPr>
            <p:ph idx="1"/>
          </p:nvPr>
        </p:nvSpPr>
        <p:spPr>
          <a:xfrm>
            <a:off x="328473" y="1660124"/>
            <a:ext cx="11425561" cy="5197876"/>
          </a:xfrm>
        </p:spPr>
        <p:txBody>
          <a:bodyPr>
            <a:normAutofit/>
          </a:bodyPr>
          <a:lstStyle/>
          <a:p>
            <a:r>
              <a:rPr lang="en-GB" dirty="0"/>
              <a:t>Recognize the necessity of standardisation and interoperability for effective integration of ontologies</a:t>
            </a:r>
          </a:p>
          <a:p>
            <a:pPr lvl="1"/>
            <a:r>
              <a:rPr lang="en-GB" dirty="0"/>
              <a:t>Domain ontologies with foundational ontologies</a:t>
            </a:r>
          </a:p>
          <a:p>
            <a:pPr lvl="1"/>
            <a:r>
              <a:rPr lang="en-GB" dirty="0"/>
              <a:t>Domain ontologies with other ontologies</a:t>
            </a:r>
          </a:p>
          <a:p>
            <a:r>
              <a:rPr lang="en-GB" dirty="0"/>
              <a:t>Recognizing challenges in classifying concepts into ontological categories</a:t>
            </a:r>
          </a:p>
          <a:p>
            <a:r>
              <a:rPr lang="en-GB" dirty="0"/>
              <a:t>Understand the phenomenon of logical polysemy and how it can be addressed by ontology design patterns</a:t>
            </a:r>
          </a:p>
          <a:p>
            <a:r>
              <a:rPr lang="en-GB" dirty="0"/>
              <a:t>Examples from medicine (main topic </a:t>
            </a:r>
            <a:r>
              <a:rPr lang="en-GB" i="1" dirty="0"/>
              <a:t>disease</a:t>
            </a:r>
            <a:r>
              <a:rPr lang="en-GB" dirty="0"/>
              <a:t>) and other domains</a:t>
            </a:r>
          </a:p>
          <a:p>
            <a:pPr marL="0" indent="0">
              <a:buNone/>
            </a:pPr>
            <a:endParaRPr lang="en-GB" dirty="0"/>
          </a:p>
          <a:p>
            <a:pPr marL="0" indent="0">
              <a:buNone/>
            </a:pPr>
            <a:endParaRPr lang="en-GB" dirty="0"/>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C31B-30AC-C1FC-5E04-AFDC5CF91C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D852AB-27A9-D4B4-52F5-E78F5FBD368B}"/>
              </a:ext>
            </a:extLst>
          </p:cNvPr>
          <p:cNvSpPr>
            <a:spLocks noGrp="1"/>
          </p:cNvSpPr>
          <p:nvPr>
            <p:ph type="title"/>
          </p:nvPr>
        </p:nvSpPr>
        <p:spPr/>
        <p:txBody>
          <a:bodyPr/>
          <a:lstStyle/>
          <a:p>
            <a:r>
              <a:rPr lang="en-GB" dirty="0"/>
              <a:t>Some ontologies are recognised standards</a:t>
            </a:r>
          </a:p>
        </p:txBody>
      </p:sp>
      <p:sp>
        <p:nvSpPr>
          <p:cNvPr id="3" name="Inhaltsplatzhalter 2">
            <a:extLst>
              <a:ext uri="{FF2B5EF4-FFF2-40B4-BE49-F238E27FC236}">
                <a16:creationId xmlns:a16="http://schemas.microsoft.com/office/drawing/2014/main" id="{028264C3-BF04-16C3-A33E-2634063B0687}"/>
              </a:ext>
            </a:extLst>
          </p:cNvPr>
          <p:cNvSpPr>
            <a:spLocks noGrp="1"/>
          </p:cNvSpPr>
          <p:nvPr>
            <p:ph idx="1"/>
          </p:nvPr>
        </p:nvSpPr>
        <p:spPr>
          <a:xfrm>
            <a:off x="328473" y="1660124"/>
            <a:ext cx="11425561" cy="5074505"/>
          </a:xfrm>
        </p:spPr>
        <p:txBody>
          <a:bodyPr>
            <a:normAutofit/>
          </a:bodyPr>
          <a:lstStyle/>
          <a:p>
            <a:r>
              <a:rPr lang="en-GB" sz="3200" dirty="0"/>
              <a:t>Foundational ontologies: 	</a:t>
            </a:r>
          </a:p>
          <a:p>
            <a:pPr lvl="1"/>
            <a:r>
              <a:rPr lang="en-GB" sz="2800" dirty="0"/>
              <a:t>ISO/IEC 21838 “Top-level ontologies (TLO)”: </a:t>
            </a:r>
            <a:br>
              <a:rPr lang="en-GB" sz="2800" dirty="0"/>
            </a:br>
            <a:r>
              <a:rPr lang="en-GB" sz="2800" dirty="0"/>
              <a:t>Part 2: Basic Formal Ontology (BFO)</a:t>
            </a:r>
            <a:br>
              <a:rPr lang="en-GB" sz="2800" dirty="0"/>
            </a:br>
            <a:r>
              <a:rPr lang="en-GB" sz="2800" dirty="0"/>
              <a:t>Officially recognizes BFO as a conformant top-level ontology standard. </a:t>
            </a:r>
          </a:p>
          <a:p>
            <a:pPr lvl="1"/>
            <a:r>
              <a:rPr lang="en-GB" sz="2800" dirty="0"/>
              <a:t>Other TLOs in standardisation process</a:t>
            </a:r>
          </a:p>
          <a:p>
            <a:r>
              <a:rPr lang="en-GB" sz="3200" dirty="0"/>
              <a:t>SNOMED CT: </a:t>
            </a:r>
          </a:p>
          <a:p>
            <a:pPr lvl="1"/>
            <a:r>
              <a:rPr lang="en-GB" sz="2800" dirty="0"/>
              <a:t>The most comprehensive global clinical terminology. Maintained by SNOMED International, a non-profit standardization organization</a:t>
            </a:r>
          </a:p>
          <a:p>
            <a:r>
              <a:rPr lang="en-GB" sz="3200" dirty="0"/>
              <a:t>Why standardisation?</a:t>
            </a:r>
          </a:p>
          <a:p>
            <a:pPr lvl="1"/>
            <a:r>
              <a:rPr lang="en-GB" sz="2800" dirty="0"/>
              <a:t>Interoperability, Portability, Reliability &amp; Quality Assurance</a:t>
            </a:r>
          </a:p>
          <a:p>
            <a:pPr marL="0" indent="0">
              <a:buNone/>
            </a:pPr>
            <a:endParaRPr lang="en-GB" sz="3200" dirty="0"/>
          </a:p>
        </p:txBody>
      </p:sp>
    </p:spTree>
    <p:extLst>
      <p:ext uri="{BB962C8B-B14F-4D97-AF65-F5344CB8AC3E}">
        <p14:creationId xmlns:p14="http://schemas.microsoft.com/office/powerpoint/2010/main" val="199247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A72ED-79DA-8BD1-AFEC-2CDF59E9A239}"/>
              </a:ext>
            </a:extLst>
          </p:cNvPr>
          <p:cNvSpPr>
            <a:spLocks noGrp="1"/>
          </p:cNvSpPr>
          <p:nvPr>
            <p:ph type="title"/>
          </p:nvPr>
        </p:nvSpPr>
        <p:spPr/>
        <p:txBody>
          <a:bodyPr/>
          <a:lstStyle/>
          <a:p>
            <a:r>
              <a:rPr lang="en-GB" dirty="0"/>
              <a:t>Example: aligning disease and related concepts (clinical conditions) with upper-level ontology</a:t>
            </a:r>
          </a:p>
        </p:txBody>
      </p:sp>
      <p:sp>
        <p:nvSpPr>
          <p:cNvPr id="4" name="Textfeld 3">
            <a:extLst>
              <a:ext uri="{FF2B5EF4-FFF2-40B4-BE49-F238E27FC236}">
                <a16:creationId xmlns:a16="http://schemas.microsoft.com/office/drawing/2014/main" id="{1F2AD346-5060-8B25-430E-803F8CA2AB80}"/>
              </a:ext>
            </a:extLst>
          </p:cNvPr>
          <p:cNvSpPr txBox="1"/>
          <p:nvPr/>
        </p:nvSpPr>
        <p:spPr>
          <a:xfrm>
            <a:off x="5675603" y="2069987"/>
            <a:ext cx="4313571" cy="4832092"/>
          </a:xfrm>
          <a:prstGeom prst="rect">
            <a:avLst/>
          </a:prstGeom>
          <a:noFill/>
          <a:ln>
            <a:noFill/>
          </a:ln>
        </p:spPr>
        <p:txBody>
          <a:bodyPr wrap="square" rtlCol="0">
            <a:spAutoFit/>
          </a:bodyPr>
          <a:lstStyle/>
          <a:p>
            <a:r>
              <a:rPr lang="en-GB" sz="1400" dirty="0"/>
              <a:t> Independent Continuant</a:t>
            </a:r>
          </a:p>
          <a:p>
            <a:r>
              <a:rPr lang="en-GB" sz="1400" dirty="0"/>
              <a:t>	Material Entity</a:t>
            </a:r>
          </a:p>
          <a:p>
            <a:r>
              <a:rPr lang="en-GB" sz="1400" dirty="0"/>
              <a:t>		Object</a:t>
            </a:r>
          </a:p>
          <a:p>
            <a:r>
              <a:rPr lang="en-GB" sz="1400" dirty="0"/>
              <a:t>		Fiat Object Part</a:t>
            </a:r>
          </a:p>
          <a:p>
            <a:r>
              <a:rPr lang="en-GB" sz="1400" dirty="0"/>
              <a:t>		Object Aggregate</a:t>
            </a:r>
          </a:p>
          <a:p>
            <a:r>
              <a:rPr lang="en-GB" sz="1400" dirty="0"/>
              <a:t>	Immaterial Entity</a:t>
            </a:r>
          </a:p>
          <a:p>
            <a:r>
              <a:rPr lang="en-GB" sz="1400" dirty="0"/>
              <a:t>		Site</a:t>
            </a:r>
          </a:p>
          <a:p>
            <a:r>
              <a:rPr lang="en-GB" sz="1400" dirty="0"/>
              <a:t>		Continuant Fiat Boundary</a:t>
            </a:r>
          </a:p>
          <a:p>
            <a:r>
              <a:rPr lang="en-GB" sz="1400" dirty="0"/>
              <a:t>		Spatial Region</a:t>
            </a:r>
          </a:p>
          <a:p>
            <a:r>
              <a:rPr lang="en-GB" sz="1400" dirty="0"/>
              <a:t>Generically Dependent Continuant</a:t>
            </a:r>
          </a:p>
          <a:p>
            <a:r>
              <a:rPr lang="en-GB" sz="1400" dirty="0"/>
              <a:t>Specifically Dependent Continuant</a:t>
            </a:r>
          </a:p>
          <a:p>
            <a:r>
              <a:rPr lang="en-GB" sz="1400" dirty="0"/>
              <a:t>	Quality</a:t>
            </a:r>
          </a:p>
          <a:p>
            <a:r>
              <a:rPr lang="en-GB" sz="1400" dirty="0"/>
              <a:t>	Realizable Entity</a:t>
            </a:r>
          </a:p>
          <a:p>
            <a:r>
              <a:rPr lang="en-GB" sz="1400" dirty="0"/>
              <a:t>		Disposition</a:t>
            </a:r>
          </a:p>
          <a:p>
            <a:r>
              <a:rPr lang="en-GB" sz="1400" dirty="0"/>
              <a:t>		Role</a:t>
            </a:r>
          </a:p>
          <a:p>
            <a:r>
              <a:rPr lang="en-GB" sz="1400" dirty="0"/>
              <a:t>	                                               Function</a:t>
            </a:r>
          </a:p>
          <a:p>
            <a:r>
              <a:rPr lang="en-GB" sz="1400" dirty="0"/>
              <a:t>Process</a:t>
            </a:r>
          </a:p>
          <a:p>
            <a:r>
              <a:rPr lang="en-GB" sz="1400" dirty="0"/>
              <a:t>	Process Boundary</a:t>
            </a:r>
          </a:p>
          <a:p>
            <a:r>
              <a:rPr lang="en-GB" sz="1400" dirty="0"/>
              <a:t>	Temporal Region</a:t>
            </a:r>
          </a:p>
          <a:p>
            <a:r>
              <a:rPr lang="en-GB" sz="1400" dirty="0"/>
              <a:t>	Spatiotemporal region</a:t>
            </a:r>
          </a:p>
          <a:p>
            <a:r>
              <a:rPr lang="en-GB" sz="1400" dirty="0"/>
              <a:t>	</a:t>
            </a:r>
          </a:p>
          <a:p>
            <a:endParaRPr lang="en-GB" sz="1400" dirty="0"/>
          </a:p>
        </p:txBody>
      </p:sp>
      <p:sp>
        <p:nvSpPr>
          <p:cNvPr id="8" name="Rechteck 7">
            <a:extLst>
              <a:ext uri="{FF2B5EF4-FFF2-40B4-BE49-F238E27FC236}">
                <a16:creationId xmlns:a16="http://schemas.microsoft.com/office/drawing/2014/main" id="{FA512BAA-08E9-C03F-4054-3E86C24454F5}"/>
              </a:ext>
            </a:extLst>
          </p:cNvPr>
          <p:cNvSpPr/>
          <p:nvPr/>
        </p:nvSpPr>
        <p:spPr>
          <a:xfrm>
            <a:off x="6530689" y="322960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9" name="Rechteck 8">
            <a:extLst>
              <a:ext uri="{FF2B5EF4-FFF2-40B4-BE49-F238E27FC236}">
                <a16:creationId xmlns:a16="http://schemas.microsoft.com/office/drawing/2014/main" id="{E7E0C9F0-7646-1112-0184-16E4D3298BC5}"/>
              </a:ext>
            </a:extLst>
          </p:cNvPr>
          <p:cNvSpPr/>
          <p:nvPr/>
        </p:nvSpPr>
        <p:spPr>
          <a:xfrm>
            <a:off x="5570875" y="2146783"/>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0" name="Rechteck 9">
            <a:extLst>
              <a:ext uri="{FF2B5EF4-FFF2-40B4-BE49-F238E27FC236}">
                <a16:creationId xmlns:a16="http://schemas.microsoft.com/office/drawing/2014/main" id="{B361BF18-D9A8-5DF1-D252-E2BEDBEF2113}"/>
              </a:ext>
            </a:extLst>
          </p:cNvPr>
          <p:cNvSpPr/>
          <p:nvPr/>
        </p:nvSpPr>
        <p:spPr>
          <a:xfrm>
            <a:off x="7436389" y="343017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1" name="Rechteck 10">
            <a:extLst>
              <a:ext uri="{FF2B5EF4-FFF2-40B4-BE49-F238E27FC236}">
                <a16:creationId xmlns:a16="http://schemas.microsoft.com/office/drawing/2014/main" id="{456D63F5-6137-0B44-C28F-B554E44728CF}"/>
              </a:ext>
            </a:extLst>
          </p:cNvPr>
          <p:cNvSpPr/>
          <p:nvPr/>
        </p:nvSpPr>
        <p:spPr>
          <a:xfrm>
            <a:off x="7446743" y="2597150"/>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2" name="Rechteck 11">
            <a:extLst>
              <a:ext uri="{FF2B5EF4-FFF2-40B4-BE49-F238E27FC236}">
                <a16:creationId xmlns:a16="http://schemas.microsoft.com/office/drawing/2014/main" id="{77D2C8C3-977B-1007-38E0-81078DC5A62E}"/>
              </a:ext>
            </a:extLst>
          </p:cNvPr>
          <p:cNvSpPr/>
          <p:nvPr/>
        </p:nvSpPr>
        <p:spPr>
          <a:xfrm>
            <a:off x="7446743" y="3662473"/>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3" name="Rechteck 12">
            <a:extLst>
              <a:ext uri="{FF2B5EF4-FFF2-40B4-BE49-F238E27FC236}">
                <a16:creationId xmlns:a16="http://schemas.microsoft.com/office/drawing/2014/main" id="{A8236EEE-1E2E-47E6-F0C9-0AFD834481A9}"/>
              </a:ext>
            </a:extLst>
          </p:cNvPr>
          <p:cNvSpPr/>
          <p:nvPr/>
        </p:nvSpPr>
        <p:spPr>
          <a:xfrm>
            <a:off x="7448222" y="388589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4" name="Rechteck 13">
            <a:extLst>
              <a:ext uri="{FF2B5EF4-FFF2-40B4-BE49-F238E27FC236}">
                <a16:creationId xmlns:a16="http://schemas.microsoft.com/office/drawing/2014/main" id="{D2C96CAF-EECD-E023-BFB8-7C4DD924F161}"/>
              </a:ext>
            </a:extLst>
          </p:cNvPr>
          <p:cNvSpPr/>
          <p:nvPr/>
        </p:nvSpPr>
        <p:spPr>
          <a:xfrm>
            <a:off x="7445856" y="279717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5" name="Rechteck 14">
            <a:extLst>
              <a:ext uri="{FF2B5EF4-FFF2-40B4-BE49-F238E27FC236}">
                <a16:creationId xmlns:a16="http://schemas.microsoft.com/office/drawing/2014/main" id="{EA01D8BC-C267-FA1A-B8D9-EDFC1A8B394F}"/>
              </a:ext>
            </a:extLst>
          </p:cNvPr>
          <p:cNvSpPr/>
          <p:nvPr/>
        </p:nvSpPr>
        <p:spPr>
          <a:xfrm>
            <a:off x="7445850" y="301625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6" name="Rechteck 15">
            <a:extLst>
              <a:ext uri="{FF2B5EF4-FFF2-40B4-BE49-F238E27FC236}">
                <a16:creationId xmlns:a16="http://schemas.microsoft.com/office/drawing/2014/main" id="{F14599B6-ACE0-343B-DA34-B56500972FE5}"/>
              </a:ext>
            </a:extLst>
          </p:cNvPr>
          <p:cNvSpPr/>
          <p:nvPr/>
        </p:nvSpPr>
        <p:spPr>
          <a:xfrm>
            <a:off x="6530689" y="450875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7" name="Rechteck 16">
            <a:extLst>
              <a:ext uri="{FF2B5EF4-FFF2-40B4-BE49-F238E27FC236}">
                <a16:creationId xmlns:a16="http://schemas.microsoft.com/office/drawing/2014/main" id="{4C38CCFE-885F-AA19-0B92-A2C3A5EDCECB}"/>
              </a:ext>
            </a:extLst>
          </p:cNvPr>
          <p:cNvSpPr/>
          <p:nvPr/>
        </p:nvSpPr>
        <p:spPr>
          <a:xfrm>
            <a:off x="7453034" y="493824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8" name="Rechteck 17">
            <a:extLst>
              <a:ext uri="{FF2B5EF4-FFF2-40B4-BE49-F238E27FC236}">
                <a16:creationId xmlns:a16="http://schemas.microsoft.com/office/drawing/2014/main" id="{285E1F44-9652-F531-31A5-D196F0FD2033}"/>
              </a:ext>
            </a:extLst>
          </p:cNvPr>
          <p:cNvSpPr/>
          <p:nvPr/>
        </p:nvSpPr>
        <p:spPr>
          <a:xfrm>
            <a:off x="7453034" y="514922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19" name="Rechteck 18">
            <a:extLst>
              <a:ext uri="{FF2B5EF4-FFF2-40B4-BE49-F238E27FC236}">
                <a16:creationId xmlns:a16="http://schemas.microsoft.com/office/drawing/2014/main" id="{14918310-2140-DB36-B822-04D073294BDD}"/>
              </a:ext>
            </a:extLst>
          </p:cNvPr>
          <p:cNvSpPr/>
          <p:nvPr/>
        </p:nvSpPr>
        <p:spPr>
          <a:xfrm>
            <a:off x="5574487" y="561024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0" name="Rechteck 19">
            <a:extLst>
              <a:ext uri="{FF2B5EF4-FFF2-40B4-BE49-F238E27FC236}">
                <a16:creationId xmlns:a16="http://schemas.microsoft.com/office/drawing/2014/main" id="{3A5FBEA1-CE8E-9E00-E38A-84CD8771FA9C}"/>
              </a:ext>
            </a:extLst>
          </p:cNvPr>
          <p:cNvSpPr/>
          <p:nvPr/>
        </p:nvSpPr>
        <p:spPr>
          <a:xfrm>
            <a:off x="8358440" y="537906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1" name="Rechteck 20">
            <a:extLst>
              <a:ext uri="{FF2B5EF4-FFF2-40B4-BE49-F238E27FC236}">
                <a16:creationId xmlns:a16="http://schemas.microsoft.com/office/drawing/2014/main" id="{B5C3E3EF-C431-5C6C-EB5F-5B6A64299AA2}"/>
              </a:ext>
            </a:extLst>
          </p:cNvPr>
          <p:cNvSpPr/>
          <p:nvPr/>
        </p:nvSpPr>
        <p:spPr>
          <a:xfrm>
            <a:off x="5575642" y="407852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2" name="Rechteck 21">
            <a:extLst>
              <a:ext uri="{FF2B5EF4-FFF2-40B4-BE49-F238E27FC236}">
                <a16:creationId xmlns:a16="http://schemas.microsoft.com/office/drawing/2014/main" id="{DEF4D6AA-CE01-CD36-511E-B6C4B82CBFAC}"/>
              </a:ext>
            </a:extLst>
          </p:cNvPr>
          <p:cNvSpPr/>
          <p:nvPr/>
        </p:nvSpPr>
        <p:spPr>
          <a:xfrm>
            <a:off x="5570875" y="4302372"/>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3" name="Rechteck 22">
            <a:extLst>
              <a:ext uri="{FF2B5EF4-FFF2-40B4-BE49-F238E27FC236}">
                <a16:creationId xmlns:a16="http://schemas.microsoft.com/office/drawing/2014/main" id="{18F894C0-8A36-5837-BA6B-8EA0D36199B8}"/>
              </a:ext>
            </a:extLst>
          </p:cNvPr>
          <p:cNvSpPr/>
          <p:nvPr/>
        </p:nvSpPr>
        <p:spPr>
          <a:xfrm>
            <a:off x="6530689" y="577746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4" name="Rechteck 23">
            <a:extLst>
              <a:ext uri="{FF2B5EF4-FFF2-40B4-BE49-F238E27FC236}">
                <a16:creationId xmlns:a16="http://schemas.microsoft.com/office/drawing/2014/main" id="{90859C86-A667-112D-33C1-1623D0199EA3}"/>
              </a:ext>
            </a:extLst>
          </p:cNvPr>
          <p:cNvSpPr/>
          <p:nvPr/>
        </p:nvSpPr>
        <p:spPr>
          <a:xfrm>
            <a:off x="6530689" y="598626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5" name="Rechteck 24">
            <a:extLst>
              <a:ext uri="{FF2B5EF4-FFF2-40B4-BE49-F238E27FC236}">
                <a16:creationId xmlns:a16="http://schemas.microsoft.com/office/drawing/2014/main" id="{6D23F6B6-412F-62E9-4090-66335F06A081}"/>
              </a:ext>
            </a:extLst>
          </p:cNvPr>
          <p:cNvSpPr/>
          <p:nvPr/>
        </p:nvSpPr>
        <p:spPr>
          <a:xfrm>
            <a:off x="6530689" y="6187042"/>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7" name="Rechteck 26">
            <a:extLst>
              <a:ext uri="{FF2B5EF4-FFF2-40B4-BE49-F238E27FC236}">
                <a16:creationId xmlns:a16="http://schemas.microsoft.com/office/drawing/2014/main" id="{3AD77F2F-5D85-C7C6-B992-DDAA75660158}"/>
              </a:ext>
            </a:extLst>
          </p:cNvPr>
          <p:cNvSpPr/>
          <p:nvPr/>
        </p:nvSpPr>
        <p:spPr>
          <a:xfrm>
            <a:off x="6530100" y="234400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8" name="Pfeil: nach rechts 27">
            <a:extLst>
              <a:ext uri="{FF2B5EF4-FFF2-40B4-BE49-F238E27FC236}">
                <a16:creationId xmlns:a16="http://schemas.microsoft.com/office/drawing/2014/main" id="{824D22BA-C621-C674-FCB7-5C4A96DCD065}"/>
              </a:ext>
            </a:extLst>
          </p:cNvPr>
          <p:cNvSpPr/>
          <p:nvPr/>
        </p:nvSpPr>
        <p:spPr>
          <a:xfrm>
            <a:off x="3326261" y="3478103"/>
            <a:ext cx="1237130" cy="416056"/>
          </a:xfrm>
          <a:prstGeom prst="rightArrow">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Textfeld 29">
            <a:extLst>
              <a:ext uri="{FF2B5EF4-FFF2-40B4-BE49-F238E27FC236}">
                <a16:creationId xmlns:a16="http://schemas.microsoft.com/office/drawing/2014/main" id="{CAE47B04-A753-3038-DB10-2FA93865D5B0}"/>
              </a:ext>
            </a:extLst>
          </p:cNvPr>
          <p:cNvSpPr txBox="1"/>
          <p:nvPr/>
        </p:nvSpPr>
        <p:spPr>
          <a:xfrm>
            <a:off x="601262" y="2531969"/>
            <a:ext cx="2290650" cy="3139321"/>
          </a:xfrm>
          <a:prstGeom prst="rect">
            <a:avLst/>
          </a:prstGeom>
          <a:noFill/>
        </p:spPr>
        <p:txBody>
          <a:bodyPr wrap="square">
            <a:spAutoFit/>
          </a:bodyPr>
          <a:lstStyle/>
          <a:p>
            <a:r>
              <a:rPr lang="en-GB" sz="1800" dirty="0">
                <a:solidFill>
                  <a:srgbClr val="C00000"/>
                </a:solidFill>
              </a:rPr>
              <a:t>Disease</a:t>
            </a:r>
            <a:r>
              <a:rPr lang="en-GB" sz="1800" dirty="0"/>
              <a:t>*</a:t>
            </a:r>
          </a:p>
          <a:p>
            <a:r>
              <a:rPr lang="en-GB" dirty="0"/>
              <a:t>Disorder</a:t>
            </a:r>
          </a:p>
          <a:p>
            <a:r>
              <a:rPr lang="en-GB" dirty="0"/>
              <a:t>Illness</a:t>
            </a:r>
          </a:p>
          <a:p>
            <a:r>
              <a:rPr lang="en-GB" dirty="0"/>
              <a:t>Sickness</a:t>
            </a:r>
          </a:p>
          <a:p>
            <a:r>
              <a:rPr lang="en-GB" dirty="0"/>
              <a:t>Phenotype</a:t>
            </a:r>
          </a:p>
          <a:p>
            <a:r>
              <a:rPr lang="en-GB" dirty="0"/>
              <a:t>Sign</a:t>
            </a:r>
          </a:p>
          <a:p>
            <a:r>
              <a:rPr lang="en-GB" dirty="0"/>
              <a:t>Symptom</a:t>
            </a:r>
          </a:p>
          <a:p>
            <a:r>
              <a:rPr lang="en-GB" dirty="0"/>
              <a:t>Diagnosis</a:t>
            </a:r>
          </a:p>
          <a:p>
            <a:r>
              <a:rPr lang="en-GB" dirty="0"/>
              <a:t>Condition</a:t>
            </a:r>
          </a:p>
          <a:p>
            <a:r>
              <a:rPr lang="en-GB" dirty="0"/>
              <a:t>Situation</a:t>
            </a:r>
          </a:p>
          <a:p>
            <a:r>
              <a:rPr lang="en-GB" dirty="0"/>
              <a:t>Problem</a:t>
            </a:r>
          </a:p>
        </p:txBody>
      </p:sp>
      <p:sp>
        <p:nvSpPr>
          <p:cNvPr id="31" name="Textfeld 30">
            <a:extLst>
              <a:ext uri="{FF2B5EF4-FFF2-40B4-BE49-F238E27FC236}">
                <a16:creationId xmlns:a16="http://schemas.microsoft.com/office/drawing/2014/main" id="{C2233514-E641-0ECF-8AB1-9F1EC759A7AF}"/>
              </a:ext>
            </a:extLst>
          </p:cNvPr>
          <p:cNvSpPr txBox="1"/>
          <p:nvPr/>
        </p:nvSpPr>
        <p:spPr>
          <a:xfrm>
            <a:off x="1614273" y="2531964"/>
            <a:ext cx="994206" cy="3139321"/>
          </a:xfrm>
          <a:prstGeom prst="rect">
            <a:avLst/>
          </a:prstGeom>
          <a:noFill/>
        </p:spPr>
        <p:txBody>
          <a:bodyPr wrap="square">
            <a:spAutoFit/>
          </a:bodyPr>
          <a:lstStyle/>
          <a:p>
            <a:pPr algn="r"/>
            <a:r>
              <a:rPr lang="en-GB" sz="1800" dirty="0"/>
              <a:t>1524 k</a:t>
            </a:r>
          </a:p>
          <a:p>
            <a:pPr algn="r"/>
            <a:r>
              <a:rPr lang="en-GB" dirty="0"/>
              <a:t>427 k</a:t>
            </a:r>
          </a:p>
          <a:p>
            <a:pPr algn="r"/>
            <a:r>
              <a:rPr lang="en-GB" dirty="0"/>
              <a:t>61 k</a:t>
            </a:r>
          </a:p>
          <a:p>
            <a:pPr algn="r"/>
            <a:r>
              <a:rPr lang="en-GB" dirty="0"/>
              <a:t>13 k </a:t>
            </a:r>
          </a:p>
          <a:p>
            <a:pPr algn="r"/>
            <a:r>
              <a:rPr lang="en-GB" dirty="0"/>
              <a:t>123 k</a:t>
            </a:r>
          </a:p>
          <a:p>
            <a:pPr algn="r"/>
            <a:r>
              <a:rPr lang="en-GB" dirty="0"/>
              <a:t>47 k</a:t>
            </a:r>
          </a:p>
          <a:p>
            <a:pPr algn="r"/>
            <a:r>
              <a:rPr lang="en-GB" dirty="0"/>
              <a:t>175 k</a:t>
            </a:r>
          </a:p>
          <a:p>
            <a:pPr algn="r"/>
            <a:r>
              <a:rPr lang="en-GB" dirty="0"/>
              <a:t>479 k</a:t>
            </a:r>
          </a:p>
          <a:p>
            <a:pPr algn="r"/>
            <a:r>
              <a:rPr lang="en-GB" dirty="0"/>
              <a:t>177 k</a:t>
            </a:r>
          </a:p>
          <a:p>
            <a:pPr algn="r"/>
            <a:r>
              <a:rPr lang="en-GB" dirty="0"/>
              <a:t>22 k</a:t>
            </a:r>
          </a:p>
          <a:p>
            <a:pPr algn="r"/>
            <a:r>
              <a:rPr lang="en-GB" dirty="0"/>
              <a:t>218 k</a:t>
            </a:r>
          </a:p>
        </p:txBody>
      </p:sp>
      <p:sp>
        <p:nvSpPr>
          <p:cNvPr id="33" name="Textfeld 32">
            <a:extLst>
              <a:ext uri="{FF2B5EF4-FFF2-40B4-BE49-F238E27FC236}">
                <a16:creationId xmlns:a16="http://schemas.microsoft.com/office/drawing/2014/main" id="{C576AB2E-7C26-FC56-ACEC-879B5A90DCAB}"/>
              </a:ext>
            </a:extLst>
          </p:cNvPr>
          <p:cNvSpPr txBox="1"/>
          <p:nvPr/>
        </p:nvSpPr>
        <p:spPr>
          <a:xfrm>
            <a:off x="601261" y="6563809"/>
            <a:ext cx="2407115" cy="307777"/>
          </a:xfrm>
          <a:prstGeom prst="rect">
            <a:avLst/>
          </a:prstGeom>
          <a:noFill/>
        </p:spPr>
        <p:txBody>
          <a:bodyPr wrap="square">
            <a:spAutoFit/>
          </a:bodyPr>
          <a:lstStyle/>
          <a:p>
            <a:r>
              <a:rPr lang="en-GB" sz="1400" dirty="0"/>
              <a:t>*counts from </a:t>
            </a:r>
            <a:r>
              <a:rPr lang="en-GB" sz="1400" dirty="0" err="1"/>
              <a:t>Pubmed</a:t>
            </a:r>
            <a:r>
              <a:rPr lang="en-GB" sz="1400" dirty="0"/>
              <a:t> titles</a:t>
            </a:r>
          </a:p>
        </p:txBody>
      </p:sp>
      <p:sp>
        <p:nvSpPr>
          <p:cNvPr id="35" name="Textfeld 34">
            <a:extLst>
              <a:ext uri="{FF2B5EF4-FFF2-40B4-BE49-F238E27FC236}">
                <a16:creationId xmlns:a16="http://schemas.microsoft.com/office/drawing/2014/main" id="{94FFEC41-14B0-A630-652D-F5831ECE5DF4}"/>
              </a:ext>
            </a:extLst>
          </p:cNvPr>
          <p:cNvSpPr txBox="1"/>
          <p:nvPr/>
        </p:nvSpPr>
        <p:spPr>
          <a:xfrm>
            <a:off x="3711744" y="3024484"/>
            <a:ext cx="653818" cy="584775"/>
          </a:xfrm>
          <a:prstGeom prst="rect">
            <a:avLst/>
          </a:prstGeom>
          <a:noFill/>
        </p:spPr>
        <p:txBody>
          <a:bodyPr wrap="square">
            <a:spAutoFit/>
          </a:bodyPr>
          <a:lstStyle/>
          <a:p>
            <a:r>
              <a:rPr lang="en-GB" sz="3200" dirty="0">
                <a:solidFill>
                  <a:srgbClr val="C00000"/>
                </a:solidFill>
              </a:rPr>
              <a:t>?</a:t>
            </a:r>
            <a:endParaRPr lang="en-GB" dirty="0">
              <a:solidFill>
                <a:srgbClr val="C00000"/>
              </a:solidFill>
            </a:endParaRPr>
          </a:p>
        </p:txBody>
      </p:sp>
      <p:sp>
        <p:nvSpPr>
          <p:cNvPr id="3" name="Textfeld 2">
            <a:extLst>
              <a:ext uri="{FF2B5EF4-FFF2-40B4-BE49-F238E27FC236}">
                <a16:creationId xmlns:a16="http://schemas.microsoft.com/office/drawing/2014/main" id="{77E3EDDA-3973-D870-7B7B-6C794CFC6556}"/>
              </a:ext>
            </a:extLst>
          </p:cNvPr>
          <p:cNvSpPr txBox="1"/>
          <p:nvPr/>
        </p:nvSpPr>
        <p:spPr>
          <a:xfrm>
            <a:off x="5570875" y="1445116"/>
            <a:ext cx="3846366" cy="461665"/>
          </a:xfrm>
          <a:prstGeom prst="rect">
            <a:avLst/>
          </a:prstGeom>
          <a:noFill/>
        </p:spPr>
        <p:txBody>
          <a:bodyPr wrap="square">
            <a:spAutoFit/>
          </a:bodyPr>
          <a:lstStyle/>
          <a:p>
            <a:r>
              <a:rPr lang="en-GB" sz="2400" b="1" dirty="0"/>
              <a:t>BFO classes (disjoint)</a:t>
            </a:r>
            <a:endParaRPr lang="en-GB" b="1" dirty="0"/>
          </a:p>
        </p:txBody>
      </p:sp>
      <p:pic>
        <p:nvPicPr>
          <p:cNvPr id="5" name="Grafik 4" descr="Ein Bild, das Muster, Grafiken, Pixel, Design enthält.">
            <a:extLst>
              <a:ext uri="{FF2B5EF4-FFF2-40B4-BE49-F238E27FC236}">
                <a16:creationId xmlns:a16="http://schemas.microsoft.com/office/drawing/2014/main" id="{1DE7AE71-8A61-3661-063D-55F51B1C93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54626" y="2797179"/>
            <a:ext cx="2420124" cy="2420124"/>
          </a:xfrm>
          <a:prstGeom prst="rect">
            <a:avLst/>
          </a:prstGeom>
        </p:spPr>
      </p:pic>
      <p:sp>
        <p:nvSpPr>
          <p:cNvPr id="6" name="Textfeld 5">
            <a:extLst>
              <a:ext uri="{FF2B5EF4-FFF2-40B4-BE49-F238E27FC236}">
                <a16:creationId xmlns:a16="http://schemas.microsoft.com/office/drawing/2014/main" id="{8B27950C-2849-83CC-77AB-621C32E9C455}"/>
              </a:ext>
            </a:extLst>
          </p:cNvPr>
          <p:cNvSpPr txBox="1"/>
          <p:nvPr/>
        </p:nvSpPr>
        <p:spPr>
          <a:xfrm>
            <a:off x="601261" y="1403800"/>
            <a:ext cx="3846366" cy="830997"/>
          </a:xfrm>
          <a:prstGeom prst="rect">
            <a:avLst/>
          </a:prstGeom>
          <a:noFill/>
        </p:spPr>
        <p:txBody>
          <a:bodyPr wrap="square">
            <a:spAutoFit/>
          </a:bodyPr>
          <a:lstStyle/>
          <a:p>
            <a:r>
              <a:rPr lang="en-GB" sz="2400" b="1" dirty="0"/>
              <a:t>Common terms occurring in</a:t>
            </a:r>
            <a:br>
              <a:rPr lang="en-GB" sz="2400" b="1" dirty="0"/>
            </a:br>
            <a:r>
              <a:rPr lang="en-GB" sz="2400" b="1" dirty="0"/>
              <a:t>clinical terminology</a:t>
            </a:r>
            <a:endParaRPr lang="en-GB" b="1" dirty="0"/>
          </a:p>
        </p:txBody>
      </p:sp>
      <p:sp>
        <p:nvSpPr>
          <p:cNvPr id="7" name="Textfeld 6">
            <a:extLst>
              <a:ext uri="{FF2B5EF4-FFF2-40B4-BE49-F238E27FC236}">
                <a16:creationId xmlns:a16="http://schemas.microsoft.com/office/drawing/2014/main" id="{82323071-6438-EA3F-34D8-D751DDC91F56}"/>
              </a:ext>
            </a:extLst>
          </p:cNvPr>
          <p:cNvSpPr txBox="1"/>
          <p:nvPr/>
        </p:nvSpPr>
        <p:spPr>
          <a:xfrm>
            <a:off x="9708194" y="2282657"/>
            <a:ext cx="869533" cy="646331"/>
          </a:xfrm>
          <a:prstGeom prst="rect">
            <a:avLst/>
          </a:prstGeom>
          <a:noFill/>
        </p:spPr>
        <p:txBody>
          <a:bodyPr wrap="none" rtlCol="0">
            <a:spAutoFit/>
          </a:bodyPr>
          <a:lstStyle/>
          <a:p>
            <a:r>
              <a:rPr lang="en-GB" sz="3600"/>
              <a:t>Poll</a:t>
            </a:r>
            <a:endParaRPr lang="en-GB" sz="3600" dirty="0"/>
          </a:p>
        </p:txBody>
      </p:sp>
      <p:sp>
        <p:nvSpPr>
          <p:cNvPr id="26" name="Textfeld 25">
            <a:extLst>
              <a:ext uri="{FF2B5EF4-FFF2-40B4-BE49-F238E27FC236}">
                <a16:creationId xmlns:a16="http://schemas.microsoft.com/office/drawing/2014/main" id="{94B7E5AB-C3C1-7B00-E4B7-C1D9F09DEF2D}"/>
              </a:ext>
            </a:extLst>
          </p:cNvPr>
          <p:cNvSpPr txBox="1"/>
          <p:nvPr/>
        </p:nvSpPr>
        <p:spPr>
          <a:xfrm>
            <a:off x="9708194" y="5090194"/>
            <a:ext cx="1519840" cy="646331"/>
          </a:xfrm>
          <a:prstGeom prst="rect">
            <a:avLst/>
          </a:prstGeom>
          <a:noFill/>
        </p:spPr>
        <p:txBody>
          <a:bodyPr wrap="none" rtlCol="0">
            <a:spAutoFit/>
          </a:bodyPr>
          <a:lstStyle/>
          <a:p>
            <a:r>
              <a:rPr lang="en-GB" sz="3600" dirty="0">
                <a:hlinkClick r:id="rId3"/>
              </a:rPr>
              <a:t>Results</a:t>
            </a:r>
            <a:endParaRPr lang="en-GB" sz="3600" dirty="0"/>
          </a:p>
        </p:txBody>
      </p:sp>
    </p:spTree>
    <p:extLst>
      <p:ext uri="{BB962C8B-B14F-4D97-AF65-F5344CB8AC3E}">
        <p14:creationId xmlns:p14="http://schemas.microsoft.com/office/powerpoint/2010/main" val="208369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179F6-7558-2F5A-7683-9FC219F4E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9D5E-76B6-6AF9-D72A-BC95ACCAFEB9}"/>
              </a:ext>
            </a:extLst>
          </p:cNvPr>
          <p:cNvSpPr>
            <a:spLocks noGrp="1"/>
          </p:cNvSpPr>
          <p:nvPr>
            <p:ph type="title"/>
          </p:nvPr>
        </p:nvSpPr>
        <p:spPr/>
        <p:txBody>
          <a:bodyPr/>
          <a:lstStyle/>
          <a:p>
            <a:r>
              <a:rPr lang="en-GB" dirty="0"/>
              <a:t>Discussion of poll results</a:t>
            </a:r>
          </a:p>
        </p:txBody>
      </p:sp>
      <p:sp>
        <p:nvSpPr>
          <p:cNvPr id="3" name="Content Placeholder 2">
            <a:extLst>
              <a:ext uri="{FF2B5EF4-FFF2-40B4-BE49-F238E27FC236}">
                <a16:creationId xmlns:a16="http://schemas.microsoft.com/office/drawing/2014/main" id="{3B5398B3-2F97-83E4-D649-DD7C97149913}"/>
              </a:ext>
            </a:extLst>
          </p:cNvPr>
          <p:cNvSpPr>
            <a:spLocks noGrp="1"/>
          </p:cNvSpPr>
          <p:nvPr>
            <p:ph idx="1"/>
          </p:nvPr>
        </p:nvSpPr>
        <p:spPr>
          <a:xfrm>
            <a:off x="328473" y="1660124"/>
            <a:ext cx="11425561" cy="5197876"/>
          </a:xfrm>
        </p:spPr>
        <p:txBody>
          <a:bodyPr>
            <a:normAutofit/>
          </a:bodyPr>
          <a:lstStyle/>
          <a:p>
            <a:r>
              <a:rPr lang="en-GB" sz="3200" dirty="0"/>
              <a:t>Clinical conditions (diseases, disorders, signs, symptoms): Several viewpoints</a:t>
            </a:r>
          </a:p>
          <a:p>
            <a:pPr marL="914400" lvl="1" indent="-457200">
              <a:buFont typeface="+mj-lt"/>
              <a:buAutoNum type="alphaLcPeriod"/>
            </a:pPr>
            <a:r>
              <a:rPr lang="en-GB" sz="2800" dirty="0"/>
              <a:t>Qualities that inhere in some anatomical structure</a:t>
            </a:r>
          </a:p>
          <a:p>
            <a:pPr marL="914400" lvl="1" indent="-457200">
              <a:buFont typeface="+mj-lt"/>
              <a:buAutoNum type="alphaLcPeriod"/>
            </a:pPr>
            <a:r>
              <a:rPr lang="en-GB" sz="2800" dirty="0"/>
              <a:t>Qualities that inhere in some process</a:t>
            </a:r>
          </a:p>
          <a:p>
            <a:pPr marL="914400" lvl="1" indent="-457200">
              <a:buFont typeface="+mj-lt"/>
              <a:buAutoNum type="alphaLcPeriod"/>
            </a:pPr>
            <a:r>
              <a:rPr lang="en-GB" sz="2800" dirty="0"/>
              <a:t>Dispositions that inhere in some anatomical structure</a:t>
            </a:r>
          </a:p>
          <a:p>
            <a:pPr marL="914400" lvl="1" indent="-457200">
              <a:buFont typeface="+mj-lt"/>
              <a:buAutoNum type="alphaLcPeriod"/>
            </a:pPr>
            <a:r>
              <a:rPr lang="en-GB" sz="2800" dirty="0"/>
              <a:t>Processes / events that occur in some anatomical structure</a:t>
            </a:r>
          </a:p>
          <a:p>
            <a:pPr marL="914400" lvl="1" indent="-457200">
              <a:buFont typeface="+mj-lt"/>
              <a:buAutoNum type="alphaLcPeriod"/>
            </a:pPr>
            <a:r>
              <a:rPr lang="en-GB" sz="2800" dirty="0"/>
              <a:t>Structural features of interest - phenotypes</a:t>
            </a:r>
          </a:p>
          <a:p>
            <a:pPr marL="914400" lvl="1" indent="-457200">
              <a:buFont typeface="+mj-lt"/>
              <a:buAutoNum type="alphaLcPeriod"/>
            </a:pPr>
            <a:r>
              <a:rPr lang="en-GB" sz="2800" dirty="0"/>
              <a:t>State of organism marked by presence of any of a. to e. </a:t>
            </a:r>
          </a:p>
          <a:p>
            <a:pPr marL="914400" lvl="1" indent="-457200">
              <a:buFont typeface="+mj-lt"/>
              <a:buAutoNum type="alphaLcPeriod"/>
            </a:pPr>
            <a:r>
              <a:rPr lang="en-GB" sz="2800" dirty="0"/>
              <a:t>Mention of some of the concepts a. – f., regardless of actual instances</a:t>
            </a:r>
          </a:p>
          <a:p>
            <a:r>
              <a:rPr lang="en-GB" sz="3200" dirty="0"/>
              <a:t>Example: Appendicitis </a:t>
            </a:r>
          </a:p>
        </p:txBody>
      </p:sp>
    </p:spTree>
    <p:extLst>
      <p:ext uri="{BB962C8B-B14F-4D97-AF65-F5344CB8AC3E}">
        <p14:creationId xmlns:p14="http://schemas.microsoft.com/office/powerpoint/2010/main" val="154973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AE422-3DFE-2B0D-DF7F-6D0FDBB17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49870-4813-C9D5-5987-3BE9E608D4E9}"/>
              </a:ext>
            </a:extLst>
          </p:cNvPr>
          <p:cNvSpPr>
            <a:spLocks noGrp="1"/>
          </p:cNvSpPr>
          <p:nvPr>
            <p:ph type="title"/>
          </p:nvPr>
        </p:nvSpPr>
        <p:spPr/>
        <p:txBody>
          <a:bodyPr/>
          <a:lstStyle/>
          <a:p>
            <a:r>
              <a:rPr lang="en-GB" i="1" dirty="0"/>
              <a:t>Appendicitis</a:t>
            </a:r>
            <a:r>
              <a:rPr lang="en-GB" dirty="0"/>
              <a:t> in different biomedical ontologies</a:t>
            </a:r>
          </a:p>
        </p:txBody>
      </p:sp>
      <p:sp>
        <p:nvSpPr>
          <p:cNvPr id="3" name="Content Placeholder 2">
            <a:extLst>
              <a:ext uri="{FF2B5EF4-FFF2-40B4-BE49-F238E27FC236}">
                <a16:creationId xmlns:a16="http://schemas.microsoft.com/office/drawing/2014/main" id="{2D2B3F6E-AFB9-61C1-B164-C7205C548728}"/>
              </a:ext>
            </a:extLst>
          </p:cNvPr>
          <p:cNvSpPr>
            <a:spLocks noGrp="1"/>
          </p:cNvSpPr>
          <p:nvPr>
            <p:ph idx="1"/>
          </p:nvPr>
        </p:nvSpPr>
        <p:spPr>
          <a:xfrm>
            <a:off x="7072009" y="1504482"/>
            <a:ext cx="5019472" cy="5197876"/>
          </a:xfrm>
        </p:spPr>
        <p:txBody>
          <a:bodyPr>
            <a:normAutofit fontScale="92500" lnSpcReduction="20000"/>
          </a:bodyPr>
          <a:lstStyle/>
          <a:p>
            <a:r>
              <a:rPr lang="en-GB" dirty="0"/>
              <a:t>Ontologies</a:t>
            </a:r>
          </a:p>
          <a:p>
            <a:pPr lvl="1"/>
            <a:r>
              <a:rPr lang="en-GB" dirty="0"/>
              <a:t>MONDO</a:t>
            </a:r>
          </a:p>
          <a:p>
            <a:pPr lvl="2"/>
            <a:r>
              <a:rPr lang="en-GB" sz="1700" dirty="0"/>
              <a:t>Integrates multiple disease resources to provides standardized disease definitions, cross-references, and hierarchical relationships</a:t>
            </a:r>
          </a:p>
          <a:p>
            <a:pPr lvl="1"/>
            <a:r>
              <a:rPr lang="en-GB" dirty="0"/>
              <a:t>HPO </a:t>
            </a:r>
          </a:p>
          <a:p>
            <a:pPr lvl="2"/>
            <a:r>
              <a:rPr lang="en-GB" sz="1700" dirty="0"/>
              <a:t>Describes human phenotypic abnormalities (signs, symptoms, clinical features)</a:t>
            </a:r>
          </a:p>
          <a:p>
            <a:pPr lvl="1"/>
            <a:r>
              <a:rPr lang="en-GB" dirty="0"/>
              <a:t>SNOMED CT</a:t>
            </a:r>
          </a:p>
          <a:p>
            <a:pPr lvl="2"/>
            <a:r>
              <a:rPr lang="en-GB" sz="1700" dirty="0"/>
              <a:t>comprehensive, multilingual clinical terminology, which covers all entity types used in EHRs for semantic interoperability.</a:t>
            </a:r>
          </a:p>
          <a:p>
            <a:pPr lvl="1"/>
            <a:r>
              <a:rPr lang="en-GB" dirty="0"/>
              <a:t>NCI Thesaurus</a:t>
            </a:r>
          </a:p>
          <a:p>
            <a:pPr lvl="2"/>
            <a:r>
              <a:rPr lang="en-GB" sz="1700" dirty="0"/>
              <a:t>A reference terminology covering cancer biology, diseases, drugs, genes, and clinical trial concepts.– Provides controlled vocabulary and ontology structure to support cancer research and clinical trials.</a:t>
            </a:r>
          </a:p>
          <a:p>
            <a:pPr lvl="1"/>
            <a:r>
              <a:rPr lang="en-GB" dirty="0"/>
              <a:t>Disease Ontology</a:t>
            </a:r>
          </a:p>
          <a:p>
            <a:pPr lvl="2"/>
            <a:r>
              <a:rPr lang="en-GB" sz="1700" dirty="0"/>
              <a:t>Standardized ontology for human diseases with mappings to medical vocabularies, using BFO</a:t>
            </a:r>
          </a:p>
          <a:p>
            <a:pPr lvl="1"/>
            <a:endParaRPr lang="en-GB" dirty="0"/>
          </a:p>
          <a:p>
            <a:endParaRPr lang="en-GB" dirty="0"/>
          </a:p>
        </p:txBody>
      </p:sp>
      <p:pic>
        <p:nvPicPr>
          <p:cNvPr id="5" name="Grafik 4">
            <a:extLst>
              <a:ext uri="{FF2B5EF4-FFF2-40B4-BE49-F238E27FC236}">
                <a16:creationId xmlns:a16="http://schemas.microsoft.com/office/drawing/2014/main" id="{8F5F59FE-54F1-2D83-3864-835A09FAF2F9}"/>
              </a:ext>
            </a:extLst>
          </p:cNvPr>
          <p:cNvPicPr>
            <a:picLocks noChangeAspect="1"/>
          </p:cNvPicPr>
          <p:nvPr/>
        </p:nvPicPr>
        <p:blipFill>
          <a:blip r:embed="rId2"/>
          <a:stretch>
            <a:fillRect/>
          </a:stretch>
        </p:blipFill>
        <p:spPr>
          <a:xfrm>
            <a:off x="267275" y="1400354"/>
            <a:ext cx="6804733" cy="5406132"/>
          </a:xfrm>
          <a:prstGeom prst="rect">
            <a:avLst/>
          </a:prstGeom>
        </p:spPr>
      </p:pic>
      <p:sp>
        <p:nvSpPr>
          <p:cNvPr id="10" name="Rechteck 9">
            <a:extLst>
              <a:ext uri="{FF2B5EF4-FFF2-40B4-BE49-F238E27FC236}">
                <a16:creationId xmlns:a16="http://schemas.microsoft.com/office/drawing/2014/main" id="{FBD56163-DCA8-5EBC-0EAF-15CAA1A231CE}"/>
              </a:ext>
            </a:extLst>
          </p:cNvPr>
          <p:cNvSpPr/>
          <p:nvPr/>
        </p:nvSpPr>
        <p:spPr>
          <a:xfrm>
            <a:off x="101600" y="4356100"/>
            <a:ext cx="7112000" cy="26293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feld 8">
            <a:extLst>
              <a:ext uri="{FF2B5EF4-FFF2-40B4-BE49-F238E27FC236}">
                <a16:creationId xmlns:a16="http://schemas.microsoft.com/office/drawing/2014/main" id="{94C67A3B-A1DB-6A41-E609-843A90325C81}"/>
              </a:ext>
            </a:extLst>
          </p:cNvPr>
          <p:cNvSpPr txBox="1"/>
          <p:nvPr/>
        </p:nvSpPr>
        <p:spPr>
          <a:xfrm>
            <a:off x="100519" y="6266726"/>
            <a:ext cx="6219824" cy="261610"/>
          </a:xfrm>
          <a:prstGeom prst="rect">
            <a:avLst/>
          </a:prstGeom>
          <a:noFill/>
        </p:spPr>
        <p:txBody>
          <a:bodyPr wrap="square">
            <a:spAutoFit/>
          </a:bodyPr>
          <a:lstStyle/>
          <a:p>
            <a:r>
              <a:rPr lang="en-GB" sz="1050" dirty="0">
                <a:hlinkClick r:id="rId3"/>
              </a:rPr>
              <a:t>https://www.mayoclinic.org/diseases-conditions/appendicitis/symptoms-causes/syc-20369543</a:t>
            </a:r>
            <a:r>
              <a:rPr lang="en-GB" sz="1050" dirty="0"/>
              <a:t> </a:t>
            </a:r>
          </a:p>
        </p:txBody>
      </p:sp>
      <p:sp>
        <p:nvSpPr>
          <p:cNvPr id="12" name="Textfeld 11">
            <a:extLst>
              <a:ext uri="{FF2B5EF4-FFF2-40B4-BE49-F238E27FC236}">
                <a16:creationId xmlns:a16="http://schemas.microsoft.com/office/drawing/2014/main" id="{6E729D9B-09CD-DAFF-FA26-F38ABA0C04DB}"/>
              </a:ext>
            </a:extLst>
          </p:cNvPr>
          <p:cNvSpPr txBox="1"/>
          <p:nvPr/>
        </p:nvSpPr>
        <p:spPr>
          <a:xfrm>
            <a:off x="125682" y="4475404"/>
            <a:ext cx="6722589" cy="1762021"/>
          </a:xfrm>
          <a:prstGeom prst="rect">
            <a:avLst/>
          </a:prstGeom>
          <a:noFill/>
        </p:spPr>
        <p:txBody>
          <a:bodyPr wrap="square">
            <a:spAutoFit/>
          </a:bodyPr>
          <a:lstStyle/>
          <a:p>
            <a:pPr algn="l">
              <a:spcAft>
                <a:spcPts val="1500"/>
              </a:spcAft>
              <a:buNone/>
            </a:pPr>
            <a:r>
              <a:rPr lang="en-GB" sz="1600" b="0" i="0" dirty="0">
                <a:solidFill>
                  <a:srgbClr val="080808"/>
                </a:solidFill>
                <a:effectLst/>
              </a:rPr>
              <a:t>Appendicitis is an inflammation of the appendix. The appendix is a finger-shaped pouch that sticks out from the colon on the lower right side of the belly, also called the abdomen.</a:t>
            </a:r>
          </a:p>
          <a:p>
            <a:pPr algn="l">
              <a:spcAft>
                <a:spcPts val="1500"/>
              </a:spcAft>
              <a:buNone/>
            </a:pPr>
            <a:r>
              <a:rPr lang="en-GB" sz="1600" b="0" i="0" dirty="0">
                <a:solidFill>
                  <a:srgbClr val="080808"/>
                </a:solidFill>
                <a:effectLst/>
              </a:rPr>
              <a:t>Appendicitis causes pain in the lower right part of the belly. However, in most people, pain begins around the belly button and then moves. As inflammation worsens, appendicitis pain typically increases and eventually becomes serious.</a:t>
            </a:r>
          </a:p>
        </p:txBody>
      </p:sp>
      <p:sp>
        <p:nvSpPr>
          <p:cNvPr id="13" name="Rechteck 12">
            <a:extLst>
              <a:ext uri="{FF2B5EF4-FFF2-40B4-BE49-F238E27FC236}">
                <a16:creationId xmlns:a16="http://schemas.microsoft.com/office/drawing/2014/main" id="{7F8F9F63-0B73-61F0-0BE8-4763D0841C48}"/>
              </a:ext>
            </a:extLst>
          </p:cNvPr>
          <p:cNvSpPr/>
          <p:nvPr/>
        </p:nvSpPr>
        <p:spPr>
          <a:xfrm>
            <a:off x="2324911" y="1877438"/>
            <a:ext cx="1332689" cy="262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89557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DD5B57-3F14-F2E4-9C59-3401FF830178}"/>
              </a:ext>
            </a:extLst>
          </p:cNvPr>
          <p:cNvSpPr>
            <a:spLocks noGrp="1"/>
          </p:cNvSpPr>
          <p:nvPr>
            <p:ph type="title"/>
          </p:nvPr>
        </p:nvSpPr>
        <p:spPr/>
        <p:txBody>
          <a:bodyPr/>
          <a:lstStyle/>
          <a:p>
            <a:r>
              <a:rPr lang="en-GB" i="1" dirty="0"/>
              <a:t>Appendicitis</a:t>
            </a:r>
            <a:r>
              <a:rPr lang="en-GB" dirty="0"/>
              <a:t> in different biomedical ontologies</a:t>
            </a:r>
          </a:p>
        </p:txBody>
      </p:sp>
      <p:pic>
        <p:nvPicPr>
          <p:cNvPr id="5" name="Grafik 4">
            <a:extLst>
              <a:ext uri="{FF2B5EF4-FFF2-40B4-BE49-F238E27FC236}">
                <a16:creationId xmlns:a16="http://schemas.microsoft.com/office/drawing/2014/main" id="{10EF480C-DE1D-14FC-99F4-8B609994810A}"/>
              </a:ext>
            </a:extLst>
          </p:cNvPr>
          <p:cNvPicPr>
            <a:picLocks noChangeAspect="1"/>
          </p:cNvPicPr>
          <p:nvPr/>
        </p:nvPicPr>
        <p:blipFill>
          <a:blip r:embed="rId2"/>
          <a:stretch>
            <a:fillRect/>
          </a:stretch>
        </p:blipFill>
        <p:spPr>
          <a:xfrm>
            <a:off x="173551" y="1575124"/>
            <a:ext cx="2255835" cy="2591162"/>
          </a:xfrm>
          <a:prstGeom prst="rect">
            <a:avLst/>
          </a:prstGeom>
        </p:spPr>
      </p:pic>
      <p:pic>
        <p:nvPicPr>
          <p:cNvPr id="7" name="Grafik 6">
            <a:extLst>
              <a:ext uri="{FF2B5EF4-FFF2-40B4-BE49-F238E27FC236}">
                <a16:creationId xmlns:a16="http://schemas.microsoft.com/office/drawing/2014/main" id="{A888C0C1-468A-3A0D-DCE9-3576C1942A9C}"/>
              </a:ext>
            </a:extLst>
          </p:cNvPr>
          <p:cNvPicPr>
            <a:picLocks noChangeAspect="1"/>
          </p:cNvPicPr>
          <p:nvPr/>
        </p:nvPicPr>
        <p:blipFill>
          <a:blip r:embed="rId3"/>
          <a:stretch>
            <a:fillRect/>
          </a:stretch>
        </p:blipFill>
        <p:spPr>
          <a:xfrm>
            <a:off x="292374" y="4523603"/>
            <a:ext cx="3277058" cy="2217730"/>
          </a:xfrm>
          <a:prstGeom prst="rect">
            <a:avLst/>
          </a:prstGeom>
        </p:spPr>
      </p:pic>
      <p:pic>
        <p:nvPicPr>
          <p:cNvPr id="9" name="Grafik 8">
            <a:extLst>
              <a:ext uri="{FF2B5EF4-FFF2-40B4-BE49-F238E27FC236}">
                <a16:creationId xmlns:a16="http://schemas.microsoft.com/office/drawing/2014/main" id="{8A0329E9-83A7-04B6-4DE9-CB7BBA70B133}"/>
              </a:ext>
            </a:extLst>
          </p:cNvPr>
          <p:cNvPicPr>
            <a:picLocks noChangeAspect="1"/>
          </p:cNvPicPr>
          <p:nvPr/>
        </p:nvPicPr>
        <p:blipFill>
          <a:blip r:embed="rId4"/>
          <a:stretch>
            <a:fillRect/>
          </a:stretch>
        </p:blipFill>
        <p:spPr>
          <a:xfrm>
            <a:off x="4537791" y="2251913"/>
            <a:ext cx="3482826" cy="3177983"/>
          </a:xfrm>
          <a:prstGeom prst="rect">
            <a:avLst/>
          </a:prstGeom>
        </p:spPr>
      </p:pic>
      <p:pic>
        <p:nvPicPr>
          <p:cNvPr id="11" name="Grafik 10">
            <a:extLst>
              <a:ext uri="{FF2B5EF4-FFF2-40B4-BE49-F238E27FC236}">
                <a16:creationId xmlns:a16="http://schemas.microsoft.com/office/drawing/2014/main" id="{C6FA8E33-CA63-9B86-6232-BB57F80B298E}"/>
              </a:ext>
            </a:extLst>
          </p:cNvPr>
          <p:cNvPicPr>
            <a:picLocks noChangeAspect="1"/>
          </p:cNvPicPr>
          <p:nvPr/>
        </p:nvPicPr>
        <p:blipFill>
          <a:blip r:embed="rId5"/>
          <a:stretch>
            <a:fillRect/>
          </a:stretch>
        </p:blipFill>
        <p:spPr>
          <a:xfrm>
            <a:off x="8126522" y="1575124"/>
            <a:ext cx="3261815" cy="2568298"/>
          </a:xfrm>
          <a:prstGeom prst="rect">
            <a:avLst/>
          </a:prstGeom>
        </p:spPr>
      </p:pic>
      <p:sp>
        <p:nvSpPr>
          <p:cNvPr id="14" name="Rechteck 13">
            <a:extLst>
              <a:ext uri="{FF2B5EF4-FFF2-40B4-BE49-F238E27FC236}">
                <a16:creationId xmlns:a16="http://schemas.microsoft.com/office/drawing/2014/main" id="{7578217D-8953-1216-5079-411890637913}"/>
              </a:ext>
            </a:extLst>
          </p:cNvPr>
          <p:cNvSpPr/>
          <p:nvPr/>
        </p:nvSpPr>
        <p:spPr>
          <a:xfrm>
            <a:off x="2495633" y="2813179"/>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MONDO</a:t>
            </a:r>
            <a:endParaRPr lang="en-GB" dirty="0">
              <a:solidFill>
                <a:schemeClr val="accent1">
                  <a:lumMod val="50000"/>
                </a:schemeClr>
              </a:solidFill>
            </a:endParaRPr>
          </a:p>
        </p:txBody>
      </p:sp>
      <p:sp>
        <p:nvSpPr>
          <p:cNvPr id="15" name="Rechteck 14">
            <a:extLst>
              <a:ext uri="{FF2B5EF4-FFF2-40B4-BE49-F238E27FC236}">
                <a16:creationId xmlns:a16="http://schemas.microsoft.com/office/drawing/2014/main" id="{9D3CD39F-1D33-2C6E-C684-CCAF3838A6A9}"/>
              </a:ext>
            </a:extLst>
          </p:cNvPr>
          <p:cNvSpPr/>
          <p:nvPr/>
        </p:nvSpPr>
        <p:spPr>
          <a:xfrm>
            <a:off x="3569432" y="5439421"/>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HPO</a:t>
            </a:r>
            <a:endParaRPr lang="en-GB" dirty="0">
              <a:solidFill>
                <a:schemeClr val="accent1">
                  <a:lumMod val="50000"/>
                </a:schemeClr>
              </a:solidFill>
            </a:endParaRPr>
          </a:p>
        </p:txBody>
      </p:sp>
      <p:sp>
        <p:nvSpPr>
          <p:cNvPr id="16" name="Rechteck 15">
            <a:extLst>
              <a:ext uri="{FF2B5EF4-FFF2-40B4-BE49-F238E27FC236}">
                <a16:creationId xmlns:a16="http://schemas.microsoft.com/office/drawing/2014/main" id="{908989F9-9E51-C9D2-5308-50139CC29226}"/>
              </a:ext>
            </a:extLst>
          </p:cNvPr>
          <p:cNvSpPr/>
          <p:nvPr/>
        </p:nvSpPr>
        <p:spPr>
          <a:xfrm>
            <a:off x="5343525" y="1476065"/>
            <a:ext cx="1504653"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SNOMED CT</a:t>
            </a:r>
            <a:endParaRPr lang="en-GB" dirty="0">
              <a:solidFill>
                <a:schemeClr val="accent1">
                  <a:lumMod val="50000"/>
                </a:schemeClr>
              </a:solidFill>
            </a:endParaRPr>
          </a:p>
        </p:txBody>
      </p:sp>
      <p:sp>
        <p:nvSpPr>
          <p:cNvPr id="17" name="Rechteck 16">
            <a:extLst>
              <a:ext uri="{FF2B5EF4-FFF2-40B4-BE49-F238E27FC236}">
                <a16:creationId xmlns:a16="http://schemas.microsoft.com/office/drawing/2014/main" id="{EB16E86C-0175-9397-0856-8B92E92125A6}"/>
              </a:ext>
            </a:extLst>
          </p:cNvPr>
          <p:cNvSpPr/>
          <p:nvPr/>
        </p:nvSpPr>
        <p:spPr>
          <a:xfrm>
            <a:off x="10944650" y="1575124"/>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NCIT</a:t>
            </a:r>
            <a:endParaRPr lang="en-GB" dirty="0">
              <a:solidFill>
                <a:schemeClr val="accent1">
                  <a:lumMod val="50000"/>
                </a:schemeClr>
              </a:solidFill>
            </a:endParaRPr>
          </a:p>
        </p:txBody>
      </p:sp>
      <p:pic>
        <p:nvPicPr>
          <p:cNvPr id="19" name="Grafik 18">
            <a:extLst>
              <a:ext uri="{FF2B5EF4-FFF2-40B4-BE49-F238E27FC236}">
                <a16:creationId xmlns:a16="http://schemas.microsoft.com/office/drawing/2014/main" id="{BABD7418-F097-5581-DB91-1F81EDA75A09}"/>
              </a:ext>
            </a:extLst>
          </p:cNvPr>
          <p:cNvPicPr>
            <a:picLocks noChangeAspect="1"/>
          </p:cNvPicPr>
          <p:nvPr/>
        </p:nvPicPr>
        <p:blipFill>
          <a:blip r:embed="rId6"/>
          <a:stretch>
            <a:fillRect/>
          </a:stretch>
        </p:blipFill>
        <p:spPr>
          <a:xfrm>
            <a:off x="9613307" y="5809423"/>
            <a:ext cx="2286319" cy="876422"/>
          </a:xfrm>
          <a:prstGeom prst="rect">
            <a:avLst/>
          </a:prstGeom>
        </p:spPr>
      </p:pic>
      <p:pic>
        <p:nvPicPr>
          <p:cNvPr id="21" name="Grafik 20">
            <a:extLst>
              <a:ext uri="{FF2B5EF4-FFF2-40B4-BE49-F238E27FC236}">
                <a16:creationId xmlns:a16="http://schemas.microsoft.com/office/drawing/2014/main" id="{1B2C26F8-26E8-9B7F-A274-58D32DFE027A}"/>
              </a:ext>
            </a:extLst>
          </p:cNvPr>
          <p:cNvPicPr>
            <a:picLocks noChangeAspect="1"/>
          </p:cNvPicPr>
          <p:nvPr/>
        </p:nvPicPr>
        <p:blipFill>
          <a:blip r:embed="rId7"/>
          <a:stretch>
            <a:fillRect/>
          </a:stretch>
        </p:blipFill>
        <p:spPr>
          <a:xfrm>
            <a:off x="8947762" y="4320078"/>
            <a:ext cx="2408256" cy="1508970"/>
          </a:xfrm>
          <a:prstGeom prst="rect">
            <a:avLst/>
          </a:prstGeom>
        </p:spPr>
      </p:pic>
      <p:sp>
        <p:nvSpPr>
          <p:cNvPr id="22" name="Rechteck 21">
            <a:extLst>
              <a:ext uri="{FF2B5EF4-FFF2-40B4-BE49-F238E27FC236}">
                <a16:creationId xmlns:a16="http://schemas.microsoft.com/office/drawing/2014/main" id="{C8DB934D-D9C5-68BC-B577-714E57C07E36}"/>
              </a:ext>
            </a:extLst>
          </p:cNvPr>
          <p:cNvSpPr/>
          <p:nvPr/>
        </p:nvSpPr>
        <p:spPr>
          <a:xfrm>
            <a:off x="8340598" y="6120132"/>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DO</a:t>
            </a:r>
            <a:endParaRPr lang="en-GB" dirty="0">
              <a:solidFill>
                <a:schemeClr val="accent1">
                  <a:lumMod val="50000"/>
                </a:schemeClr>
              </a:solidFill>
            </a:endParaRPr>
          </a:p>
        </p:txBody>
      </p:sp>
    </p:spTree>
    <p:extLst>
      <p:ext uri="{BB962C8B-B14F-4D97-AF65-F5344CB8AC3E}">
        <p14:creationId xmlns:p14="http://schemas.microsoft.com/office/powerpoint/2010/main" val="1980321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E88F0A-B45B-9084-F12B-9F7455FC989D}"/>
              </a:ext>
            </a:extLst>
          </p:cNvPr>
          <p:cNvSpPr>
            <a:spLocks noGrp="1"/>
          </p:cNvSpPr>
          <p:nvPr>
            <p:ph type="title"/>
          </p:nvPr>
        </p:nvSpPr>
        <p:spPr/>
        <p:txBody>
          <a:bodyPr/>
          <a:lstStyle/>
          <a:p>
            <a:r>
              <a:rPr lang="en-GB" dirty="0"/>
              <a:t>Disease vs. Disorder</a:t>
            </a:r>
          </a:p>
        </p:txBody>
      </p:sp>
      <p:graphicFrame>
        <p:nvGraphicFramePr>
          <p:cNvPr id="4" name="Tabelle 3">
            <a:extLst>
              <a:ext uri="{FF2B5EF4-FFF2-40B4-BE49-F238E27FC236}">
                <a16:creationId xmlns:a16="http://schemas.microsoft.com/office/drawing/2014/main" id="{2F6B3F09-17E6-07F0-75CC-C572CFE2A73A}"/>
              </a:ext>
            </a:extLst>
          </p:cNvPr>
          <p:cNvGraphicFramePr>
            <a:graphicFrameLocks noGrp="1"/>
          </p:cNvGraphicFramePr>
          <p:nvPr>
            <p:extLst>
              <p:ext uri="{D42A27DB-BD31-4B8C-83A1-F6EECF244321}">
                <p14:modId xmlns:p14="http://schemas.microsoft.com/office/powerpoint/2010/main" val="3294219317"/>
              </p:ext>
            </p:extLst>
          </p:nvPr>
        </p:nvGraphicFramePr>
        <p:xfrm>
          <a:off x="537027" y="1760339"/>
          <a:ext cx="11408229" cy="4979821"/>
        </p:xfrm>
        <a:graphic>
          <a:graphicData uri="http://schemas.openxmlformats.org/drawingml/2006/table">
            <a:tbl>
              <a:tblPr firstRow="1" bandRow="1">
                <a:tableStyleId>{5940675A-B579-460E-94D1-54222C63F5DA}</a:tableStyleId>
              </a:tblPr>
              <a:tblGrid>
                <a:gridCol w="2325443">
                  <a:extLst>
                    <a:ext uri="{9D8B030D-6E8A-4147-A177-3AD203B41FA5}">
                      <a16:colId xmlns:a16="http://schemas.microsoft.com/office/drawing/2014/main" val="478516265"/>
                    </a:ext>
                  </a:extLst>
                </a:gridCol>
                <a:gridCol w="4219266">
                  <a:extLst>
                    <a:ext uri="{9D8B030D-6E8A-4147-A177-3AD203B41FA5}">
                      <a16:colId xmlns:a16="http://schemas.microsoft.com/office/drawing/2014/main" val="3524754649"/>
                    </a:ext>
                  </a:extLst>
                </a:gridCol>
                <a:gridCol w="4863520">
                  <a:extLst>
                    <a:ext uri="{9D8B030D-6E8A-4147-A177-3AD203B41FA5}">
                      <a16:colId xmlns:a16="http://schemas.microsoft.com/office/drawing/2014/main" val="1095670839"/>
                    </a:ext>
                  </a:extLst>
                </a:gridCol>
              </a:tblGrid>
              <a:tr h="647581">
                <a:tc>
                  <a:txBody>
                    <a:bodyPr/>
                    <a:lstStyle/>
                    <a:p>
                      <a:endParaRPr lang="en-GB" sz="2400" b="1" noProof="0" dirty="0"/>
                    </a:p>
                  </a:txBody>
                  <a:tcPr/>
                </a:tc>
                <a:tc>
                  <a:txBody>
                    <a:bodyPr/>
                    <a:lstStyle/>
                    <a:p>
                      <a:r>
                        <a:rPr lang="en-GB" sz="2400" b="1" noProof="0" dirty="0"/>
                        <a:t>Disease</a:t>
                      </a:r>
                    </a:p>
                  </a:txBody>
                  <a:tcPr/>
                </a:tc>
                <a:tc>
                  <a:txBody>
                    <a:bodyPr/>
                    <a:lstStyle/>
                    <a:p>
                      <a:r>
                        <a:rPr lang="en-GB" sz="2400" b="1" noProof="0" dirty="0"/>
                        <a:t>Disorder</a:t>
                      </a:r>
                    </a:p>
                  </a:txBody>
                  <a:tcPr/>
                </a:tc>
                <a:extLst>
                  <a:ext uri="{0D108BD9-81ED-4DB2-BD59-A6C34878D82A}">
                    <a16:rowId xmlns:a16="http://schemas.microsoft.com/office/drawing/2014/main" val="1928271805"/>
                  </a:ext>
                </a:extLst>
              </a:tr>
              <a:tr h="64212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400" noProof="0" dirty="0"/>
                        <a:t>OGMS </a:t>
                      </a:r>
                      <a:r>
                        <a:rPr lang="en-GB" sz="2400" noProof="0" dirty="0">
                          <a:sym typeface="Wingdings" panose="05000000000000000000" pitchFamily="2" charset="2"/>
                        </a:rPr>
                        <a:t> DO</a:t>
                      </a:r>
                      <a:endParaRPr lang="en-GB" sz="24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dirty="0"/>
                        <a:t>A disposition (specifically dependent continuant) to undergo pathological processes that exists in an organism because of one or more disorders in that organism.</a:t>
                      </a:r>
                      <a:endParaRPr lang="en-GB" sz="1400" b="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dirty="0"/>
                        <a:t>A material entity which is a causally relatively isolated combination of physical components of an organism that is clinically abnormal.</a:t>
                      </a:r>
                      <a:endParaRPr lang="en-GB" sz="1400" b="1" noProof="0" dirty="0"/>
                    </a:p>
                  </a:txBody>
                  <a:tcPr/>
                </a:tc>
                <a:extLst>
                  <a:ext uri="{0D108BD9-81ED-4DB2-BD59-A6C34878D82A}">
                    <a16:rowId xmlns:a16="http://schemas.microsoft.com/office/drawing/2014/main" val="1537134390"/>
                  </a:ext>
                </a:extLst>
              </a:tr>
              <a:tr h="64212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400" noProof="0" dirty="0"/>
                        <a:t>NCIT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kern="1200" dirty="0">
                          <a:solidFill>
                            <a:schemeClr val="tx1"/>
                          </a:solidFill>
                        </a:rPr>
                        <a:t>Deviation from the normal structure or function of an organism, typically with known causes, progression, and manifestations.</a:t>
                      </a:r>
                      <a:endParaRPr lang="en-GB" sz="1400" kern="1200" noProof="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kern="1200" dirty="0">
                          <a:solidFill>
                            <a:schemeClr val="tx1"/>
                          </a:solidFill>
                        </a:rPr>
                        <a:t>abnormal condition that impairs the normal function of an organism</a:t>
                      </a:r>
                      <a:endParaRPr lang="en-GB" sz="1400" kern="1200" noProof="0" dirty="0">
                        <a:solidFill>
                          <a:schemeClr val="tx1"/>
                        </a:solidFill>
                        <a:latin typeface="+mn-lt"/>
                        <a:ea typeface="+mn-ea"/>
                        <a:cs typeface="+mn-cs"/>
                      </a:endParaRPr>
                    </a:p>
                  </a:txBody>
                  <a:tcPr/>
                </a:tc>
                <a:extLst>
                  <a:ext uri="{0D108BD9-81ED-4DB2-BD59-A6C34878D82A}">
                    <a16:rowId xmlns:a16="http://schemas.microsoft.com/office/drawing/2014/main" val="1612187940"/>
                  </a:ext>
                </a:extLst>
              </a:tr>
              <a:tr h="64212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400" noProof="0" dirty="0"/>
                        <a:t>MONDO</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kern="1200" dirty="0">
                          <a:solidFill>
                            <a:schemeClr val="tx1"/>
                          </a:solidFill>
                        </a:rPr>
                        <a:t>A disease or disorder is a disposition to undergo pathological processes that exists in an organism because of one or more disorders in that organism.</a:t>
                      </a:r>
                      <a:endParaRPr lang="en-GB" sz="1400" kern="1200" noProof="0" dirty="0">
                        <a:solidFill>
                          <a:schemeClr val="tx1"/>
                        </a:solidFill>
                        <a:latin typeface="+mn-lt"/>
                        <a:ea typeface="+mn-ea"/>
                        <a:cs typeface="+mn-cs"/>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400" kern="1200" noProof="0" dirty="0">
                        <a:solidFill>
                          <a:schemeClr val="tx1"/>
                        </a:solidFill>
                        <a:latin typeface="+mn-lt"/>
                        <a:ea typeface="+mn-ea"/>
                        <a:cs typeface="+mn-cs"/>
                      </a:endParaRPr>
                    </a:p>
                  </a:txBody>
                  <a:tcPr/>
                </a:tc>
                <a:extLst>
                  <a:ext uri="{0D108BD9-81ED-4DB2-BD59-A6C34878D82A}">
                    <a16:rowId xmlns:a16="http://schemas.microsoft.com/office/drawing/2014/main" val="3003616027"/>
                  </a:ext>
                </a:extLst>
              </a:tr>
              <a:tr h="64212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400" noProof="0" dirty="0"/>
                        <a:t>SNOMED 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400" kern="1200" noProof="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kern="1200" noProof="0" dirty="0">
                          <a:solidFill>
                            <a:schemeClr val="tx1"/>
                          </a:solidFill>
                        </a:rPr>
                        <a:t>Always and necessarily abnormal; necessarily have an underlying pathological process; have temporal persistence (may be under treatment, in remission, or inactive, even though they are still present); may be present as a propensity for certain abnormal states to occur, even when treatment mitigates or resolves those abnormal states</a:t>
                      </a:r>
                      <a:endParaRPr lang="en-GB" sz="2400" b="1" noProof="0" dirty="0"/>
                    </a:p>
                  </a:txBody>
                  <a:tcPr/>
                </a:tc>
                <a:extLst>
                  <a:ext uri="{0D108BD9-81ED-4DB2-BD59-A6C34878D82A}">
                    <a16:rowId xmlns:a16="http://schemas.microsoft.com/office/drawing/2014/main" val="320181302"/>
                  </a:ext>
                </a:extLst>
              </a:tr>
              <a:tr h="64212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400" noProof="0" dirty="0"/>
                        <a:t>HPO</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400" kern="1200" noProof="0" dirty="0">
                          <a:solidFill>
                            <a:schemeClr val="tx1"/>
                          </a:solidFill>
                        </a:rPr>
                        <a:t>Describes the clinical features of a disease</a:t>
                      </a:r>
                      <a:endParaRPr lang="en-GB" sz="2800" b="1"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400" kern="1200" noProof="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2400" b="1" noProof="0" dirty="0"/>
                    </a:p>
                  </a:txBody>
                  <a:tcPr/>
                </a:tc>
                <a:extLst>
                  <a:ext uri="{0D108BD9-81ED-4DB2-BD59-A6C34878D82A}">
                    <a16:rowId xmlns:a16="http://schemas.microsoft.com/office/drawing/2014/main" val="1934602603"/>
                  </a:ext>
                </a:extLst>
              </a:tr>
            </a:tbl>
          </a:graphicData>
        </a:graphic>
      </p:graphicFrame>
    </p:spTree>
    <p:extLst>
      <p:ext uri="{BB962C8B-B14F-4D97-AF65-F5344CB8AC3E}">
        <p14:creationId xmlns:p14="http://schemas.microsoft.com/office/powerpoint/2010/main" val="457693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924AE-7E2D-8370-90F2-EFA51C60B36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31E5CF-3FEA-C6F2-783E-AA9A90D7976C}"/>
              </a:ext>
            </a:extLst>
          </p:cNvPr>
          <p:cNvSpPr>
            <a:spLocks noGrp="1"/>
          </p:cNvSpPr>
          <p:nvPr>
            <p:ph type="title"/>
          </p:nvPr>
        </p:nvSpPr>
        <p:spPr/>
        <p:txBody>
          <a:bodyPr/>
          <a:lstStyle/>
          <a:p>
            <a:r>
              <a:rPr lang="en-GB" i="1" dirty="0"/>
              <a:t>Appendicitis</a:t>
            </a:r>
            <a:r>
              <a:rPr lang="en-GB" dirty="0"/>
              <a:t> in different biomedical ontologies</a:t>
            </a:r>
          </a:p>
        </p:txBody>
      </p:sp>
      <p:pic>
        <p:nvPicPr>
          <p:cNvPr id="5" name="Grafik 4">
            <a:extLst>
              <a:ext uri="{FF2B5EF4-FFF2-40B4-BE49-F238E27FC236}">
                <a16:creationId xmlns:a16="http://schemas.microsoft.com/office/drawing/2014/main" id="{9A6E5E7D-10EE-B027-7800-8C0723DB0AD0}"/>
              </a:ext>
            </a:extLst>
          </p:cNvPr>
          <p:cNvPicPr>
            <a:picLocks noChangeAspect="1"/>
          </p:cNvPicPr>
          <p:nvPr/>
        </p:nvPicPr>
        <p:blipFill>
          <a:blip r:embed="rId2"/>
          <a:stretch>
            <a:fillRect/>
          </a:stretch>
        </p:blipFill>
        <p:spPr>
          <a:xfrm>
            <a:off x="173551" y="1575124"/>
            <a:ext cx="2255835" cy="2591162"/>
          </a:xfrm>
          <a:prstGeom prst="rect">
            <a:avLst/>
          </a:prstGeom>
        </p:spPr>
      </p:pic>
      <p:pic>
        <p:nvPicPr>
          <p:cNvPr id="7" name="Grafik 6">
            <a:extLst>
              <a:ext uri="{FF2B5EF4-FFF2-40B4-BE49-F238E27FC236}">
                <a16:creationId xmlns:a16="http://schemas.microsoft.com/office/drawing/2014/main" id="{E14DB23C-2A97-F368-629B-501822AFEBDB}"/>
              </a:ext>
            </a:extLst>
          </p:cNvPr>
          <p:cNvPicPr>
            <a:picLocks noChangeAspect="1"/>
          </p:cNvPicPr>
          <p:nvPr/>
        </p:nvPicPr>
        <p:blipFill>
          <a:blip r:embed="rId3"/>
          <a:stretch>
            <a:fillRect/>
          </a:stretch>
        </p:blipFill>
        <p:spPr>
          <a:xfrm>
            <a:off x="292374" y="4523603"/>
            <a:ext cx="3277058" cy="2217730"/>
          </a:xfrm>
          <a:prstGeom prst="rect">
            <a:avLst/>
          </a:prstGeom>
        </p:spPr>
      </p:pic>
      <p:pic>
        <p:nvPicPr>
          <p:cNvPr id="9" name="Grafik 8">
            <a:extLst>
              <a:ext uri="{FF2B5EF4-FFF2-40B4-BE49-F238E27FC236}">
                <a16:creationId xmlns:a16="http://schemas.microsoft.com/office/drawing/2014/main" id="{93A33BDA-317D-5DFF-0C4C-7BD222FD5280}"/>
              </a:ext>
            </a:extLst>
          </p:cNvPr>
          <p:cNvPicPr>
            <a:picLocks noChangeAspect="1"/>
          </p:cNvPicPr>
          <p:nvPr/>
        </p:nvPicPr>
        <p:blipFill>
          <a:blip r:embed="rId4"/>
          <a:stretch>
            <a:fillRect/>
          </a:stretch>
        </p:blipFill>
        <p:spPr>
          <a:xfrm>
            <a:off x="4537791" y="2251913"/>
            <a:ext cx="3482826" cy="3177983"/>
          </a:xfrm>
          <a:prstGeom prst="rect">
            <a:avLst/>
          </a:prstGeom>
        </p:spPr>
      </p:pic>
      <p:pic>
        <p:nvPicPr>
          <p:cNvPr id="11" name="Grafik 10">
            <a:extLst>
              <a:ext uri="{FF2B5EF4-FFF2-40B4-BE49-F238E27FC236}">
                <a16:creationId xmlns:a16="http://schemas.microsoft.com/office/drawing/2014/main" id="{8566166C-7F49-2FDE-0D7D-7E05695FD001}"/>
              </a:ext>
            </a:extLst>
          </p:cNvPr>
          <p:cNvPicPr>
            <a:picLocks noChangeAspect="1"/>
          </p:cNvPicPr>
          <p:nvPr/>
        </p:nvPicPr>
        <p:blipFill>
          <a:blip r:embed="rId5"/>
          <a:stretch>
            <a:fillRect/>
          </a:stretch>
        </p:blipFill>
        <p:spPr>
          <a:xfrm>
            <a:off x="8126522" y="1575124"/>
            <a:ext cx="3261815" cy="2568298"/>
          </a:xfrm>
          <a:prstGeom prst="rect">
            <a:avLst/>
          </a:prstGeom>
        </p:spPr>
      </p:pic>
      <p:sp>
        <p:nvSpPr>
          <p:cNvPr id="14" name="Rechteck 13">
            <a:extLst>
              <a:ext uri="{FF2B5EF4-FFF2-40B4-BE49-F238E27FC236}">
                <a16:creationId xmlns:a16="http://schemas.microsoft.com/office/drawing/2014/main" id="{94B8187A-EC8D-1FD6-0FC6-2883A49C9FEB}"/>
              </a:ext>
            </a:extLst>
          </p:cNvPr>
          <p:cNvSpPr/>
          <p:nvPr/>
        </p:nvSpPr>
        <p:spPr>
          <a:xfrm>
            <a:off x="2495633" y="2813179"/>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MONDO</a:t>
            </a:r>
            <a:endParaRPr lang="en-GB" dirty="0">
              <a:solidFill>
                <a:schemeClr val="accent1">
                  <a:lumMod val="50000"/>
                </a:schemeClr>
              </a:solidFill>
            </a:endParaRPr>
          </a:p>
        </p:txBody>
      </p:sp>
      <p:sp>
        <p:nvSpPr>
          <p:cNvPr id="15" name="Rechteck 14">
            <a:extLst>
              <a:ext uri="{FF2B5EF4-FFF2-40B4-BE49-F238E27FC236}">
                <a16:creationId xmlns:a16="http://schemas.microsoft.com/office/drawing/2014/main" id="{346A1E5D-22A8-9906-3E82-8859E8A52764}"/>
              </a:ext>
            </a:extLst>
          </p:cNvPr>
          <p:cNvSpPr/>
          <p:nvPr/>
        </p:nvSpPr>
        <p:spPr>
          <a:xfrm>
            <a:off x="3569432" y="5439421"/>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HPO</a:t>
            </a:r>
            <a:endParaRPr lang="en-GB" dirty="0">
              <a:solidFill>
                <a:schemeClr val="accent1">
                  <a:lumMod val="50000"/>
                </a:schemeClr>
              </a:solidFill>
            </a:endParaRPr>
          </a:p>
        </p:txBody>
      </p:sp>
      <p:sp>
        <p:nvSpPr>
          <p:cNvPr id="16" name="Rechteck 15">
            <a:extLst>
              <a:ext uri="{FF2B5EF4-FFF2-40B4-BE49-F238E27FC236}">
                <a16:creationId xmlns:a16="http://schemas.microsoft.com/office/drawing/2014/main" id="{409DF2A5-A6AA-97AE-4EA5-636FF45B73FE}"/>
              </a:ext>
            </a:extLst>
          </p:cNvPr>
          <p:cNvSpPr/>
          <p:nvPr/>
        </p:nvSpPr>
        <p:spPr>
          <a:xfrm>
            <a:off x="5343525" y="1476065"/>
            <a:ext cx="1504653"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SNOMED CT</a:t>
            </a:r>
            <a:endParaRPr lang="en-GB" dirty="0">
              <a:solidFill>
                <a:schemeClr val="accent1">
                  <a:lumMod val="50000"/>
                </a:schemeClr>
              </a:solidFill>
            </a:endParaRPr>
          </a:p>
        </p:txBody>
      </p:sp>
      <p:sp>
        <p:nvSpPr>
          <p:cNvPr id="17" name="Rechteck 16">
            <a:extLst>
              <a:ext uri="{FF2B5EF4-FFF2-40B4-BE49-F238E27FC236}">
                <a16:creationId xmlns:a16="http://schemas.microsoft.com/office/drawing/2014/main" id="{566F4A1D-CB1E-A961-03DE-A699ABA402C6}"/>
              </a:ext>
            </a:extLst>
          </p:cNvPr>
          <p:cNvSpPr/>
          <p:nvPr/>
        </p:nvSpPr>
        <p:spPr>
          <a:xfrm>
            <a:off x="10448537" y="1448664"/>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NCIT</a:t>
            </a:r>
            <a:endParaRPr lang="en-GB" dirty="0">
              <a:solidFill>
                <a:schemeClr val="accent1">
                  <a:lumMod val="50000"/>
                </a:schemeClr>
              </a:solidFill>
            </a:endParaRPr>
          </a:p>
        </p:txBody>
      </p:sp>
      <p:pic>
        <p:nvPicPr>
          <p:cNvPr id="19" name="Grafik 18">
            <a:extLst>
              <a:ext uri="{FF2B5EF4-FFF2-40B4-BE49-F238E27FC236}">
                <a16:creationId xmlns:a16="http://schemas.microsoft.com/office/drawing/2014/main" id="{AF9BB9CE-DEC5-6D18-475A-03F37F599090}"/>
              </a:ext>
            </a:extLst>
          </p:cNvPr>
          <p:cNvPicPr>
            <a:picLocks noChangeAspect="1"/>
          </p:cNvPicPr>
          <p:nvPr/>
        </p:nvPicPr>
        <p:blipFill>
          <a:blip r:embed="rId6"/>
          <a:stretch>
            <a:fillRect/>
          </a:stretch>
        </p:blipFill>
        <p:spPr>
          <a:xfrm>
            <a:off x="9613307" y="5809423"/>
            <a:ext cx="2286319" cy="876422"/>
          </a:xfrm>
          <a:prstGeom prst="rect">
            <a:avLst/>
          </a:prstGeom>
        </p:spPr>
      </p:pic>
      <p:pic>
        <p:nvPicPr>
          <p:cNvPr id="21" name="Grafik 20">
            <a:extLst>
              <a:ext uri="{FF2B5EF4-FFF2-40B4-BE49-F238E27FC236}">
                <a16:creationId xmlns:a16="http://schemas.microsoft.com/office/drawing/2014/main" id="{98B36424-36C7-92EB-38F5-210148E18EEC}"/>
              </a:ext>
            </a:extLst>
          </p:cNvPr>
          <p:cNvPicPr>
            <a:picLocks noChangeAspect="1"/>
          </p:cNvPicPr>
          <p:nvPr/>
        </p:nvPicPr>
        <p:blipFill>
          <a:blip r:embed="rId7"/>
          <a:stretch>
            <a:fillRect/>
          </a:stretch>
        </p:blipFill>
        <p:spPr>
          <a:xfrm>
            <a:off x="8947762" y="4320078"/>
            <a:ext cx="2408256" cy="1508970"/>
          </a:xfrm>
          <a:prstGeom prst="rect">
            <a:avLst/>
          </a:prstGeom>
        </p:spPr>
      </p:pic>
      <p:sp>
        <p:nvSpPr>
          <p:cNvPr id="22" name="Rechteck 21">
            <a:extLst>
              <a:ext uri="{FF2B5EF4-FFF2-40B4-BE49-F238E27FC236}">
                <a16:creationId xmlns:a16="http://schemas.microsoft.com/office/drawing/2014/main" id="{75DF71FA-2DD3-6C76-DFBC-283B2CF9F73B}"/>
              </a:ext>
            </a:extLst>
          </p:cNvPr>
          <p:cNvSpPr/>
          <p:nvPr/>
        </p:nvSpPr>
        <p:spPr>
          <a:xfrm>
            <a:off x="8340598" y="6120132"/>
            <a:ext cx="107379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i="1" dirty="0">
                <a:solidFill>
                  <a:schemeClr val="accent1">
                    <a:lumMod val="50000"/>
                  </a:schemeClr>
                </a:solidFill>
              </a:rPr>
              <a:t>DO</a:t>
            </a:r>
            <a:endParaRPr lang="en-GB" dirty="0">
              <a:solidFill>
                <a:schemeClr val="accent1">
                  <a:lumMod val="50000"/>
                </a:schemeClr>
              </a:solidFill>
            </a:endParaRPr>
          </a:p>
        </p:txBody>
      </p:sp>
      <p:cxnSp>
        <p:nvCxnSpPr>
          <p:cNvPr id="24" name="Gerade Verbindung mit Pfeil 23">
            <a:extLst>
              <a:ext uri="{FF2B5EF4-FFF2-40B4-BE49-F238E27FC236}">
                <a16:creationId xmlns:a16="http://schemas.microsoft.com/office/drawing/2014/main" id="{D9F6163C-F5B2-6C37-6055-C650CF541DFE}"/>
              </a:ext>
            </a:extLst>
          </p:cNvPr>
          <p:cNvCxnSpPr/>
          <p:nvPr/>
        </p:nvCxnSpPr>
        <p:spPr>
          <a:xfrm>
            <a:off x="1476375" y="1857375"/>
            <a:ext cx="121920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C0A8FC9F-66FD-EEE4-798A-76D8B21F88F2}"/>
              </a:ext>
            </a:extLst>
          </p:cNvPr>
          <p:cNvSpPr txBox="1"/>
          <p:nvPr/>
        </p:nvSpPr>
        <p:spPr>
          <a:xfrm>
            <a:off x="2695575" y="1720334"/>
            <a:ext cx="1034257" cy="261610"/>
          </a:xfrm>
          <a:prstGeom prst="rect">
            <a:avLst/>
          </a:prstGeom>
          <a:noFill/>
        </p:spPr>
        <p:txBody>
          <a:bodyPr wrap="none" rtlCol="0">
            <a:spAutoFit/>
          </a:bodyPr>
          <a:lstStyle/>
          <a:p>
            <a:r>
              <a:rPr lang="en-GB" sz="1100" dirty="0" err="1">
                <a:solidFill>
                  <a:srgbClr val="C00000"/>
                </a:solidFill>
              </a:rPr>
              <a:t>bfo:disposition</a:t>
            </a:r>
            <a:endParaRPr lang="en-GB" sz="1100" dirty="0">
              <a:solidFill>
                <a:srgbClr val="C00000"/>
              </a:solidFill>
            </a:endParaRPr>
          </a:p>
        </p:txBody>
      </p:sp>
      <p:cxnSp>
        <p:nvCxnSpPr>
          <p:cNvPr id="26" name="Gerade Verbindung mit Pfeil 25">
            <a:extLst>
              <a:ext uri="{FF2B5EF4-FFF2-40B4-BE49-F238E27FC236}">
                <a16:creationId xmlns:a16="http://schemas.microsoft.com/office/drawing/2014/main" id="{015F8D06-6AE5-7C9B-D134-57099D638AD0}"/>
              </a:ext>
            </a:extLst>
          </p:cNvPr>
          <p:cNvCxnSpPr/>
          <p:nvPr/>
        </p:nvCxnSpPr>
        <p:spPr>
          <a:xfrm>
            <a:off x="1943751" y="4827231"/>
            <a:ext cx="121920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2D14B564-AF73-4C73-549C-A1CFE17EF011}"/>
              </a:ext>
            </a:extLst>
          </p:cNvPr>
          <p:cNvSpPr txBox="1"/>
          <p:nvPr/>
        </p:nvSpPr>
        <p:spPr>
          <a:xfrm>
            <a:off x="3162951" y="4690190"/>
            <a:ext cx="803425" cy="261610"/>
          </a:xfrm>
          <a:prstGeom prst="rect">
            <a:avLst/>
          </a:prstGeom>
          <a:noFill/>
        </p:spPr>
        <p:txBody>
          <a:bodyPr wrap="none" rtlCol="0">
            <a:spAutoFit/>
          </a:bodyPr>
          <a:lstStyle/>
          <a:p>
            <a:r>
              <a:rPr lang="en-GB" sz="1100" dirty="0" err="1">
                <a:solidFill>
                  <a:srgbClr val="C00000"/>
                </a:solidFill>
              </a:rPr>
              <a:t>bfo:quality</a:t>
            </a:r>
            <a:endParaRPr lang="en-GB" sz="1100" dirty="0">
              <a:solidFill>
                <a:srgbClr val="C00000"/>
              </a:solidFill>
            </a:endParaRPr>
          </a:p>
        </p:txBody>
      </p:sp>
      <p:cxnSp>
        <p:nvCxnSpPr>
          <p:cNvPr id="28" name="Gerade Verbindung mit Pfeil 27">
            <a:extLst>
              <a:ext uri="{FF2B5EF4-FFF2-40B4-BE49-F238E27FC236}">
                <a16:creationId xmlns:a16="http://schemas.microsoft.com/office/drawing/2014/main" id="{833349EF-439A-B3C6-1260-391821113F35}"/>
              </a:ext>
            </a:extLst>
          </p:cNvPr>
          <p:cNvCxnSpPr/>
          <p:nvPr/>
        </p:nvCxnSpPr>
        <p:spPr>
          <a:xfrm>
            <a:off x="5997992" y="2318461"/>
            <a:ext cx="121920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27AC3D2-2D51-A55C-2707-5D0D31FF0896}"/>
              </a:ext>
            </a:extLst>
          </p:cNvPr>
          <p:cNvSpPr txBox="1"/>
          <p:nvPr/>
        </p:nvSpPr>
        <p:spPr>
          <a:xfrm>
            <a:off x="7217192" y="2181420"/>
            <a:ext cx="849913" cy="261610"/>
          </a:xfrm>
          <a:prstGeom prst="rect">
            <a:avLst/>
          </a:prstGeom>
          <a:noFill/>
        </p:spPr>
        <p:txBody>
          <a:bodyPr wrap="none" rtlCol="0">
            <a:spAutoFit/>
          </a:bodyPr>
          <a:lstStyle/>
          <a:p>
            <a:r>
              <a:rPr lang="en-GB" sz="1100" dirty="0" err="1">
                <a:solidFill>
                  <a:srgbClr val="C00000"/>
                </a:solidFill>
              </a:rPr>
              <a:t>bfo:process</a:t>
            </a:r>
            <a:endParaRPr lang="en-GB" sz="1100" dirty="0">
              <a:solidFill>
                <a:srgbClr val="C00000"/>
              </a:solidFill>
            </a:endParaRPr>
          </a:p>
        </p:txBody>
      </p:sp>
      <p:sp>
        <p:nvSpPr>
          <p:cNvPr id="30" name="Textfeld 29">
            <a:extLst>
              <a:ext uri="{FF2B5EF4-FFF2-40B4-BE49-F238E27FC236}">
                <a16:creationId xmlns:a16="http://schemas.microsoft.com/office/drawing/2014/main" id="{1BA857DB-C18E-1743-AE31-05E8B55E9483}"/>
              </a:ext>
            </a:extLst>
          </p:cNvPr>
          <p:cNvSpPr txBox="1"/>
          <p:nvPr/>
        </p:nvSpPr>
        <p:spPr>
          <a:xfrm>
            <a:off x="10593565" y="5601225"/>
            <a:ext cx="1034257" cy="261610"/>
          </a:xfrm>
          <a:prstGeom prst="rect">
            <a:avLst/>
          </a:prstGeom>
          <a:noFill/>
        </p:spPr>
        <p:txBody>
          <a:bodyPr wrap="none" rtlCol="0">
            <a:spAutoFit/>
          </a:bodyPr>
          <a:lstStyle/>
          <a:p>
            <a:r>
              <a:rPr lang="en-GB" sz="1100" dirty="0" err="1">
                <a:solidFill>
                  <a:srgbClr val="C00000"/>
                </a:solidFill>
              </a:rPr>
              <a:t>bfo:disposition</a:t>
            </a:r>
            <a:endParaRPr lang="en-GB" sz="1100" dirty="0">
              <a:solidFill>
                <a:srgbClr val="C00000"/>
              </a:solidFill>
            </a:endParaRPr>
          </a:p>
        </p:txBody>
      </p:sp>
      <p:cxnSp>
        <p:nvCxnSpPr>
          <p:cNvPr id="31" name="Gerade Verbindung mit Pfeil 30">
            <a:extLst>
              <a:ext uri="{FF2B5EF4-FFF2-40B4-BE49-F238E27FC236}">
                <a16:creationId xmlns:a16="http://schemas.microsoft.com/office/drawing/2014/main" id="{DD5EFEB4-58AE-1B06-3E42-F8DFBFA91AF1}"/>
              </a:ext>
            </a:extLst>
          </p:cNvPr>
          <p:cNvCxnSpPr>
            <a:cxnSpLocks/>
          </p:cNvCxnSpPr>
          <p:nvPr/>
        </p:nvCxnSpPr>
        <p:spPr>
          <a:xfrm>
            <a:off x="10267950" y="5738042"/>
            <a:ext cx="370409"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Gerade Verbindung mit Pfeil 2">
            <a:extLst>
              <a:ext uri="{FF2B5EF4-FFF2-40B4-BE49-F238E27FC236}">
                <a16:creationId xmlns:a16="http://schemas.microsoft.com/office/drawing/2014/main" id="{03E4C943-749A-4C76-161A-3CDE2A0DCD54}"/>
              </a:ext>
            </a:extLst>
          </p:cNvPr>
          <p:cNvCxnSpPr/>
          <p:nvPr/>
        </p:nvCxnSpPr>
        <p:spPr>
          <a:xfrm>
            <a:off x="1925691" y="2188820"/>
            <a:ext cx="121920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feld 3">
            <a:extLst>
              <a:ext uri="{FF2B5EF4-FFF2-40B4-BE49-F238E27FC236}">
                <a16:creationId xmlns:a16="http://schemas.microsoft.com/office/drawing/2014/main" id="{5F92B714-28D4-F267-D98C-052C3687F913}"/>
              </a:ext>
            </a:extLst>
          </p:cNvPr>
          <p:cNvSpPr txBox="1"/>
          <p:nvPr/>
        </p:nvSpPr>
        <p:spPr>
          <a:xfrm>
            <a:off x="3144891" y="2051779"/>
            <a:ext cx="771365" cy="261610"/>
          </a:xfrm>
          <a:prstGeom prst="rect">
            <a:avLst/>
          </a:prstGeom>
          <a:noFill/>
        </p:spPr>
        <p:txBody>
          <a:bodyPr wrap="none" rtlCol="0">
            <a:spAutoFit/>
          </a:bodyPr>
          <a:lstStyle/>
          <a:p>
            <a:r>
              <a:rPr lang="en-GB" sz="1100" dirty="0" err="1">
                <a:solidFill>
                  <a:srgbClr val="C00000"/>
                </a:solidFill>
              </a:rPr>
              <a:t>bfo:object</a:t>
            </a:r>
            <a:endParaRPr lang="en-GB" sz="1100" dirty="0">
              <a:solidFill>
                <a:srgbClr val="C00000"/>
              </a:solidFill>
            </a:endParaRPr>
          </a:p>
        </p:txBody>
      </p:sp>
      <p:cxnSp>
        <p:nvCxnSpPr>
          <p:cNvPr id="6" name="Gerade Verbindung mit Pfeil 5">
            <a:extLst>
              <a:ext uri="{FF2B5EF4-FFF2-40B4-BE49-F238E27FC236}">
                <a16:creationId xmlns:a16="http://schemas.microsoft.com/office/drawing/2014/main" id="{0BB681A6-0B51-99C1-884F-58F764B47694}"/>
              </a:ext>
            </a:extLst>
          </p:cNvPr>
          <p:cNvCxnSpPr/>
          <p:nvPr/>
        </p:nvCxnSpPr>
        <p:spPr>
          <a:xfrm>
            <a:off x="10275042" y="2170996"/>
            <a:ext cx="121920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06B7EF7E-C3F2-894F-9498-D48DEDEC6C3A}"/>
              </a:ext>
            </a:extLst>
          </p:cNvPr>
          <p:cNvSpPr txBox="1"/>
          <p:nvPr/>
        </p:nvSpPr>
        <p:spPr>
          <a:xfrm>
            <a:off x="11494242" y="2033955"/>
            <a:ext cx="771365" cy="261610"/>
          </a:xfrm>
          <a:prstGeom prst="rect">
            <a:avLst/>
          </a:prstGeom>
          <a:noFill/>
        </p:spPr>
        <p:txBody>
          <a:bodyPr wrap="none" rtlCol="0">
            <a:spAutoFit/>
          </a:bodyPr>
          <a:lstStyle/>
          <a:p>
            <a:r>
              <a:rPr lang="en-GB" sz="1100" dirty="0" err="1">
                <a:solidFill>
                  <a:srgbClr val="C00000"/>
                </a:solidFill>
              </a:rPr>
              <a:t>bfo:object</a:t>
            </a:r>
            <a:endParaRPr lang="en-GB" sz="1100" dirty="0">
              <a:solidFill>
                <a:srgbClr val="C00000"/>
              </a:solidFill>
            </a:endParaRPr>
          </a:p>
        </p:txBody>
      </p:sp>
    </p:spTree>
    <p:extLst>
      <p:ext uri="{BB962C8B-B14F-4D97-AF65-F5344CB8AC3E}">
        <p14:creationId xmlns:p14="http://schemas.microsoft.com/office/powerpoint/2010/main" val="639673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553FF4-D827-4D3D-A287-404EDFF32C33}"/>
              </a:ext>
            </a:extLst>
          </p:cNvPr>
          <p:cNvSpPr>
            <a:spLocks noGrp="1"/>
          </p:cNvSpPr>
          <p:nvPr>
            <p:ph type="title"/>
          </p:nvPr>
        </p:nvSpPr>
        <p:spPr>
          <a:xfrm>
            <a:off x="-6595" y="14325"/>
            <a:ext cx="12192000" cy="1325563"/>
          </a:xfrm>
        </p:spPr>
        <p:txBody>
          <a:bodyPr/>
          <a:lstStyle/>
          <a:p>
            <a:r>
              <a:rPr lang="en-GB" dirty="0"/>
              <a:t>Design pattern for diseases</a:t>
            </a:r>
          </a:p>
        </p:txBody>
      </p:sp>
      <p:sp>
        <p:nvSpPr>
          <p:cNvPr id="3" name="Inhaltsplatzhalter 2">
            <a:extLst>
              <a:ext uri="{FF2B5EF4-FFF2-40B4-BE49-F238E27FC236}">
                <a16:creationId xmlns:a16="http://schemas.microsoft.com/office/drawing/2014/main" id="{7210DDF2-8213-AB59-3597-A23B93BF7CF0}"/>
              </a:ext>
            </a:extLst>
          </p:cNvPr>
          <p:cNvSpPr>
            <a:spLocks noGrp="1"/>
          </p:cNvSpPr>
          <p:nvPr>
            <p:ph idx="1"/>
          </p:nvPr>
        </p:nvSpPr>
        <p:spPr>
          <a:xfrm>
            <a:off x="328473" y="1660124"/>
            <a:ext cx="11757510" cy="4669655"/>
          </a:xfrm>
        </p:spPr>
        <p:txBody>
          <a:bodyPr>
            <a:normAutofit/>
          </a:bodyPr>
          <a:lstStyle/>
          <a:p>
            <a:pPr marL="0" indent="0">
              <a:lnSpc>
                <a:spcPct val="100000"/>
              </a:lnSpc>
              <a:spcBef>
                <a:spcPts val="300"/>
              </a:spcBef>
              <a:spcAft>
                <a:spcPts val="300"/>
              </a:spcAft>
              <a:buNone/>
            </a:pPr>
            <a:r>
              <a:rPr lang="en-GB" sz="1800" i="1" dirty="0" err="1"/>
              <a:t>Appendicitis_Structure</a:t>
            </a:r>
            <a:r>
              <a:rPr lang="en-GB" sz="1800" i="1" dirty="0"/>
              <a:t> </a:t>
            </a:r>
            <a:r>
              <a:rPr lang="en-GB" sz="1800" dirty="0" err="1">
                <a:solidFill>
                  <a:schemeClr val="accent1">
                    <a:lumMod val="50000"/>
                  </a:schemeClr>
                </a:solidFill>
              </a:rPr>
              <a:t>equivalentTo</a:t>
            </a:r>
            <a:r>
              <a:rPr lang="en-GB" sz="1800" dirty="0"/>
              <a:t> </a:t>
            </a:r>
            <a:r>
              <a:rPr lang="en-GB" sz="1800" i="1" dirty="0"/>
              <a:t>Object </a:t>
            </a:r>
            <a:r>
              <a:rPr lang="en-GB" sz="1800" dirty="0">
                <a:solidFill>
                  <a:schemeClr val="accent5"/>
                </a:solidFill>
              </a:rPr>
              <a:t>and</a:t>
            </a:r>
            <a:r>
              <a:rPr lang="en-GB" sz="1800" i="1" dirty="0"/>
              <a:t> </a:t>
            </a:r>
            <a:r>
              <a:rPr lang="en-GB" sz="1800" b="1" dirty="0" err="1"/>
              <a:t>bearerOf</a:t>
            </a:r>
            <a:r>
              <a:rPr lang="en-GB" sz="1800" i="1" dirty="0"/>
              <a:t> </a:t>
            </a:r>
            <a:r>
              <a:rPr lang="en-GB" sz="1800" dirty="0">
                <a:solidFill>
                  <a:srgbClr val="7030A0"/>
                </a:solidFill>
              </a:rPr>
              <a:t>some</a:t>
            </a:r>
            <a:r>
              <a:rPr lang="en-GB" sz="1800" i="1" dirty="0">
                <a:solidFill>
                  <a:srgbClr val="7030A0"/>
                </a:solidFill>
              </a:rPr>
              <a:t> </a:t>
            </a:r>
            <a:r>
              <a:rPr lang="en-GB" sz="1800" i="1" dirty="0" err="1"/>
              <a:t>Inflammatory_Morphology</a:t>
            </a:r>
            <a:endParaRPr lang="en-GB" sz="1800" i="1" dirty="0"/>
          </a:p>
          <a:p>
            <a:pPr marL="0" indent="0">
              <a:lnSpc>
                <a:spcPct val="100000"/>
              </a:lnSpc>
              <a:spcBef>
                <a:spcPts val="300"/>
              </a:spcBef>
              <a:spcAft>
                <a:spcPts val="300"/>
              </a:spcAft>
              <a:buNone/>
            </a:pPr>
            <a:r>
              <a:rPr lang="en-GB" sz="1800" i="1" dirty="0" err="1"/>
              <a:t>Appendicitis_Quality</a:t>
            </a:r>
            <a:r>
              <a:rPr lang="en-GB" sz="1800" i="1" dirty="0"/>
              <a:t> </a:t>
            </a:r>
            <a:r>
              <a:rPr lang="en-GB" sz="1800" dirty="0" err="1">
                <a:solidFill>
                  <a:schemeClr val="accent1">
                    <a:lumMod val="50000"/>
                  </a:schemeClr>
                </a:solidFill>
              </a:rPr>
              <a:t>equivalentTo</a:t>
            </a:r>
            <a:r>
              <a:rPr lang="en-GB" sz="1800" dirty="0"/>
              <a:t> </a:t>
            </a:r>
            <a:r>
              <a:rPr lang="en-GB" sz="1800" i="1" dirty="0"/>
              <a:t>Quality </a:t>
            </a:r>
            <a:r>
              <a:rPr lang="en-GB" sz="1800" dirty="0">
                <a:solidFill>
                  <a:schemeClr val="accent5"/>
                </a:solidFill>
              </a:rPr>
              <a:t>and</a:t>
            </a:r>
            <a:r>
              <a:rPr lang="en-GB" sz="1800" i="1" dirty="0"/>
              <a:t> </a:t>
            </a:r>
            <a:r>
              <a:rPr lang="en-GB" sz="1800" b="1" dirty="0" err="1"/>
              <a:t>inheresIn</a:t>
            </a:r>
            <a:r>
              <a:rPr lang="en-GB" sz="1800" i="1" dirty="0"/>
              <a:t> </a:t>
            </a:r>
            <a:r>
              <a:rPr lang="en-GB" sz="1800" dirty="0">
                <a:solidFill>
                  <a:srgbClr val="7030A0"/>
                </a:solidFill>
              </a:rPr>
              <a:t>some</a:t>
            </a:r>
            <a:r>
              <a:rPr lang="en-GB" sz="1800" i="1" dirty="0">
                <a:solidFill>
                  <a:srgbClr val="7030A0"/>
                </a:solidFill>
              </a:rPr>
              <a:t> </a:t>
            </a:r>
            <a:r>
              <a:rPr lang="en-GB" sz="1800" i="1" dirty="0"/>
              <a:t>(</a:t>
            </a:r>
            <a:r>
              <a:rPr lang="en-GB" sz="1800" i="1" dirty="0" err="1"/>
              <a:t>Appendix_Structure</a:t>
            </a:r>
            <a:r>
              <a:rPr lang="en-GB" sz="1800" i="1" dirty="0"/>
              <a:t> </a:t>
            </a:r>
            <a:r>
              <a:rPr lang="en-GB" sz="1800" dirty="0">
                <a:solidFill>
                  <a:schemeClr val="accent5"/>
                </a:solidFill>
              </a:rPr>
              <a:t>and</a:t>
            </a:r>
            <a:r>
              <a:rPr lang="en-GB" sz="1800" i="1" dirty="0"/>
              <a:t> (</a:t>
            </a:r>
            <a:r>
              <a:rPr lang="en-GB" sz="1800" b="1" dirty="0" err="1"/>
              <a:t>participatesIn</a:t>
            </a:r>
            <a:r>
              <a:rPr lang="en-GB" sz="1800" b="1" i="1" dirty="0"/>
              <a:t> </a:t>
            </a:r>
            <a:r>
              <a:rPr lang="en-GB" sz="1800" dirty="0">
                <a:solidFill>
                  <a:srgbClr val="7030A0"/>
                </a:solidFill>
              </a:rPr>
              <a:t>some</a:t>
            </a:r>
            <a:r>
              <a:rPr lang="en-GB" sz="1800" i="1" dirty="0">
                <a:solidFill>
                  <a:srgbClr val="7030A0"/>
                </a:solidFill>
              </a:rPr>
              <a:t> </a:t>
            </a:r>
            <a:r>
              <a:rPr lang="en-GB" sz="1800" i="1" dirty="0" err="1"/>
              <a:t>Appendicitis_Process</a:t>
            </a:r>
            <a:r>
              <a:rPr lang="en-GB" sz="1800" i="1" dirty="0"/>
              <a:t>))</a:t>
            </a:r>
          </a:p>
          <a:p>
            <a:pPr marL="0" indent="0">
              <a:lnSpc>
                <a:spcPct val="100000"/>
              </a:lnSpc>
              <a:spcBef>
                <a:spcPts val="300"/>
              </a:spcBef>
              <a:spcAft>
                <a:spcPts val="300"/>
              </a:spcAft>
              <a:buNone/>
            </a:pPr>
            <a:r>
              <a:rPr lang="en-GB" sz="1800" i="1" dirty="0" err="1"/>
              <a:t>Appendicitis_Process</a:t>
            </a:r>
            <a:r>
              <a:rPr lang="en-GB" sz="1800" i="1" dirty="0"/>
              <a:t> </a:t>
            </a:r>
            <a:r>
              <a:rPr lang="en-GB" sz="1800" dirty="0" err="1">
                <a:solidFill>
                  <a:schemeClr val="accent1">
                    <a:lumMod val="50000"/>
                  </a:schemeClr>
                </a:solidFill>
              </a:rPr>
              <a:t>equivalentTo</a:t>
            </a:r>
            <a:r>
              <a:rPr lang="en-GB" sz="1800" dirty="0"/>
              <a:t> </a:t>
            </a:r>
            <a:r>
              <a:rPr lang="en-GB" sz="1800" i="1" dirty="0" err="1"/>
              <a:t>Inflammatory_Process</a:t>
            </a:r>
            <a:r>
              <a:rPr lang="en-GB" sz="1800" i="1" dirty="0"/>
              <a:t> </a:t>
            </a:r>
            <a:r>
              <a:rPr lang="en-GB" sz="1800" dirty="0">
                <a:solidFill>
                  <a:schemeClr val="accent5"/>
                </a:solidFill>
              </a:rPr>
              <a:t>and</a:t>
            </a:r>
            <a:r>
              <a:rPr lang="en-GB" sz="1800" i="1" dirty="0"/>
              <a:t> </a:t>
            </a:r>
            <a:r>
              <a:rPr lang="en-GB" sz="1800" b="1" dirty="0" err="1"/>
              <a:t>hasParticipant</a:t>
            </a:r>
            <a:r>
              <a:rPr lang="en-GB" sz="1800" b="1" i="1" dirty="0"/>
              <a:t> </a:t>
            </a:r>
            <a:r>
              <a:rPr lang="en-GB" sz="1800" dirty="0">
                <a:solidFill>
                  <a:srgbClr val="7030A0"/>
                </a:solidFill>
              </a:rPr>
              <a:t>some</a:t>
            </a:r>
            <a:r>
              <a:rPr lang="en-GB" sz="1800" i="1" dirty="0">
                <a:solidFill>
                  <a:srgbClr val="7030A0"/>
                </a:solidFill>
              </a:rPr>
              <a:t> </a:t>
            </a:r>
            <a:r>
              <a:rPr lang="en-GB" sz="1800" i="1" dirty="0" err="1"/>
              <a:t>Appendicitis_Structure</a:t>
            </a:r>
            <a:endParaRPr lang="en-GB" sz="1800" dirty="0"/>
          </a:p>
          <a:p>
            <a:pPr marL="0" indent="0">
              <a:lnSpc>
                <a:spcPct val="100000"/>
              </a:lnSpc>
              <a:spcBef>
                <a:spcPts val="300"/>
              </a:spcBef>
              <a:spcAft>
                <a:spcPts val="300"/>
              </a:spcAft>
              <a:buNone/>
            </a:pPr>
            <a:r>
              <a:rPr lang="en-GB" sz="1800" i="1" dirty="0" err="1"/>
              <a:t>Having_Appendicitis</a:t>
            </a:r>
            <a:r>
              <a:rPr lang="en-GB" sz="1800" dirty="0"/>
              <a:t> </a:t>
            </a:r>
            <a:r>
              <a:rPr lang="en-GB" sz="1800" dirty="0" err="1">
                <a:solidFill>
                  <a:schemeClr val="accent1">
                    <a:lumMod val="50000"/>
                  </a:schemeClr>
                </a:solidFill>
              </a:rPr>
              <a:t>equivalentTo</a:t>
            </a:r>
            <a:r>
              <a:rPr lang="en-GB" sz="1800" dirty="0"/>
              <a:t> </a:t>
            </a:r>
            <a:r>
              <a:rPr lang="en-GB" sz="1800" i="1" dirty="0" err="1"/>
              <a:t>Having_Condition</a:t>
            </a:r>
            <a:r>
              <a:rPr lang="en-GB" sz="1800" i="1" dirty="0"/>
              <a:t> </a:t>
            </a:r>
            <a:r>
              <a:rPr lang="en-GB" sz="1800" dirty="0">
                <a:solidFill>
                  <a:schemeClr val="accent5"/>
                </a:solidFill>
              </a:rPr>
              <a:t>and</a:t>
            </a:r>
            <a:r>
              <a:rPr lang="en-GB" sz="1800" dirty="0"/>
              <a:t> </a:t>
            </a:r>
            <a:r>
              <a:rPr lang="en-GB" sz="1800" b="1" dirty="0" err="1"/>
              <a:t>hasPart</a:t>
            </a:r>
            <a:r>
              <a:rPr lang="en-GB" sz="1800" b="1" dirty="0"/>
              <a:t> </a:t>
            </a:r>
            <a:r>
              <a:rPr lang="en-GB" sz="1800" dirty="0">
                <a:solidFill>
                  <a:srgbClr val="7030A0"/>
                </a:solidFill>
              </a:rPr>
              <a:t>some </a:t>
            </a:r>
            <a:r>
              <a:rPr lang="en-GB" sz="1800" i="1" dirty="0" err="1"/>
              <a:t>Appendicitis_Process</a:t>
            </a:r>
            <a:endParaRPr lang="en-GB" sz="1800" i="1" dirty="0"/>
          </a:p>
          <a:p>
            <a:pPr marL="0" indent="0">
              <a:lnSpc>
                <a:spcPct val="100000"/>
              </a:lnSpc>
              <a:spcBef>
                <a:spcPts val="300"/>
              </a:spcBef>
              <a:spcAft>
                <a:spcPts val="300"/>
              </a:spcAft>
              <a:buNone/>
            </a:pPr>
            <a:r>
              <a:rPr lang="en-GB" sz="1800" i="1" dirty="0" err="1"/>
              <a:t>Appendicitis</a:t>
            </a:r>
            <a:r>
              <a:rPr lang="en-GB" sz="1800" dirty="0" err="1"/>
              <a:t>_</a:t>
            </a:r>
            <a:r>
              <a:rPr lang="en-GB" sz="1800" i="1" dirty="0" err="1"/>
              <a:t>Diagnosis</a:t>
            </a:r>
            <a:r>
              <a:rPr lang="en-GB" sz="1800" i="1" dirty="0"/>
              <a:t> </a:t>
            </a:r>
            <a:r>
              <a:rPr lang="en-GB" sz="1800" dirty="0" err="1">
                <a:solidFill>
                  <a:schemeClr val="accent1">
                    <a:lumMod val="50000"/>
                  </a:schemeClr>
                </a:solidFill>
              </a:rPr>
              <a:t>equivalentTo</a:t>
            </a:r>
            <a:r>
              <a:rPr lang="en-GB" sz="1800" dirty="0">
                <a:solidFill>
                  <a:schemeClr val="accent1">
                    <a:lumMod val="50000"/>
                  </a:schemeClr>
                </a:solidFill>
              </a:rPr>
              <a:t> </a:t>
            </a:r>
            <a:r>
              <a:rPr lang="en-GB" sz="1800" i="1" dirty="0"/>
              <a:t>Diagnosis </a:t>
            </a:r>
            <a:r>
              <a:rPr lang="en-GB" sz="1800" dirty="0">
                <a:solidFill>
                  <a:schemeClr val="accent5"/>
                </a:solidFill>
              </a:rPr>
              <a:t>and</a:t>
            </a:r>
            <a:r>
              <a:rPr lang="en-GB" sz="1800" i="1" dirty="0"/>
              <a:t> </a:t>
            </a:r>
            <a:r>
              <a:rPr lang="en-GB" sz="1800" b="1" dirty="0" err="1"/>
              <a:t>isAbout</a:t>
            </a:r>
            <a:r>
              <a:rPr lang="en-GB" sz="1800" i="1" dirty="0"/>
              <a:t> </a:t>
            </a:r>
            <a:r>
              <a:rPr lang="en-GB" sz="1800" dirty="0">
                <a:solidFill>
                  <a:srgbClr val="7030A0"/>
                </a:solidFill>
              </a:rPr>
              <a:t>some</a:t>
            </a:r>
            <a:r>
              <a:rPr lang="en-GB" sz="1800" i="1" dirty="0"/>
              <a:t> (</a:t>
            </a:r>
            <a:r>
              <a:rPr lang="en-GB" sz="1800" b="1" dirty="0" err="1"/>
              <a:t>hasGranularPart</a:t>
            </a:r>
            <a:r>
              <a:rPr lang="en-GB" sz="1800" b="1" dirty="0"/>
              <a:t> </a:t>
            </a:r>
            <a:r>
              <a:rPr lang="en-GB" sz="1800" dirty="0">
                <a:solidFill>
                  <a:srgbClr val="7030A0"/>
                </a:solidFill>
              </a:rPr>
              <a:t>some</a:t>
            </a:r>
            <a:r>
              <a:rPr lang="en-GB" sz="1800" i="1" dirty="0"/>
              <a:t> </a:t>
            </a:r>
            <a:r>
              <a:rPr lang="en-GB" sz="1800" i="1" dirty="0" err="1"/>
              <a:t>Having_Appendicitis</a:t>
            </a:r>
            <a:r>
              <a:rPr lang="en-GB" sz="1800" i="1" dirty="0"/>
              <a:t>) </a:t>
            </a:r>
            <a:endParaRPr lang="en-GB" dirty="0"/>
          </a:p>
        </p:txBody>
      </p:sp>
      <p:sp>
        <p:nvSpPr>
          <p:cNvPr id="4" name="Rechteck 3">
            <a:extLst>
              <a:ext uri="{FF2B5EF4-FFF2-40B4-BE49-F238E27FC236}">
                <a16:creationId xmlns:a16="http://schemas.microsoft.com/office/drawing/2014/main" id="{1B82E4F9-6953-4808-45A5-719377E8E054}"/>
              </a:ext>
            </a:extLst>
          </p:cNvPr>
          <p:cNvSpPr/>
          <p:nvPr/>
        </p:nvSpPr>
        <p:spPr>
          <a:xfrm>
            <a:off x="1492817" y="5008912"/>
            <a:ext cx="2514118"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b="1" i="1" dirty="0" err="1">
                <a:solidFill>
                  <a:schemeClr val="tx1"/>
                </a:solidFill>
              </a:rPr>
              <a:t>Having_Appendizitis</a:t>
            </a:r>
            <a:endParaRPr lang="en-GB" b="1" dirty="0">
              <a:solidFill>
                <a:schemeClr val="tx1"/>
              </a:solidFill>
            </a:endParaRPr>
          </a:p>
        </p:txBody>
      </p:sp>
      <p:sp>
        <p:nvSpPr>
          <p:cNvPr id="5" name="Rechteck 4">
            <a:extLst>
              <a:ext uri="{FF2B5EF4-FFF2-40B4-BE49-F238E27FC236}">
                <a16:creationId xmlns:a16="http://schemas.microsoft.com/office/drawing/2014/main" id="{9D667586-76F0-2BD6-AEFB-83752BEFEC93}"/>
              </a:ext>
            </a:extLst>
          </p:cNvPr>
          <p:cNvSpPr/>
          <p:nvPr/>
        </p:nvSpPr>
        <p:spPr>
          <a:xfrm>
            <a:off x="4935939" y="3965332"/>
            <a:ext cx="233571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b="1" i="1" dirty="0" err="1">
                <a:solidFill>
                  <a:schemeClr val="tx1"/>
                </a:solidFill>
              </a:rPr>
              <a:t>Appendicitis_Quality</a:t>
            </a:r>
            <a:endParaRPr lang="en-GB" b="1" dirty="0">
              <a:solidFill>
                <a:schemeClr val="tx1"/>
              </a:solidFill>
            </a:endParaRPr>
          </a:p>
        </p:txBody>
      </p:sp>
      <p:sp>
        <p:nvSpPr>
          <p:cNvPr id="6" name="Rechteck 5">
            <a:extLst>
              <a:ext uri="{FF2B5EF4-FFF2-40B4-BE49-F238E27FC236}">
                <a16:creationId xmlns:a16="http://schemas.microsoft.com/office/drawing/2014/main" id="{B993012B-9200-7B59-EED7-75143394751F}"/>
              </a:ext>
            </a:extLst>
          </p:cNvPr>
          <p:cNvSpPr/>
          <p:nvPr/>
        </p:nvSpPr>
        <p:spPr>
          <a:xfrm>
            <a:off x="4879955" y="5992250"/>
            <a:ext cx="233571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b="1" i="1" dirty="0" err="1">
                <a:solidFill>
                  <a:schemeClr val="tx1"/>
                </a:solidFill>
              </a:rPr>
              <a:t>Appendicitis_Structure</a:t>
            </a:r>
            <a:endParaRPr lang="en-GB" b="1" dirty="0">
              <a:solidFill>
                <a:schemeClr val="tx1"/>
              </a:solidFill>
            </a:endParaRPr>
          </a:p>
        </p:txBody>
      </p:sp>
      <p:sp>
        <p:nvSpPr>
          <p:cNvPr id="7" name="Rechteck 6">
            <a:extLst>
              <a:ext uri="{FF2B5EF4-FFF2-40B4-BE49-F238E27FC236}">
                <a16:creationId xmlns:a16="http://schemas.microsoft.com/office/drawing/2014/main" id="{1B27B5BF-351F-66C0-63B3-0145EAE21EEF}"/>
              </a:ext>
            </a:extLst>
          </p:cNvPr>
          <p:cNvSpPr/>
          <p:nvPr/>
        </p:nvSpPr>
        <p:spPr>
          <a:xfrm>
            <a:off x="8259257" y="5008911"/>
            <a:ext cx="2335719" cy="61582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0" rtlCol="0" anchor="ctr"/>
          <a:lstStyle/>
          <a:p>
            <a:pPr algn="ctr"/>
            <a:r>
              <a:rPr lang="en-GB" b="1" i="1" dirty="0" err="1">
                <a:solidFill>
                  <a:schemeClr val="tx1"/>
                </a:solidFill>
              </a:rPr>
              <a:t>Appendicitis_Process</a:t>
            </a:r>
            <a:endParaRPr lang="en-GB" b="1" dirty="0">
              <a:solidFill>
                <a:schemeClr val="tx1"/>
              </a:solidFill>
            </a:endParaRPr>
          </a:p>
        </p:txBody>
      </p:sp>
      <p:cxnSp>
        <p:nvCxnSpPr>
          <p:cNvPr id="9" name="Verbinder: gekrümmt 8">
            <a:extLst>
              <a:ext uri="{FF2B5EF4-FFF2-40B4-BE49-F238E27FC236}">
                <a16:creationId xmlns:a16="http://schemas.microsoft.com/office/drawing/2014/main" id="{87ACFFCA-FBFC-523D-0809-D66D272BD4F4}"/>
              </a:ext>
            </a:extLst>
          </p:cNvPr>
          <p:cNvCxnSpPr>
            <a:cxnSpLocks/>
            <a:stCxn id="4" idx="0"/>
            <a:endCxn id="5" idx="1"/>
          </p:cNvCxnSpPr>
          <p:nvPr/>
        </p:nvCxnSpPr>
        <p:spPr>
          <a:xfrm rot="5400000" flipH="1" flipV="1">
            <a:off x="3475073" y="3548047"/>
            <a:ext cx="735669" cy="2186063"/>
          </a:xfrm>
          <a:prstGeom prst="curvedConnector2">
            <a:avLst/>
          </a:prstGeom>
          <a:ln w="762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Verbinder: gekrümmt 10">
            <a:extLst>
              <a:ext uri="{FF2B5EF4-FFF2-40B4-BE49-F238E27FC236}">
                <a16:creationId xmlns:a16="http://schemas.microsoft.com/office/drawing/2014/main" id="{33709D25-8E0A-9B9D-E066-4C1CBF9A21E2}"/>
              </a:ext>
            </a:extLst>
          </p:cNvPr>
          <p:cNvCxnSpPr>
            <a:cxnSpLocks/>
            <a:stCxn id="5" idx="3"/>
            <a:endCxn id="7" idx="0"/>
          </p:cNvCxnSpPr>
          <p:nvPr/>
        </p:nvCxnSpPr>
        <p:spPr>
          <a:xfrm>
            <a:off x="7271658" y="4273243"/>
            <a:ext cx="2155459" cy="735668"/>
          </a:xfrm>
          <a:prstGeom prst="curvedConnector2">
            <a:avLst/>
          </a:prstGeom>
          <a:ln w="762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Verbinder: gekrümmt 13">
            <a:extLst>
              <a:ext uri="{FF2B5EF4-FFF2-40B4-BE49-F238E27FC236}">
                <a16:creationId xmlns:a16="http://schemas.microsoft.com/office/drawing/2014/main" id="{BE5A69C9-2BC2-9607-11E7-4D9D97C8EB5D}"/>
              </a:ext>
            </a:extLst>
          </p:cNvPr>
          <p:cNvCxnSpPr>
            <a:cxnSpLocks/>
            <a:stCxn id="6" idx="3"/>
            <a:endCxn id="7" idx="2"/>
          </p:cNvCxnSpPr>
          <p:nvPr/>
        </p:nvCxnSpPr>
        <p:spPr>
          <a:xfrm flipV="1">
            <a:off x="7215674" y="5624732"/>
            <a:ext cx="2211443" cy="675429"/>
          </a:xfrm>
          <a:prstGeom prst="curvedConnector2">
            <a:avLst/>
          </a:prstGeom>
          <a:ln w="762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Verbinder: gekrümmt 18">
            <a:extLst>
              <a:ext uri="{FF2B5EF4-FFF2-40B4-BE49-F238E27FC236}">
                <a16:creationId xmlns:a16="http://schemas.microsoft.com/office/drawing/2014/main" id="{19393346-9D96-6FBB-14A6-29BAF1D1031C}"/>
              </a:ext>
            </a:extLst>
          </p:cNvPr>
          <p:cNvCxnSpPr>
            <a:cxnSpLocks/>
            <a:stCxn id="4" idx="2"/>
            <a:endCxn id="6" idx="1"/>
          </p:cNvCxnSpPr>
          <p:nvPr/>
        </p:nvCxnSpPr>
        <p:spPr>
          <a:xfrm rot="16200000" flipH="1">
            <a:off x="3477201" y="4897407"/>
            <a:ext cx="675428" cy="2130079"/>
          </a:xfrm>
          <a:prstGeom prst="curvedConnector2">
            <a:avLst/>
          </a:prstGeom>
          <a:ln w="762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A2AF4DFA-FB7B-BDFA-E6C6-E1D0C2E17CE4}"/>
              </a:ext>
            </a:extLst>
          </p:cNvPr>
          <p:cNvSpPr txBox="1"/>
          <p:nvPr/>
        </p:nvSpPr>
        <p:spPr>
          <a:xfrm>
            <a:off x="4094923" y="5083073"/>
            <a:ext cx="3995530" cy="369332"/>
          </a:xfrm>
          <a:prstGeom prst="rect">
            <a:avLst/>
          </a:prstGeom>
          <a:noFill/>
        </p:spPr>
        <p:txBody>
          <a:bodyPr wrap="square">
            <a:spAutoFit/>
          </a:bodyPr>
          <a:lstStyle/>
          <a:p>
            <a:r>
              <a:rPr lang="en-GB" b="1" dirty="0">
                <a:solidFill>
                  <a:srgbClr val="C00000"/>
                </a:solidFill>
              </a:rPr>
              <a:t>Mutual dependency – logical polysemy</a:t>
            </a:r>
          </a:p>
        </p:txBody>
      </p:sp>
    </p:spTree>
    <p:extLst>
      <p:ext uri="{BB962C8B-B14F-4D97-AF65-F5344CB8AC3E}">
        <p14:creationId xmlns:p14="http://schemas.microsoft.com/office/powerpoint/2010/main" val="1460961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4D8A80-44EE-6A4A-1015-48647EDACF8F}"/>
              </a:ext>
            </a:extLst>
          </p:cNvPr>
          <p:cNvSpPr>
            <a:spLocks noGrp="1"/>
          </p:cNvSpPr>
          <p:nvPr>
            <p:ph type="title"/>
          </p:nvPr>
        </p:nvSpPr>
        <p:spPr/>
        <p:txBody>
          <a:bodyPr/>
          <a:lstStyle/>
          <a:p>
            <a:r>
              <a:rPr lang="en-GB" dirty="0"/>
              <a:t>Logical polysemy</a:t>
            </a:r>
          </a:p>
        </p:txBody>
      </p:sp>
      <p:sp>
        <p:nvSpPr>
          <p:cNvPr id="3" name="Inhaltsplatzhalter 2">
            <a:extLst>
              <a:ext uri="{FF2B5EF4-FFF2-40B4-BE49-F238E27FC236}">
                <a16:creationId xmlns:a16="http://schemas.microsoft.com/office/drawing/2014/main" id="{AE007B5D-1E05-C549-3D9B-26D1B4704ABE}"/>
              </a:ext>
            </a:extLst>
          </p:cNvPr>
          <p:cNvSpPr>
            <a:spLocks noGrp="1"/>
          </p:cNvSpPr>
          <p:nvPr>
            <p:ph idx="1"/>
          </p:nvPr>
        </p:nvSpPr>
        <p:spPr>
          <a:xfrm>
            <a:off x="328473" y="1660124"/>
            <a:ext cx="11425561" cy="4899702"/>
          </a:xfrm>
        </p:spPr>
        <p:txBody>
          <a:bodyPr>
            <a:normAutofit fontScale="92500" lnSpcReduction="10000"/>
          </a:bodyPr>
          <a:lstStyle/>
          <a:p>
            <a:r>
              <a:rPr lang="en-GB" dirty="0"/>
              <a:t>A language term has multiple, systematically related meanings (mostly mutually related, see appendicitis example)</a:t>
            </a:r>
          </a:p>
          <a:p>
            <a:r>
              <a:rPr lang="en-GB" dirty="0"/>
              <a:t>Classical example "Book" (information entity vs. material copy)</a:t>
            </a:r>
          </a:p>
          <a:p>
            <a:pPr lvl="1"/>
            <a:r>
              <a:rPr lang="en-GB" dirty="0"/>
              <a:t>"JD Salinger wrote only one book: The Catcher in the Rye" </a:t>
            </a:r>
          </a:p>
          <a:p>
            <a:pPr lvl="1"/>
            <a:r>
              <a:rPr lang="en-GB" dirty="0"/>
              <a:t>The book "The Catcher in the Rye" was printed 65 million times</a:t>
            </a:r>
          </a:p>
          <a:p>
            <a:r>
              <a:rPr lang="en-GB" dirty="0"/>
              <a:t>"Dot types"</a:t>
            </a:r>
          </a:p>
          <a:p>
            <a:pPr lvl="1"/>
            <a:r>
              <a:rPr lang="en-GB" i="1" dirty="0"/>
              <a:t>Material</a:t>
            </a:r>
            <a:r>
              <a:rPr lang="en-GB" dirty="0"/>
              <a:t> </a:t>
            </a:r>
            <a:r>
              <a:rPr lang="en-GB" dirty="0">
                <a:sym typeface="Symbol" panose="05050102010706020507" pitchFamily="18" charset="2"/>
              </a:rPr>
              <a:t></a:t>
            </a:r>
            <a:r>
              <a:rPr lang="en-GB" dirty="0"/>
              <a:t> </a:t>
            </a:r>
            <a:r>
              <a:rPr lang="en-GB" i="1" dirty="0"/>
              <a:t>Information</a:t>
            </a:r>
            <a:r>
              <a:rPr lang="en-GB" dirty="0"/>
              <a:t> (book, gene)</a:t>
            </a:r>
          </a:p>
          <a:p>
            <a:pPr lvl="1"/>
            <a:r>
              <a:rPr lang="en-GB" i="1" dirty="0"/>
              <a:t>Material</a:t>
            </a:r>
            <a:r>
              <a:rPr lang="en-GB" dirty="0"/>
              <a:t> </a:t>
            </a:r>
            <a:r>
              <a:rPr lang="en-GB" dirty="0">
                <a:sym typeface="Symbol" panose="05050102010706020507" pitchFamily="18" charset="2"/>
              </a:rPr>
              <a:t></a:t>
            </a:r>
            <a:r>
              <a:rPr lang="en-GB" dirty="0"/>
              <a:t> </a:t>
            </a:r>
            <a:r>
              <a:rPr lang="en-GB" i="1" dirty="0"/>
              <a:t>Process</a:t>
            </a:r>
            <a:r>
              <a:rPr lang="en-GB" dirty="0"/>
              <a:t> (tumour, diet)</a:t>
            </a:r>
          </a:p>
          <a:p>
            <a:pPr lvl="1"/>
            <a:r>
              <a:rPr lang="en-GB" i="1" dirty="0"/>
              <a:t>Material</a:t>
            </a:r>
            <a:r>
              <a:rPr lang="en-GB" dirty="0"/>
              <a:t> </a:t>
            </a:r>
            <a:r>
              <a:rPr lang="en-GB" dirty="0">
                <a:sym typeface="Symbol" panose="05050102010706020507" pitchFamily="18" charset="2"/>
              </a:rPr>
              <a:t></a:t>
            </a:r>
            <a:r>
              <a:rPr lang="en-GB" dirty="0"/>
              <a:t> </a:t>
            </a:r>
            <a:r>
              <a:rPr lang="en-GB" i="1" dirty="0"/>
              <a:t>Quality</a:t>
            </a:r>
            <a:r>
              <a:rPr lang="en-GB" dirty="0"/>
              <a:t> (</a:t>
            </a:r>
            <a:r>
              <a:rPr lang="en-GB" dirty="0" err="1"/>
              <a:t>anemia</a:t>
            </a:r>
            <a:r>
              <a:rPr lang="en-GB" dirty="0"/>
              <a:t>)</a:t>
            </a:r>
          </a:p>
          <a:p>
            <a:pPr lvl="1"/>
            <a:r>
              <a:rPr lang="en-GB" i="1" dirty="0"/>
              <a:t>Process</a:t>
            </a:r>
            <a:r>
              <a:rPr lang="en-GB" dirty="0"/>
              <a:t>  </a:t>
            </a:r>
            <a:r>
              <a:rPr lang="en-GB" dirty="0">
                <a:sym typeface="Symbol" panose="05050102010706020507" pitchFamily="18" charset="2"/>
              </a:rPr>
              <a:t></a:t>
            </a:r>
            <a:r>
              <a:rPr lang="en-GB" dirty="0"/>
              <a:t> </a:t>
            </a:r>
            <a:r>
              <a:rPr lang="en-GB" i="1" dirty="0"/>
              <a:t>Quality</a:t>
            </a:r>
            <a:r>
              <a:rPr lang="en-GB" dirty="0"/>
              <a:t> (hypertension)</a:t>
            </a:r>
          </a:p>
          <a:p>
            <a:r>
              <a:rPr lang="en-GB" dirty="0"/>
              <a:t>Common misunderstanding</a:t>
            </a:r>
          </a:p>
          <a:p>
            <a:pPr lvl="1"/>
            <a:r>
              <a:rPr lang="en-GB" dirty="0"/>
              <a:t>"</a:t>
            </a:r>
            <a:r>
              <a:rPr lang="en-GB" i="1" dirty="0"/>
              <a:t>The bipartition of the world into continuants and occurrents is nonsense: E.g., tumours are both</a:t>
            </a:r>
            <a:r>
              <a:rPr lang="en-GB" dirty="0"/>
              <a:t>" (from conversation with medical standards developer)</a:t>
            </a:r>
          </a:p>
          <a:p>
            <a:pPr lvl="1"/>
            <a:endParaRPr lang="en-GB" dirty="0"/>
          </a:p>
          <a:p>
            <a:pPr lvl="1"/>
            <a:endParaRPr lang="en-GB" dirty="0"/>
          </a:p>
          <a:p>
            <a:pPr marL="457200" lvl="1" indent="0">
              <a:buNone/>
            </a:pPr>
            <a:endParaRPr lang="en-GB" dirty="0"/>
          </a:p>
        </p:txBody>
      </p:sp>
      <p:sp>
        <p:nvSpPr>
          <p:cNvPr id="5" name="Textfeld 4">
            <a:extLst>
              <a:ext uri="{FF2B5EF4-FFF2-40B4-BE49-F238E27FC236}">
                <a16:creationId xmlns:a16="http://schemas.microsoft.com/office/drawing/2014/main" id="{E07657DF-C74F-3C13-73DB-70C0FAB5A92B}"/>
              </a:ext>
            </a:extLst>
          </p:cNvPr>
          <p:cNvSpPr txBox="1"/>
          <p:nvPr/>
        </p:nvSpPr>
        <p:spPr>
          <a:xfrm>
            <a:off x="116540" y="6499450"/>
            <a:ext cx="11994777" cy="307777"/>
          </a:xfrm>
          <a:prstGeom prst="rect">
            <a:avLst/>
          </a:prstGeom>
          <a:noFill/>
        </p:spPr>
        <p:txBody>
          <a:bodyPr wrap="square">
            <a:spAutoFit/>
          </a:bodyPr>
          <a:lstStyle/>
          <a:p>
            <a:r>
              <a:rPr lang="en-GB" sz="1400" b="0" i="0" dirty="0">
                <a:effectLst/>
                <a:latin typeface="fkGroteskNeue"/>
              </a:rPr>
              <a:t>James Pustejovsky, The Generative Lexicon, 1995, MIT Press. </a:t>
            </a:r>
            <a:endParaRPr lang="en-GB" sz="1400" dirty="0"/>
          </a:p>
        </p:txBody>
      </p:sp>
    </p:spTree>
    <p:extLst>
      <p:ext uri="{BB962C8B-B14F-4D97-AF65-F5344CB8AC3E}">
        <p14:creationId xmlns:p14="http://schemas.microsoft.com/office/powerpoint/2010/main" val="463077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9B3A-C1BE-59E4-3BEF-93670C2B78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AED4C2-0441-6BDA-F574-288B9779752A}"/>
              </a:ext>
            </a:extLst>
          </p:cNvPr>
          <p:cNvSpPr>
            <a:spLocks noGrp="1"/>
          </p:cNvSpPr>
          <p:nvPr>
            <p:ph type="title"/>
          </p:nvPr>
        </p:nvSpPr>
        <p:spPr/>
        <p:txBody>
          <a:bodyPr/>
          <a:lstStyle/>
          <a:p>
            <a:r>
              <a:rPr lang="en-GB" dirty="0"/>
              <a:t>Logical polysemy vs. real polysemy</a:t>
            </a:r>
          </a:p>
        </p:txBody>
      </p:sp>
      <p:sp>
        <p:nvSpPr>
          <p:cNvPr id="3" name="Inhaltsplatzhalter 2">
            <a:extLst>
              <a:ext uri="{FF2B5EF4-FFF2-40B4-BE49-F238E27FC236}">
                <a16:creationId xmlns:a16="http://schemas.microsoft.com/office/drawing/2014/main" id="{46922A02-175B-A283-EF22-12125C3649F0}"/>
              </a:ext>
            </a:extLst>
          </p:cNvPr>
          <p:cNvSpPr>
            <a:spLocks noGrp="1"/>
          </p:cNvSpPr>
          <p:nvPr>
            <p:ph idx="1"/>
          </p:nvPr>
        </p:nvSpPr>
        <p:spPr>
          <a:xfrm>
            <a:off x="328473" y="1660124"/>
            <a:ext cx="11425561" cy="5045476"/>
          </a:xfrm>
        </p:spPr>
        <p:txBody>
          <a:bodyPr>
            <a:normAutofit/>
          </a:bodyPr>
          <a:lstStyle/>
          <a:p>
            <a:r>
              <a:rPr lang="en-GB" dirty="0"/>
              <a:t>Real polysemy</a:t>
            </a:r>
          </a:p>
          <a:p>
            <a:pPr lvl="1"/>
            <a:r>
              <a:rPr lang="en-GB" dirty="0"/>
              <a:t>Disposition vs. Realization: Ex.: nickel allergy, suicidality, hypertension, ability to wash themselves. </a:t>
            </a:r>
            <a:r>
              <a:rPr lang="en-GB" b="1" dirty="0"/>
              <a:t>Dispositions do not imply their realizations </a:t>
            </a:r>
          </a:p>
          <a:p>
            <a:pPr lvl="1"/>
            <a:r>
              <a:rPr lang="en-GB" dirty="0"/>
              <a:t>Molecular entities vs. collections (aggregates) of molecular entities: different kinds of collections with the same base entities, but different structures, e.g. graphite vs. diamond, water vs. ice</a:t>
            </a:r>
          </a:p>
          <a:p>
            <a:pPr lvl="1"/>
            <a:r>
              <a:rPr lang="en-GB" dirty="0"/>
              <a:t>Products vs. ingredients of products:</a:t>
            </a:r>
            <a:br>
              <a:rPr lang="en-GB" dirty="0"/>
            </a:br>
            <a:r>
              <a:rPr lang="en-GB" dirty="0"/>
              <a:t>Ibuprofen vs. Ibuprofen tablet, apple vs. packaged apple</a:t>
            </a:r>
          </a:p>
          <a:p>
            <a:pPr lvl="1"/>
            <a:r>
              <a:rPr lang="en-GB" dirty="0"/>
              <a:t>Molecules vs. molecular graphs: </a:t>
            </a:r>
            <a:br>
              <a:rPr lang="en-GB" dirty="0"/>
            </a:br>
            <a:r>
              <a:rPr lang="en-GB" dirty="0"/>
              <a:t>Simulation of non-existing molecules</a:t>
            </a:r>
          </a:p>
          <a:p>
            <a:pPr lvl="1"/>
            <a:r>
              <a:rPr lang="en-GB" dirty="0"/>
              <a:t>Measurement process + quantitative or qualitative result  vs. </a:t>
            </a:r>
            <a:br>
              <a:rPr lang="en-GB" dirty="0"/>
            </a:br>
            <a:r>
              <a:rPr lang="en-GB" dirty="0"/>
              <a:t>observable + quantitative or qualitative result</a:t>
            </a:r>
          </a:p>
          <a:p>
            <a:pPr lvl="1"/>
            <a:endParaRPr lang="en-GB" dirty="0"/>
          </a:p>
          <a:p>
            <a:pPr lvl="1"/>
            <a:endParaRPr lang="en-GB" dirty="0"/>
          </a:p>
          <a:p>
            <a:pPr lvl="1"/>
            <a:endParaRPr lang="en-GB" dirty="0"/>
          </a:p>
          <a:p>
            <a:pPr marL="457200" lvl="1" indent="0">
              <a:buNone/>
            </a:pPr>
            <a:endParaRPr lang="en-GB" dirty="0"/>
          </a:p>
        </p:txBody>
      </p:sp>
      <p:pic>
        <p:nvPicPr>
          <p:cNvPr id="2050" name="Picture 2">
            <a:extLst>
              <a:ext uri="{FF2B5EF4-FFF2-40B4-BE49-F238E27FC236}">
                <a16:creationId xmlns:a16="http://schemas.microsoft.com/office/drawing/2014/main" id="{83EA0E8C-733D-AB2F-C22B-59786C072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7325" y="3654907"/>
            <a:ext cx="1771872" cy="1743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464CD7A3-CDD3-0707-F425-3EC6D16A1173}"/>
              </a:ext>
            </a:extLst>
          </p:cNvPr>
          <p:cNvSpPr txBox="1"/>
          <p:nvPr/>
        </p:nvSpPr>
        <p:spPr>
          <a:xfrm>
            <a:off x="9620011" y="5261326"/>
            <a:ext cx="1884562" cy="369332"/>
          </a:xfrm>
          <a:prstGeom prst="rect">
            <a:avLst/>
          </a:prstGeom>
          <a:noFill/>
        </p:spPr>
        <p:txBody>
          <a:bodyPr wrap="square">
            <a:spAutoFit/>
          </a:bodyPr>
          <a:lstStyle/>
          <a:p>
            <a:pPr algn="ctr">
              <a:buNone/>
            </a:pPr>
            <a:r>
              <a:rPr lang="en-GB" i="0" dirty="0" err="1">
                <a:solidFill>
                  <a:srgbClr val="202122"/>
                </a:solidFill>
                <a:effectLst/>
              </a:rPr>
              <a:t>Hypercubane</a:t>
            </a:r>
            <a:endParaRPr lang="en-GB" i="0" dirty="0">
              <a:solidFill>
                <a:srgbClr val="202122"/>
              </a:solidFill>
              <a:effectLst/>
            </a:endParaRPr>
          </a:p>
        </p:txBody>
      </p:sp>
    </p:spTree>
    <p:extLst>
      <p:ext uri="{BB962C8B-B14F-4D97-AF65-F5344CB8AC3E}">
        <p14:creationId xmlns:p14="http://schemas.microsoft.com/office/powerpoint/2010/main" val="34111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73AE9C-6261-F3C4-930B-1C90A4EE5387}"/>
              </a:ext>
            </a:extLst>
          </p:cNvPr>
          <p:cNvSpPr>
            <a:spLocks noGrp="1"/>
          </p:cNvSpPr>
          <p:nvPr>
            <p:ph type="title"/>
          </p:nvPr>
        </p:nvSpPr>
        <p:spPr/>
        <p:txBody>
          <a:bodyPr/>
          <a:lstStyle/>
          <a:p>
            <a:r>
              <a:rPr lang="en-GB" dirty="0"/>
              <a:t>Scope of disease: extending and simplifying</a:t>
            </a:r>
          </a:p>
        </p:txBody>
      </p:sp>
      <p:sp>
        <p:nvSpPr>
          <p:cNvPr id="3" name="Inhaltsplatzhalter 2">
            <a:extLst>
              <a:ext uri="{FF2B5EF4-FFF2-40B4-BE49-F238E27FC236}">
                <a16:creationId xmlns:a16="http://schemas.microsoft.com/office/drawing/2014/main" id="{172FC210-8892-CA9C-AF90-AF87612C21B9}"/>
              </a:ext>
            </a:extLst>
          </p:cNvPr>
          <p:cNvSpPr>
            <a:spLocks noGrp="1"/>
          </p:cNvSpPr>
          <p:nvPr>
            <p:ph idx="1"/>
          </p:nvPr>
        </p:nvSpPr>
        <p:spPr>
          <a:xfrm>
            <a:off x="328473" y="1660123"/>
            <a:ext cx="11425561" cy="5016447"/>
          </a:xfrm>
        </p:spPr>
        <p:txBody>
          <a:bodyPr>
            <a:normAutofit fontScale="92500" lnSpcReduction="10000"/>
          </a:bodyPr>
          <a:lstStyle/>
          <a:p>
            <a:r>
              <a:rPr lang="en-GB" sz="3200" b="1" dirty="0">
                <a:solidFill>
                  <a:srgbClr val="C00000"/>
                </a:solidFill>
              </a:rPr>
              <a:t>Clinical condition </a:t>
            </a:r>
            <a:r>
              <a:rPr lang="en-GB" sz="3200" dirty="0"/>
              <a:t>includes</a:t>
            </a:r>
          </a:p>
          <a:p>
            <a:pPr lvl="1"/>
            <a:r>
              <a:rPr lang="en-GB" sz="2800" dirty="0"/>
              <a:t>Signs: objective features of clinical </a:t>
            </a:r>
            <a:br>
              <a:rPr lang="en-GB" sz="2800" dirty="0"/>
            </a:br>
            <a:r>
              <a:rPr lang="en-GB" sz="2800" dirty="0"/>
              <a:t>interest (red eye, opacity in x-ray)</a:t>
            </a:r>
          </a:p>
          <a:p>
            <a:pPr lvl="1"/>
            <a:r>
              <a:rPr lang="en-GB" sz="2800" dirty="0"/>
              <a:t>Symptoms: subjective features of </a:t>
            </a:r>
            <a:br>
              <a:rPr lang="en-GB" sz="2800" dirty="0"/>
            </a:br>
            <a:r>
              <a:rPr lang="en-GB" sz="2800" dirty="0"/>
              <a:t>clinical interest (headache, hallucinations)</a:t>
            </a:r>
          </a:p>
          <a:p>
            <a:r>
              <a:rPr lang="en-GB" sz="3200" b="1" dirty="0"/>
              <a:t>Clinical condition </a:t>
            </a:r>
            <a:r>
              <a:rPr lang="en-GB" sz="3200" dirty="0"/>
              <a:t>most robustly represented as processual entity:	</a:t>
            </a:r>
          </a:p>
          <a:p>
            <a:pPr lvl="1"/>
            <a:r>
              <a:rPr lang="en-GB" sz="2800" dirty="0"/>
              <a:t>Includes states during which a certain phenomenon exists</a:t>
            </a:r>
          </a:p>
          <a:p>
            <a:r>
              <a:rPr lang="en-GB" sz="3200" dirty="0"/>
              <a:t>Abnormal vs. normal: no ontological distinction</a:t>
            </a:r>
          </a:p>
          <a:p>
            <a:pPr lvl="1"/>
            <a:r>
              <a:rPr lang="en-GB" sz="2800" dirty="0"/>
              <a:t>Examples: Bleeding on tooth eruption, baldness, wrinkles, moles, white skin</a:t>
            </a:r>
          </a:p>
          <a:p>
            <a:r>
              <a:rPr lang="en-GB" sz="3200" dirty="0"/>
              <a:t>Diagnosis:</a:t>
            </a:r>
          </a:p>
          <a:p>
            <a:pPr lvl="1"/>
            <a:r>
              <a:rPr lang="en-GB" sz="2800" dirty="0"/>
              <a:t>Disease: actual health problem happening in an organism </a:t>
            </a:r>
          </a:p>
          <a:p>
            <a:pPr lvl="1"/>
            <a:r>
              <a:rPr lang="en-GB" sz="2800" dirty="0"/>
              <a:t>Diagnosis: the reference to a health problem in context (information entity) </a:t>
            </a:r>
          </a:p>
          <a:p>
            <a:endParaRPr lang="en-GB" dirty="0"/>
          </a:p>
        </p:txBody>
      </p:sp>
      <p:sp>
        <p:nvSpPr>
          <p:cNvPr id="5" name="Textfeld 4">
            <a:extLst>
              <a:ext uri="{FF2B5EF4-FFF2-40B4-BE49-F238E27FC236}">
                <a16:creationId xmlns:a16="http://schemas.microsoft.com/office/drawing/2014/main" id="{E554D37C-8EC9-1811-CAFE-E38491AD2893}"/>
              </a:ext>
            </a:extLst>
          </p:cNvPr>
          <p:cNvSpPr txBox="1"/>
          <p:nvPr/>
        </p:nvSpPr>
        <p:spPr>
          <a:xfrm>
            <a:off x="6990357" y="1882391"/>
            <a:ext cx="5526313" cy="1323439"/>
          </a:xfrm>
          <a:prstGeom prst="rect">
            <a:avLst/>
          </a:prstGeom>
          <a:noFill/>
        </p:spPr>
        <p:txBody>
          <a:bodyPr wrap="square">
            <a:spAutoFit/>
          </a:bodyPr>
          <a:lstStyle/>
          <a:p>
            <a:r>
              <a:rPr lang="en-GB" sz="2000" b="1" i="1" dirty="0">
                <a:solidFill>
                  <a:srgbClr val="C00000"/>
                </a:solidFill>
              </a:rPr>
              <a:t>"information about a condition, problem, diagnosis, or other event, situation, issue, or clinical concept that has risen to a level of concern" </a:t>
            </a:r>
            <a:r>
              <a:rPr lang="en-GB" sz="2000" b="1" dirty="0">
                <a:solidFill>
                  <a:srgbClr val="C00000"/>
                </a:solidFill>
              </a:rPr>
              <a:t>(HL7-FHIR)</a:t>
            </a:r>
          </a:p>
        </p:txBody>
      </p:sp>
    </p:spTree>
    <p:extLst>
      <p:ext uri="{BB962C8B-B14F-4D97-AF65-F5344CB8AC3E}">
        <p14:creationId xmlns:p14="http://schemas.microsoft.com/office/powerpoint/2010/main" val="2948262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7B82F-26D9-9D03-4D94-4B2349CCBB69}"/>
              </a:ext>
            </a:extLst>
          </p:cNvPr>
          <p:cNvSpPr>
            <a:spLocks noGrp="1"/>
          </p:cNvSpPr>
          <p:nvPr>
            <p:ph type="title"/>
          </p:nvPr>
        </p:nvSpPr>
        <p:spPr/>
        <p:txBody>
          <a:bodyPr/>
          <a:lstStyle/>
          <a:p>
            <a:r>
              <a:rPr lang="en-GB" dirty="0"/>
              <a:t>Disease vs. Diagnosis</a:t>
            </a:r>
          </a:p>
        </p:txBody>
      </p:sp>
      <p:grpSp>
        <p:nvGrpSpPr>
          <p:cNvPr id="3" name="Gruppieren 2">
            <a:extLst>
              <a:ext uri="{FF2B5EF4-FFF2-40B4-BE49-F238E27FC236}">
                <a16:creationId xmlns:a16="http://schemas.microsoft.com/office/drawing/2014/main" id="{62AC5338-0FF1-860B-C640-E3AB0629732B}"/>
              </a:ext>
            </a:extLst>
          </p:cNvPr>
          <p:cNvGrpSpPr/>
          <p:nvPr/>
        </p:nvGrpSpPr>
        <p:grpSpPr>
          <a:xfrm>
            <a:off x="2639889" y="1419024"/>
            <a:ext cx="2744912" cy="1989107"/>
            <a:chOff x="540327" y="3645672"/>
            <a:chExt cx="3252355" cy="2332041"/>
          </a:xfrm>
        </p:grpSpPr>
        <p:pic>
          <p:nvPicPr>
            <p:cNvPr id="5" name="Grafik 4">
              <a:extLst>
                <a:ext uri="{FF2B5EF4-FFF2-40B4-BE49-F238E27FC236}">
                  <a16:creationId xmlns:a16="http://schemas.microsoft.com/office/drawing/2014/main" id="{BC6077A9-1C30-13A5-C217-1719BB1B4159}"/>
                </a:ext>
              </a:extLst>
            </p:cNvPr>
            <p:cNvPicPr>
              <a:picLocks noChangeAspect="1"/>
            </p:cNvPicPr>
            <p:nvPr/>
          </p:nvPicPr>
          <p:blipFill>
            <a:blip r:embed="rId2"/>
            <a:srcRect r="6554"/>
            <a:stretch>
              <a:fillRect/>
            </a:stretch>
          </p:blipFill>
          <p:spPr>
            <a:xfrm>
              <a:off x="540327" y="3645672"/>
              <a:ext cx="3252355" cy="2332041"/>
            </a:xfrm>
            <a:prstGeom prst="rect">
              <a:avLst/>
            </a:prstGeom>
          </p:spPr>
        </p:pic>
        <p:pic>
          <p:nvPicPr>
            <p:cNvPr id="11" name="Grafik 10">
              <a:extLst>
                <a:ext uri="{FF2B5EF4-FFF2-40B4-BE49-F238E27FC236}">
                  <a16:creationId xmlns:a16="http://schemas.microsoft.com/office/drawing/2014/main" id="{CB59DB34-5347-0BF4-D120-933D490E4AC7}"/>
                </a:ext>
              </a:extLst>
            </p:cNvPr>
            <p:cNvPicPr>
              <a:picLocks noChangeAspect="1"/>
            </p:cNvPicPr>
            <p:nvPr/>
          </p:nvPicPr>
          <p:blipFill>
            <a:blip r:embed="rId3">
              <a:clrChange>
                <a:clrFrom>
                  <a:srgbClr val="F7F7F7"/>
                </a:clrFrom>
                <a:clrTo>
                  <a:srgbClr val="F7F7F7">
                    <a:alpha val="0"/>
                  </a:srgbClr>
                </a:clrTo>
              </a:clrChange>
            </a:blip>
            <a:stretch>
              <a:fillRect/>
            </a:stretch>
          </p:blipFill>
          <p:spPr>
            <a:xfrm rot="8298356">
              <a:off x="1829278" y="4888194"/>
              <a:ext cx="597059" cy="532484"/>
            </a:xfrm>
            <a:prstGeom prst="rect">
              <a:avLst/>
            </a:prstGeom>
          </p:spPr>
        </p:pic>
        <p:sp>
          <p:nvSpPr>
            <p:cNvPr id="14" name="Gewitterblitz 13">
              <a:extLst>
                <a:ext uri="{FF2B5EF4-FFF2-40B4-BE49-F238E27FC236}">
                  <a16:creationId xmlns:a16="http://schemas.microsoft.com/office/drawing/2014/main" id="{FA1D0C95-46E2-FCC2-FC22-46BAFCD01E0A}"/>
                </a:ext>
              </a:extLst>
            </p:cNvPr>
            <p:cNvSpPr/>
            <p:nvPr/>
          </p:nvSpPr>
          <p:spPr>
            <a:xfrm>
              <a:off x="1877707" y="4713623"/>
              <a:ext cx="233082" cy="440813"/>
            </a:xfrm>
            <a:prstGeom prst="lightningBolt">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3" name="Textfeld 22">
            <a:extLst>
              <a:ext uri="{FF2B5EF4-FFF2-40B4-BE49-F238E27FC236}">
                <a16:creationId xmlns:a16="http://schemas.microsoft.com/office/drawing/2014/main" id="{8F78AAA3-B812-28CE-B46D-A157E66AF4FE}"/>
              </a:ext>
            </a:extLst>
          </p:cNvPr>
          <p:cNvSpPr txBox="1"/>
          <p:nvPr/>
        </p:nvSpPr>
        <p:spPr>
          <a:xfrm>
            <a:off x="3605086" y="3462926"/>
            <a:ext cx="2490914" cy="369332"/>
          </a:xfrm>
          <a:prstGeom prst="rect">
            <a:avLst/>
          </a:prstGeom>
          <a:noFill/>
        </p:spPr>
        <p:txBody>
          <a:bodyPr wrap="square">
            <a:spAutoFit/>
          </a:bodyPr>
          <a:lstStyle/>
          <a:p>
            <a:r>
              <a:rPr lang="en-GB" b="1" dirty="0"/>
              <a:t>False diagnosis</a:t>
            </a:r>
          </a:p>
        </p:txBody>
      </p:sp>
      <p:grpSp>
        <p:nvGrpSpPr>
          <p:cNvPr id="7" name="Gruppieren 6">
            <a:extLst>
              <a:ext uri="{FF2B5EF4-FFF2-40B4-BE49-F238E27FC236}">
                <a16:creationId xmlns:a16="http://schemas.microsoft.com/office/drawing/2014/main" id="{649AC934-1D4B-2B88-13FB-0A9919852FAE}"/>
              </a:ext>
            </a:extLst>
          </p:cNvPr>
          <p:cNvGrpSpPr/>
          <p:nvPr/>
        </p:nvGrpSpPr>
        <p:grpSpPr>
          <a:xfrm>
            <a:off x="2639889" y="4751383"/>
            <a:ext cx="2744912" cy="1989107"/>
            <a:chOff x="540327" y="3645672"/>
            <a:chExt cx="3252355" cy="2332041"/>
          </a:xfrm>
        </p:grpSpPr>
        <p:pic>
          <p:nvPicPr>
            <p:cNvPr id="9" name="Grafik 8">
              <a:extLst>
                <a:ext uri="{FF2B5EF4-FFF2-40B4-BE49-F238E27FC236}">
                  <a16:creationId xmlns:a16="http://schemas.microsoft.com/office/drawing/2014/main" id="{17D7CAA9-1B4E-B689-EF74-82B15A5E8550}"/>
                </a:ext>
              </a:extLst>
            </p:cNvPr>
            <p:cNvPicPr>
              <a:picLocks noChangeAspect="1"/>
            </p:cNvPicPr>
            <p:nvPr/>
          </p:nvPicPr>
          <p:blipFill>
            <a:blip r:embed="rId2"/>
            <a:srcRect r="6554"/>
            <a:stretch>
              <a:fillRect/>
            </a:stretch>
          </p:blipFill>
          <p:spPr>
            <a:xfrm>
              <a:off x="540327" y="3645672"/>
              <a:ext cx="3252355" cy="2332041"/>
            </a:xfrm>
            <a:prstGeom prst="rect">
              <a:avLst/>
            </a:prstGeom>
          </p:spPr>
        </p:pic>
        <p:pic>
          <p:nvPicPr>
            <p:cNvPr id="10" name="Grafik 9">
              <a:extLst>
                <a:ext uri="{FF2B5EF4-FFF2-40B4-BE49-F238E27FC236}">
                  <a16:creationId xmlns:a16="http://schemas.microsoft.com/office/drawing/2014/main" id="{082A8769-FB1B-66D9-C422-1F6669DF9298}"/>
                </a:ext>
              </a:extLst>
            </p:cNvPr>
            <p:cNvPicPr>
              <a:picLocks noChangeAspect="1"/>
            </p:cNvPicPr>
            <p:nvPr/>
          </p:nvPicPr>
          <p:blipFill>
            <a:blip r:embed="rId3">
              <a:clrChange>
                <a:clrFrom>
                  <a:srgbClr val="F7F7F7"/>
                </a:clrFrom>
                <a:clrTo>
                  <a:srgbClr val="F7F7F7">
                    <a:alpha val="0"/>
                  </a:srgbClr>
                </a:clrTo>
              </a:clrChange>
            </a:blip>
            <a:stretch>
              <a:fillRect/>
            </a:stretch>
          </p:blipFill>
          <p:spPr>
            <a:xfrm rot="8298356">
              <a:off x="1829278" y="4888194"/>
              <a:ext cx="597059" cy="532484"/>
            </a:xfrm>
            <a:prstGeom prst="rect">
              <a:avLst/>
            </a:prstGeom>
          </p:spPr>
        </p:pic>
        <p:sp>
          <p:nvSpPr>
            <p:cNvPr id="12" name="Gewitterblitz 11">
              <a:extLst>
                <a:ext uri="{FF2B5EF4-FFF2-40B4-BE49-F238E27FC236}">
                  <a16:creationId xmlns:a16="http://schemas.microsoft.com/office/drawing/2014/main" id="{3FDC3D91-F8C2-0F04-5792-FC3A10B21849}"/>
                </a:ext>
              </a:extLst>
            </p:cNvPr>
            <p:cNvSpPr/>
            <p:nvPr/>
          </p:nvSpPr>
          <p:spPr>
            <a:xfrm>
              <a:off x="1877707" y="4713623"/>
              <a:ext cx="233082" cy="440813"/>
            </a:xfrm>
            <a:prstGeom prst="lightningBolt">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 name="Denkblase: wolkenförmig 7">
            <a:extLst>
              <a:ext uri="{FF2B5EF4-FFF2-40B4-BE49-F238E27FC236}">
                <a16:creationId xmlns:a16="http://schemas.microsoft.com/office/drawing/2014/main" id="{07F8F46B-4BC0-98CE-BE98-D5C7EF7DAC8B}"/>
              </a:ext>
            </a:extLst>
          </p:cNvPr>
          <p:cNvSpPr/>
          <p:nvPr/>
        </p:nvSpPr>
        <p:spPr>
          <a:xfrm>
            <a:off x="0" y="1408139"/>
            <a:ext cx="2462607" cy="857648"/>
          </a:xfrm>
          <a:prstGeom prst="cloudCallout">
            <a:avLst>
              <a:gd name="adj1" fmla="val 71960"/>
              <a:gd name="adj2" fmla="val 2671"/>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extfeld 17">
            <a:extLst>
              <a:ext uri="{FF2B5EF4-FFF2-40B4-BE49-F238E27FC236}">
                <a16:creationId xmlns:a16="http://schemas.microsoft.com/office/drawing/2014/main" id="{A489F0EB-4864-A00B-524D-A54D49EB1AF3}"/>
              </a:ext>
            </a:extLst>
          </p:cNvPr>
          <p:cNvSpPr txBox="1"/>
          <p:nvPr/>
        </p:nvSpPr>
        <p:spPr>
          <a:xfrm>
            <a:off x="7330231" y="1605527"/>
            <a:ext cx="4313571" cy="4832092"/>
          </a:xfrm>
          <a:prstGeom prst="rect">
            <a:avLst/>
          </a:prstGeom>
          <a:noFill/>
          <a:ln>
            <a:noFill/>
          </a:ln>
        </p:spPr>
        <p:txBody>
          <a:bodyPr wrap="square" rtlCol="0">
            <a:spAutoFit/>
          </a:bodyPr>
          <a:lstStyle/>
          <a:p>
            <a:r>
              <a:rPr lang="en-GB" sz="1400" dirty="0"/>
              <a:t> Independent Continuant</a:t>
            </a:r>
          </a:p>
          <a:p>
            <a:r>
              <a:rPr lang="en-GB" sz="1400" dirty="0"/>
              <a:t>	Material Entity</a:t>
            </a:r>
          </a:p>
          <a:p>
            <a:r>
              <a:rPr lang="en-GB" sz="1400" dirty="0"/>
              <a:t>		Object</a:t>
            </a:r>
          </a:p>
          <a:p>
            <a:r>
              <a:rPr lang="en-GB" sz="1400" dirty="0"/>
              <a:t>		Fiat Object Part</a:t>
            </a:r>
          </a:p>
          <a:p>
            <a:r>
              <a:rPr lang="en-GB" sz="1400" dirty="0"/>
              <a:t>		Object Aggregate</a:t>
            </a:r>
          </a:p>
          <a:p>
            <a:r>
              <a:rPr lang="en-GB" sz="1400" dirty="0"/>
              <a:t>	Immaterial Entity</a:t>
            </a:r>
          </a:p>
          <a:p>
            <a:r>
              <a:rPr lang="en-GB" sz="1400" dirty="0"/>
              <a:t>		Site</a:t>
            </a:r>
          </a:p>
          <a:p>
            <a:r>
              <a:rPr lang="en-GB" sz="1400" dirty="0"/>
              <a:t>		Continuant Fiat Boundary</a:t>
            </a:r>
          </a:p>
          <a:p>
            <a:r>
              <a:rPr lang="en-GB" sz="1400" dirty="0"/>
              <a:t>		Spatial Region</a:t>
            </a:r>
          </a:p>
          <a:p>
            <a:r>
              <a:rPr lang="en-GB" sz="1400" dirty="0"/>
              <a:t>Generically Dependent Continuant</a:t>
            </a:r>
          </a:p>
          <a:p>
            <a:r>
              <a:rPr lang="en-GB" sz="1400" dirty="0"/>
              <a:t>Specifically Dependent Continuant</a:t>
            </a:r>
          </a:p>
          <a:p>
            <a:r>
              <a:rPr lang="en-GB" sz="1400" dirty="0"/>
              <a:t>	Quality</a:t>
            </a:r>
          </a:p>
          <a:p>
            <a:r>
              <a:rPr lang="en-GB" sz="1400" dirty="0"/>
              <a:t>	Realizable Entity</a:t>
            </a:r>
          </a:p>
          <a:p>
            <a:r>
              <a:rPr lang="en-GB" sz="1400" dirty="0"/>
              <a:t>		Disposition</a:t>
            </a:r>
          </a:p>
          <a:p>
            <a:r>
              <a:rPr lang="en-GB" sz="1400" dirty="0"/>
              <a:t>		Role</a:t>
            </a:r>
          </a:p>
          <a:p>
            <a:r>
              <a:rPr lang="en-GB" sz="1400" dirty="0"/>
              <a:t>	                                               Function</a:t>
            </a:r>
          </a:p>
          <a:p>
            <a:r>
              <a:rPr lang="en-GB" sz="1400" dirty="0"/>
              <a:t>Process</a:t>
            </a:r>
          </a:p>
          <a:p>
            <a:r>
              <a:rPr lang="en-GB" sz="1400" dirty="0"/>
              <a:t>	Process Boundary</a:t>
            </a:r>
          </a:p>
          <a:p>
            <a:r>
              <a:rPr lang="en-GB" sz="1400" dirty="0"/>
              <a:t>	Temporal Region</a:t>
            </a:r>
          </a:p>
          <a:p>
            <a:r>
              <a:rPr lang="en-GB" sz="1400" dirty="0"/>
              <a:t>	Spatiotemporal region</a:t>
            </a:r>
          </a:p>
          <a:p>
            <a:r>
              <a:rPr lang="en-GB" sz="1400" dirty="0"/>
              <a:t>	</a:t>
            </a:r>
          </a:p>
          <a:p>
            <a:endParaRPr lang="en-GB" sz="1400" dirty="0"/>
          </a:p>
        </p:txBody>
      </p:sp>
      <p:sp>
        <p:nvSpPr>
          <p:cNvPr id="21" name="Rechteck 20">
            <a:extLst>
              <a:ext uri="{FF2B5EF4-FFF2-40B4-BE49-F238E27FC236}">
                <a16:creationId xmlns:a16="http://schemas.microsoft.com/office/drawing/2014/main" id="{FF4F9A19-D846-9DF7-FC04-2B886BB5C934}"/>
              </a:ext>
            </a:extLst>
          </p:cNvPr>
          <p:cNvSpPr/>
          <p:nvPr/>
        </p:nvSpPr>
        <p:spPr>
          <a:xfrm>
            <a:off x="8185317" y="276514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4" name="Rechteck 23">
            <a:extLst>
              <a:ext uri="{FF2B5EF4-FFF2-40B4-BE49-F238E27FC236}">
                <a16:creationId xmlns:a16="http://schemas.microsoft.com/office/drawing/2014/main" id="{B4DBEF06-52E8-5B66-4434-E816A4068F33}"/>
              </a:ext>
            </a:extLst>
          </p:cNvPr>
          <p:cNvSpPr/>
          <p:nvPr/>
        </p:nvSpPr>
        <p:spPr>
          <a:xfrm>
            <a:off x="7225503" y="1682323"/>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5" name="Rechteck 24">
            <a:extLst>
              <a:ext uri="{FF2B5EF4-FFF2-40B4-BE49-F238E27FC236}">
                <a16:creationId xmlns:a16="http://schemas.microsoft.com/office/drawing/2014/main" id="{A25C95B1-1B15-785F-B3BD-82AA0D2B8002}"/>
              </a:ext>
            </a:extLst>
          </p:cNvPr>
          <p:cNvSpPr/>
          <p:nvPr/>
        </p:nvSpPr>
        <p:spPr>
          <a:xfrm>
            <a:off x="9091017" y="296571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6" name="Rechteck 25">
            <a:extLst>
              <a:ext uri="{FF2B5EF4-FFF2-40B4-BE49-F238E27FC236}">
                <a16:creationId xmlns:a16="http://schemas.microsoft.com/office/drawing/2014/main" id="{12B1FE41-945B-8230-1F38-3AE118C3E9EB}"/>
              </a:ext>
            </a:extLst>
          </p:cNvPr>
          <p:cNvSpPr/>
          <p:nvPr/>
        </p:nvSpPr>
        <p:spPr>
          <a:xfrm>
            <a:off x="9101371" y="2132690"/>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7" name="Rechteck 26">
            <a:extLst>
              <a:ext uri="{FF2B5EF4-FFF2-40B4-BE49-F238E27FC236}">
                <a16:creationId xmlns:a16="http://schemas.microsoft.com/office/drawing/2014/main" id="{65D5E865-1A87-6DD1-9D79-CB7E380177F0}"/>
              </a:ext>
            </a:extLst>
          </p:cNvPr>
          <p:cNvSpPr/>
          <p:nvPr/>
        </p:nvSpPr>
        <p:spPr>
          <a:xfrm>
            <a:off x="9101371" y="3198013"/>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8" name="Rechteck 27">
            <a:extLst>
              <a:ext uri="{FF2B5EF4-FFF2-40B4-BE49-F238E27FC236}">
                <a16:creationId xmlns:a16="http://schemas.microsoft.com/office/drawing/2014/main" id="{5FBB0127-B12D-EA96-F094-AC4C7E4E63E6}"/>
              </a:ext>
            </a:extLst>
          </p:cNvPr>
          <p:cNvSpPr/>
          <p:nvPr/>
        </p:nvSpPr>
        <p:spPr>
          <a:xfrm>
            <a:off x="9102850" y="342143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29" name="Rechteck 28">
            <a:extLst>
              <a:ext uri="{FF2B5EF4-FFF2-40B4-BE49-F238E27FC236}">
                <a16:creationId xmlns:a16="http://schemas.microsoft.com/office/drawing/2014/main" id="{190A262D-B4AF-F43F-1C2C-6E747A8E92A3}"/>
              </a:ext>
            </a:extLst>
          </p:cNvPr>
          <p:cNvSpPr/>
          <p:nvPr/>
        </p:nvSpPr>
        <p:spPr>
          <a:xfrm>
            <a:off x="9100484" y="233271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0" name="Rechteck 29">
            <a:extLst>
              <a:ext uri="{FF2B5EF4-FFF2-40B4-BE49-F238E27FC236}">
                <a16:creationId xmlns:a16="http://schemas.microsoft.com/office/drawing/2014/main" id="{9FC68532-D67C-EA73-3B57-88FD71CA25CA}"/>
              </a:ext>
            </a:extLst>
          </p:cNvPr>
          <p:cNvSpPr/>
          <p:nvPr/>
        </p:nvSpPr>
        <p:spPr>
          <a:xfrm>
            <a:off x="9100478" y="255179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1" name="Rechteck 30">
            <a:extLst>
              <a:ext uri="{FF2B5EF4-FFF2-40B4-BE49-F238E27FC236}">
                <a16:creationId xmlns:a16="http://schemas.microsoft.com/office/drawing/2014/main" id="{18A66525-FE15-6A5C-1863-38890F5AEC5A}"/>
              </a:ext>
            </a:extLst>
          </p:cNvPr>
          <p:cNvSpPr/>
          <p:nvPr/>
        </p:nvSpPr>
        <p:spPr>
          <a:xfrm>
            <a:off x="8185317" y="404429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2" name="Rechteck 31">
            <a:extLst>
              <a:ext uri="{FF2B5EF4-FFF2-40B4-BE49-F238E27FC236}">
                <a16:creationId xmlns:a16="http://schemas.microsoft.com/office/drawing/2014/main" id="{3375BDBB-A77F-A944-B2DA-799249A43637}"/>
              </a:ext>
            </a:extLst>
          </p:cNvPr>
          <p:cNvSpPr/>
          <p:nvPr/>
        </p:nvSpPr>
        <p:spPr>
          <a:xfrm>
            <a:off x="9107662" y="447378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3" name="Rechteck 32">
            <a:extLst>
              <a:ext uri="{FF2B5EF4-FFF2-40B4-BE49-F238E27FC236}">
                <a16:creationId xmlns:a16="http://schemas.microsoft.com/office/drawing/2014/main" id="{FEDAEA39-6306-59F4-9FF1-D276AEFBC475}"/>
              </a:ext>
            </a:extLst>
          </p:cNvPr>
          <p:cNvSpPr/>
          <p:nvPr/>
        </p:nvSpPr>
        <p:spPr>
          <a:xfrm>
            <a:off x="9107662" y="468476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4" name="Rechteck 33">
            <a:extLst>
              <a:ext uri="{FF2B5EF4-FFF2-40B4-BE49-F238E27FC236}">
                <a16:creationId xmlns:a16="http://schemas.microsoft.com/office/drawing/2014/main" id="{7E66B5B1-667A-1C21-E53F-C0D3D98F05F5}"/>
              </a:ext>
            </a:extLst>
          </p:cNvPr>
          <p:cNvSpPr/>
          <p:nvPr/>
        </p:nvSpPr>
        <p:spPr>
          <a:xfrm>
            <a:off x="7229115" y="5145785"/>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5" name="Rechteck 34">
            <a:extLst>
              <a:ext uri="{FF2B5EF4-FFF2-40B4-BE49-F238E27FC236}">
                <a16:creationId xmlns:a16="http://schemas.microsoft.com/office/drawing/2014/main" id="{2043728D-32BD-A148-4A1E-0DB54ADC751C}"/>
              </a:ext>
            </a:extLst>
          </p:cNvPr>
          <p:cNvSpPr/>
          <p:nvPr/>
        </p:nvSpPr>
        <p:spPr>
          <a:xfrm>
            <a:off x="10013068" y="491460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6" name="Rechteck 35">
            <a:extLst>
              <a:ext uri="{FF2B5EF4-FFF2-40B4-BE49-F238E27FC236}">
                <a16:creationId xmlns:a16="http://schemas.microsoft.com/office/drawing/2014/main" id="{7914445A-97BE-CEC9-79AB-B0432282E346}"/>
              </a:ext>
            </a:extLst>
          </p:cNvPr>
          <p:cNvSpPr/>
          <p:nvPr/>
        </p:nvSpPr>
        <p:spPr>
          <a:xfrm>
            <a:off x="7230270" y="3614069"/>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7" name="Rechteck 36">
            <a:extLst>
              <a:ext uri="{FF2B5EF4-FFF2-40B4-BE49-F238E27FC236}">
                <a16:creationId xmlns:a16="http://schemas.microsoft.com/office/drawing/2014/main" id="{628AEF89-C8DB-9E89-186C-11BB586E652A}"/>
              </a:ext>
            </a:extLst>
          </p:cNvPr>
          <p:cNvSpPr/>
          <p:nvPr/>
        </p:nvSpPr>
        <p:spPr>
          <a:xfrm>
            <a:off x="7225503" y="3837912"/>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8" name="Rechteck 37">
            <a:extLst>
              <a:ext uri="{FF2B5EF4-FFF2-40B4-BE49-F238E27FC236}">
                <a16:creationId xmlns:a16="http://schemas.microsoft.com/office/drawing/2014/main" id="{CBE022D4-9423-932C-EF5B-121253664663}"/>
              </a:ext>
            </a:extLst>
          </p:cNvPr>
          <p:cNvSpPr/>
          <p:nvPr/>
        </p:nvSpPr>
        <p:spPr>
          <a:xfrm>
            <a:off x="8185317" y="5313007"/>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39" name="Rechteck 38">
            <a:extLst>
              <a:ext uri="{FF2B5EF4-FFF2-40B4-BE49-F238E27FC236}">
                <a16:creationId xmlns:a16="http://schemas.microsoft.com/office/drawing/2014/main" id="{DA1DB13F-2DCC-ED1E-9A02-B59DE3B77106}"/>
              </a:ext>
            </a:extLst>
          </p:cNvPr>
          <p:cNvSpPr/>
          <p:nvPr/>
        </p:nvSpPr>
        <p:spPr>
          <a:xfrm>
            <a:off x="8185317" y="552180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40" name="Rechteck 39">
            <a:extLst>
              <a:ext uri="{FF2B5EF4-FFF2-40B4-BE49-F238E27FC236}">
                <a16:creationId xmlns:a16="http://schemas.microsoft.com/office/drawing/2014/main" id="{E6E8BC0F-165A-B3E1-ED54-5A93B5E1E89E}"/>
              </a:ext>
            </a:extLst>
          </p:cNvPr>
          <p:cNvSpPr/>
          <p:nvPr/>
        </p:nvSpPr>
        <p:spPr>
          <a:xfrm>
            <a:off x="8185317" y="5722582"/>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41" name="Rechteck 40">
            <a:extLst>
              <a:ext uri="{FF2B5EF4-FFF2-40B4-BE49-F238E27FC236}">
                <a16:creationId xmlns:a16="http://schemas.microsoft.com/office/drawing/2014/main" id="{7D1A0A5E-AED6-0793-F06B-4F313A8727C9}"/>
              </a:ext>
            </a:extLst>
          </p:cNvPr>
          <p:cNvSpPr/>
          <p:nvPr/>
        </p:nvSpPr>
        <p:spPr>
          <a:xfrm>
            <a:off x="8184728" y="1879548"/>
            <a:ext cx="129600" cy="129396"/>
          </a:xfrm>
          <a:prstGeom prst="rect">
            <a:avLst/>
          </a:prstGeom>
          <a:solidFill>
            <a:srgbClr val="E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pic>
        <p:nvPicPr>
          <p:cNvPr id="19" name="Grafik 18">
            <a:extLst>
              <a:ext uri="{FF2B5EF4-FFF2-40B4-BE49-F238E27FC236}">
                <a16:creationId xmlns:a16="http://schemas.microsoft.com/office/drawing/2014/main" id="{8EC85F15-1777-AE41-3323-1FFC496C009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75456" y="1549160"/>
            <a:ext cx="774073" cy="678354"/>
          </a:xfrm>
          <a:prstGeom prst="rect">
            <a:avLst/>
          </a:prstGeom>
        </p:spPr>
      </p:pic>
      <p:sp>
        <p:nvSpPr>
          <p:cNvPr id="20" name="Gewitterblitz 19">
            <a:extLst>
              <a:ext uri="{FF2B5EF4-FFF2-40B4-BE49-F238E27FC236}">
                <a16:creationId xmlns:a16="http://schemas.microsoft.com/office/drawing/2014/main" id="{09020DFB-5F90-6027-C0A3-DAA9FBB8FEF9}"/>
              </a:ext>
            </a:extLst>
          </p:cNvPr>
          <p:cNvSpPr/>
          <p:nvPr/>
        </p:nvSpPr>
        <p:spPr>
          <a:xfrm>
            <a:off x="694459" y="1457115"/>
            <a:ext cx="233082" cy="440813"/>
          </a:xfrm>
          <a:prstGeom prst="lightningBolt">
            <a:avLst/>
          </a:prstGeom>
          <a:solidFill>
            <a:srgbClr val="EE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feld 21">
            <a:extLst>
              <a:ext uri="{FF2B5EF4-FFF2-40B4-BE49-F238E27FC236}">
                <a16:creationId xmlns:a16="http://schemas.microsoft.com/office/drawing/2014/main" id="{0A0C53DF-CE9A-5422-27DA-8AB4123C32AE}"/>
              </a:ext>
            </a:extLst>
          </p:cNvPr>
          <p:cNvSpPr txBox="1"/>
          <p:nvPr/>
        </p:nvSpPr>
        <p:spPr>
          <a:xfrm>
            <a:off x="4350784" y="4804029"/>
            <a:ext cx="1779715" cy="646331"/>
          </a:xfrm>
          <a:prstGeom prst="rect">
            <a:avLst/>
          </a:prstGeom>
          <a:noFill/>
        </p:spPr>
        <p:txBody>
          <a:bodyPr wrap="square">
            <a:spAutoFit/>
          </a:bodyPr>
          <a:lstStyle/>
          <a:p>
            <a:r>
              <a:rPr lang="en-GB" b="1" dirty="0"/>
              <a:t>Undiagnosed </a:t>
            </a:r>
            <a:br>
              <a:rPr lang="en-GB" b="1" dirty="0"/>
            </a:br>
            <a:r>
              <a:rPr lang="en-GB" b="1" dirty="0"/>
              <a:t>disease</a:t>
            </a:r>
          </a:p>
        </p:txBody>
      </p:sp>
      <p:cxnSp>
        <p:nvCxnSpPr>
          <p:cNvPr id="43" name="Gerade Verbindung mit Pfeil 42">
            <a:extLst>
              <a:ext uri="{FF2B5EF4-FFF2-40B4-BE49-F238E27FC236}">
                <a16:creationId xmlns:a16="http://schemas.microsoft.com/office/drawing/2014/main" id="{3DA7A875-1C5A-5643-1DD7-BBDD52C48B53}"/>
              </a:ext>
            </a:extLst>
          </p:cNvPr>
          <p:cNvCxnSpPr>
            <a:cxnSpLocks/>
          </p:cNvCxnSpPr>
          <p:nvPr/>
        </p:nvCxnSpPr>
        <p:spPr>
          <a:xfrm>
            <a:off x="5220434" y="3670895"/>
            <a:ext cx="1848023"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Denkblase: wolkenförmig 14">
            <a:extLst>
              <a:ext uri="{FF2B5EF4-FFF2-40B4-BE49-F238E27FC236}">
                <a16:creationId xmlns:a16="http://schemas.microsoft.com/office/drawing/2014/main" id="{B1B921BD-C47D-EC29-A020-45C949C7C931}"/>
              </a:ext>
            </a:extLst>
          </p:cNvPr>
          <p:cNvSpPr/>
          <p:nvPr/>
        </p:nvSpPr>
        <p:spPr>
          <a:xfrm>
            <a:off x="88419" y="4595062"/>
            <a:ext cx="2462607" cy="857648"/>
          </a:xfrm>
          <a:prstGeom prst="cloudCallout">
            <a:avLst>
              <a:gd name="adj1" fmla="val 60762"/>
              <a:gd name="adj2" fmla="val 16210"/>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 name="Grafik 12">
            <a:extLst>
              <a:ext uri="{FF2B5EF4-FFF2-40B4-BE49-F238E27FC236}">
                <a16:creationId xmlns:a16="http://schemas.microsoft.com/office/drawing/2014/main" id="{50657227-717B-461B-9AF0-58E38A674EB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64751" y="4569418"/>
            <a:ext cx="831730" cy="857648"/>
          </a:xfrm>
          <a:prstGeom prst="rect">
            <a:avLst/>
          </a:prstGeom>
        </p:spPr>
      </p:pic>
      <p:cxnSp>
        <p:nvCxnSpPr>
          <p:cNvPr id="45" name="Gerade Verbindung mit Pfeil 44">
            <a:extLst>
              <a:ext uri="{FF2B5EF4-FFF2-40B4-BE49-F238E27FC236}">
                <a16:creationId xmlns:a16="http://schemas.microsoft.com/office/drawing/2014/main" id="{4990EBC2-F467-9EC9-C538-B4F3FCAD27A9}"/>
              </a:ext>
            </a:extLst>
          </p:cNvPr>
          <p:cNvCxnSpPr>
            <a:cxnSpLocks/>
          </p:cNvCxnSpPr>
          <p:nvPr/>
        </p:nvCxnSpPr>
        <p:spPr>
          <a:xfrm>
            <a:off x="5293005" y="5208745"/>
            <a:ext cx="1848023"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369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EE73CE-C9F8-9637-9C04-A1FE111A04B4}"/>
              </a:ext>
            </a:extLst>
          </p:cNvPr>
          <p:cNvSpPr>
            <a:spLocks noGrp="1"/>
          </p:cNvSpPr>
          <p:nvPr>
            <p:ph type="title"/>
          </p:nvPr>
        </p:nvSpPr>
        <p:spPr/>
        <p:txBody>
          <a:bodyPr/>
          <a:lstStyle/>
          <a:p>
            <a:r>
              <a:rPr lang="en-GB" dirty="0"/>
              <a:t>HL7-FHIR – Condition in context – framework for disease and related entities</a:t>
            </a:r>
          </a:p>
        </p:txBody>
      </p:sp>
      <p:pic>
        <p:nvPicPr>
          <p:cNvPr id="4" name="Grafik 3">
            <a:extLst>
              <a:ext uri="{FF2B5EF4-FFF2-40B4-BE49-F238E27FC236}">
                <a16:creationId xmlns:a16="http://schemas.microsoft.com/office/drawing/2014/main" id="{9FD5035B-61BB-6162-0C39-803EF3E18E89}"/>
              </a:ext>
            </a:extLst>
          </p:cNvPr>
          <p:cNvPicPr>
            <a:picLocks noChangeAspect="1"/>
          </p:cNvPicPr>
          <p:nvPr/>
        </p:nvPicPr>
        <p:blipFill>
          <a:blip r:embed="rId2"/>
          <a:stretch>
            <a:fillRect/>
          </a:stretch>
        </p:blipFill>
        <p:spPr>
          <a:xfrm>
            <a:off x="364431" y="1573213"/>
            <a:ext cx="11463137" cy="5284787"/>
          </a:xfrm>
          <a:prstGeom prst="rect">
            <a:avLst/>
          </a:prstGeom>
        </p:spPr>
      </p:pic>
    </p:spTree>
    <p:extLst>
      <p:ext uri="{BB962C8B-B14F-4D97-AF65-F5344CB8AC3E}">
        <p14:creationId xmlns:p14="http://schemas.microsoft.com/office/powerpoint/2010/main" val="404821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414788-C8AF-0A1B-AEE9-B8F0667F68A9}"/>
              </a:ext>
            </a:extLst>
          </p:cNvPr>
          <p:cNvSpPr>
            <a:spLocks noGrp="1"/>
          </p:cNvSpPr>
          <p:nvPr>
            <p:ph type="title"/>
          </p:nvPr>
        </p:nvSpPr>
        <p:spPr/>
        <p:txBody>
          <a:bodyPr/>
          <a:lstStyle/>
          <a:p>
            <a:r>
              <a:rPr lang="en-GB" dirty="0"/>
              <a:t>Conclusion</a:t>
            </a:r>
          </a:p>
        </p:txBody>
      </p:sp>
      <p:sp>
        <p:nvSpPr>
          <p:cNvPr id="3" name="Inhaltsplatzhalter 2">
            <a:extLst>
              <a:ext uri="{FF2B5EF4-FFF2-40B4-BE49-F238E27FC236}">
                <a16:creationId xmlns:a16="http://schemas.microsoft.com/office/drawing/2014/main" id="{A7A83DED-D75B-937C-027F-0C17FBA4F614}"/>
              </a:ext>
            </a:extLst>
          </p:cNvPr>
          <p:cNvSpPr>
            <a:spLocks noGrp="1"/>
          </p:cNvSpPr>
          <p:nvPr>
            <p:ph idx="1"/>
          </p:nvPr>
        </p:nvSpPr>
        <p:spPr/>
        <p:txBody>
          <a:bodyPr>
            <a:normAutofit/>
          </a:bodyPr>
          <a:lstStyle/>
          <a:p>
            <a:r>
              <a:rPr lang="en-GB" dirty="0"/>
              <a:t>Mapping problems </a:t>
            </a:r>
          </a:p>
          <a:p>
            <a:pPr lvl="1"/>
            <a:r>
              <a:rPr lang="en-GB" dirty="0"/>
              <a:t>In particular, central domain terms often lack clear ontological definitions</a:t>
            </a:r>
          </a:p>
          <a:p>
            <a:pPr lvl="1"/>
            <a:r>
              <a:rPr lang="en-GB" dirty="0"/>
              <a:t>Competing meanings often refer to different aspects of the same complex phenomenon</a:t>
            </a:r>
          </a:p>
          <a:p>
            <a:pPr lvl="1"/>
            <a:r>
              <a:rPr lang="en-GB" dirty="0"/>
              <a:t>These different aspects belong to different categories, which are mutually dependent (known as logical polysemy)</a:t>
            </a:r>
          </a:p>
          <a:p>
            <a:r>
              <a:rPr lang="en-GB" dirty="0"/>
              <a:t>For ontology mapping / alignment</a:t>
            </a:r>
          </a:p>
          <a:p>
            <a:pPr lvl="1"/>
            <a:r>
              <a:rPr lang="en-GB" dirty="0"/>
              <a:t>Find out the explicit or implicit conceptualization of the concept (mapping candidate) in the target ontology</a:t>
            </a:r>
          </a:p>
          <a:p>
            <a:pPr lvl="1"/>
            <a:r>
              <a:rPr lang="en-GB" dirty="0"/>
              <a:t>Develop and use representational pattern that precisely represents the source and the target</a:t>
            </a:r>
          </a:p>
          <a:p>
            <a:pPr lvl="1"/>
            <a:endParaRPr lang="en-GB" dirty="0"/>
          </a:p>
        </p:txBody>
      </p:sp>
    </p:spTree>
    <p:extLst>
      <p:ext uri="{BB962C8B-B14F-4D97-AF65-F5344CB8AC3E}">
        <p14:creationId xmlns:p14="http://schemas.microsoft.com/office/powerpoint/2010/main" val="1549240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A4FCB4-824C-ED90-112D-83E91033913A}"/>
              </a:ext>
            </a:extLst>
          </p:cNvPr>
          <p:cNvSpPr>
            <a:spLocks noGrp="1"/>
          </p:cNvSpPr>
          <p:nvPr>
            <p:ph type="title"/>
          </p:nvPr>
        </p:nvSpPr>
        <p:spPr/>
        <p:txBody>
          <a:bodyPr/>
          <a:lstStyle/>
          <a:p>
            <a:r>
              <a:rPr lang="en-GB" dirty="0"/>
              <a:t>Appendix</a:t>
            </a:r>
          </a:p>
        </p:txBody>
      </p:sp>
    </p:spTree>
    <p:extLst>
      <p:ext uri="{BB962C8B-B14F-4D97-AF65-F5344CB8AC3E}">
        <p14:creationId xmlns:p14="http://schemas.microsoft.com/office/powerpoint/2010/main" val="3937734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27FC11-13EC-68FD-531B-85A06F54FE3F}"/>
              </a:ext>
            </a:extLst>
          </p:cNvPr>
          <p:cNvSpPr>
            <a:spLocks noGrp="1"/>
          </p:cNvSpPr>
          <p:nvPr>
            <p:ph type="title"/>
          </p:nvPr>
        </p:nvSpPr>
        <p:spPr/>
        <p:txBody>
          <a:bodyPr/>
          <a:lstStyle/>
          <a:p>
            <a:r>
              <a:rPr lang="en-GB" dirty="0"/>
              <a:t>Ontological clarity matters, particularly if used in healthcare and biomedical research</a:t>
            </a:r>
          </a:p>
        </p:txBody>
      </p:sp>
      <p:sp>
        <p:nvSpPr>
          <p:cNvPr id="3" name="Inhaltsplatzhalter 2">
            <a:extLst>
              <a:ext uri="{FF2B5EF4-FFF2-40B4-BE49-F238E27FC236}">
                <a16:creationId xmlns:a16="http://schemas.microsoft.com/office/drawing/2014/main" id="{A46E261D-705E-07F7-0E2D-B5C703EBE9C2}"/>
              </a:ext>
            </a:extLst>
          </p:cNvPr>
          <p:cNvSpPr>
            <a:spLocks noGrp="1"/>
          </p:cNvSpPr>
          <p:nvPr>
            <p:ph idx="1"/>
          </p:nvPr>
        </p:nvSpPr>
        <p:spPr/>
        <p:txBody>
          <a:bodyPr/>
          <a:lstStyle/>
          <a:p>
            <a:r>
              <a:rPr lang="en-GB" dirty="0"/>
              <a:t>Data integration between health records and datasets for investigation</a:t>
            </a:r>
          </a:p>
          <a:p>
            <a:r>
              <a:rPr lang="en-GB" dirty="0"/>
              <a:t>Decision support in healthcare</a:t>
            </a:r>
          </a:p>
          <a:p>
            <a:r>
              <a:rPr lang="en-GB" dirty="0"/>
              <a:t>Comparability of study cohorts</a:t>
            </a:r>
          </a:p>
          <a:p>
            <a:r>
              <a:rPr lang="en-GB" dirty="0"/>
              <a:t>Health statistics</a:t>
            </a:r>
          </a:p>
          <a:p>
            <a:r>
              <a:rPr lang="en-GB" dirty="0"/>
              <a:t>Public health surveillance  </a:t>
            </a:r>
          </a:p>
          <a:p>
            <a:r>
              <a:rPr lang="en-GB" dirty="0"/>
              <a:t>Resource utilization and reimbursement</a:t>
            </a:r>
          </a:p>
          <a:p>
            <a:pPr marL="0" indent="0">
              <a:buNone/>
            </a:pPr>
            <a:endParaRPr lang="en-GB" dirty="0"/>
          </a:p>
        </p:txBody>
      </p:sp>
    </p:spTree>
    <p:extLst>
      <p:ext uri="{BB962C8B-B14F-4D97-AF65-F5344CB8AC3E}">
        <p14:creationId xmlns:p14="http://schemas.microsoft.com/office/powerpoint/2010/main" val="2777761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p:cNvPicPr>
            <a:picLocks noChangeAspect="1"/>
          </p:cNvPicPr>
          <p:nvPr/>
        </p:nvPicPr>
        <p:blipFill>
          <a:blip r:embed="rId2"/>
          <a:stretch>
            <a:fillRect/>
          </a:stretch>
        </p:blipFill>
        <p:spPr>
          <a:xfrm>
            <a:off x="414740" y="1672504"/>
            <a:ext cx="3048000" cy="1266825"/>
          </a:xfrm>
          <a:prstGeom prst="rect">
            <a:avLst/>
          </a:prstGeom>
        </p:spPr>
      </p:pic>
      <p:pic>
        <p:nvPicPr>
          <p:cNvPr id="9" name="Grafik 8"/>
          <p:cNvPicPr>
            <a:picLocks noChangeAspect="1"/>
          </p:cNvPicPr>
          <p:nvPr/>
        </p:nvPicPr>
        <p:blipFill rotWithShape="1">
          <a:blip r:embed="rId3"/>
          <a:srcRect r="17099"/>
          <a:stretch/>
        </p:blipFill>
        <p:spPr>
          <a:xfrm>
            <a:off x="8665028" y="1684656"/>
            <a:ext cx="3047999" cy="1257300"/>
          </a:xfrm>
          <a:prstGeom prst="rect">
            <a:avLst/>
          </a:prstGeom>
        </p:spPr>
      </p:pic>
      <p:pic>
        <p:nvPicPr>
          <p:cNvPr id="8" name="Grafik 7"/>
          <p:cNvPicPr>
            <a:picLocks noChangeAspect="1"/>
          </p:cNvPicPr>
          <p:nvPr/>
        </p:nvPicPr>
        <p:blipFill rotWithShape="1">
          <a:blip r:embed="rId4"/>
          <a:srcRect r="19837"/>
          <a:stretch/>
        </p:blipFill>
        <p:spPr>
          <a:xfrm>
            <a:off x="4635274" y="3610822"/>
            <a:ext cx="2970213" cy="1276350"/>
          </a:xfrm>
          <a:prstGeom prst="rect">
            <a:avLst/>
          </a:prstGeom>
        </p:spPr>
      </p:pic>
      <p:sp>
        <p:nvSpPr>
          <p:cNvPr id="2" name="Titel 1"/>
          <p:cNvSpPr>
            <a:spLocks noGrp="1"/>
          </p:cNvSpPr>
          <p:nvPr>
            <p:ph type="title"/>
          </p:nvPr>
        </p:nvSpPr>
        <p:spPr/>
        <p:txBody>
          <a:bodyPr/>
          <a:lstStyle/>
          <a:p>
            <a:r>
              <a:rPr lang="en-GB" dirty="0"/>
              <a:t>Example - what is a clinical finding in SNOMED CT?</a:t>
            </a:r>
          </a:p>
        </p:txBody>
      </p:sp>
      <p:pic>
        <p:nvPicPr>
          <p:cNvPr id="4" name="Picture 2" descr="File:Fracturaantebrazo.jpg - Wikimedia Comm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9523693" y="1404991"/>
            <a:ext cx="1388726" cy="30189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onteggia Fracture.jpg"/>
          <p:cNvPicPr>
            <a:picLocks noChangeAspect="1" noChangeArrowheads="1"/>
          </p:cNvPicPr>
          <p:nvPr/>
        </p:nvPicPr>
        <p:blipFill rotWithShape="1">
          <a:blip r:embed="rId6">
            <a:extLst>
              <a:ext uri="{28A0092B-C50C-407E-A947-70E740481C1C}">
                <a14:useLocalDpi xmlns:a14="http://schemas.microsoft.com/office/drawing/2010/main" val="0"/>
              </a:ext>
            </a:extLst>
          </a:blip>
          <a:srcRect l="17482" r="6437" b="17063"/>
          <a:stretch/>
        </p:blipFill>
        <p:spPr bwMode="auto">
          <a:xfrm rot="5400000" flipH="1">
            <a:off x="1296770" y="1363550"/>
            <a:ext cx="1279724" cy="29857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89 - Figure 8 - Fracture of the shaft of either radius or … | Flick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30000"/>
                    </a14:imgEffect>
                  </a14:imgLayer>
                </a14:imgProps>
              </a:ext>
              <a:ext uri="{28A0092B-C50C-407E-A947-70E740481C1C}">
                <a14:useLocalDpi xmlns:a14="http://schemas.microsoft.com/office/drawing/2010/main" val="0"/>
              </a:ext>
            </a:extLst>
          </a:blip>
          <a:srcRect l="51612" t="1" r="9677" b="10685"/>
          <a:stretch/>
        </p:blipFill>
        <p:spPr bwMode="auto">
          <a:xfrm rot="5400000">
            <a:off x="5521813" y="3486511"/>
            <a:ext cx="1255192" cy="2941182"/>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p:cNvSpPr/>
          <p:nvPr/>
        </p:nvSpPr>
        <p:spPr>
          <a:xfrm>
            <a:off x="1320800" y="5739161"/>
            <a:ext cx="10218058" cy="738664"/>
          </a:xfrm>
          <a:prstGeom prst="rect">
            <a:avLst/>
          </a:prstGeom>
        </p:spPr>
        <p:txBody>
          <a:bodyPr wrap="square">
            <a:spAutoFit/>
          </a:bodyPr>
          <a:lstStyle/>
          <a:p>
            <a:r>
              <a:rPr lang="en-GB" sz="1400" dirty="0"/>
              <a:t>'</a:t>
            </a:r>
            <a:r>
              <a:rPr lang="en-GB" sz="1400" i="1" dirty="0"/>
              <a:t>Fracture of Radius and Ulna</a:t>
            </a:r>
            <a:r>
              <a:rPr lang="en-GB" sz="1400" dirty="0"/>
              <a:t>' EquivalentTo: '</a:t>
            </a:r>
            <a:r>
              <a:rPr lang="en-GB" sz="1400" i="1" dirty="0"/>
              <a:t>Clinical Finding</a:t>
            </a:r>
            <a:r>
              <a:rPr lang="en-GB" sz="1400" dirty="0"/>
              <a:t>‘ </a:t>
            </a:r>
          </a:p>
          <a:p>
            <a:r>
              <a:rPr lang="en-GB" sz="1400" dirty="0"/>
              <a:t>      and '</a:t>
            </a:r>
            <a:r>
              <a:rPr lang="en-GB" sz="1400" b="1" dirty="0"/>
              <a:t>role group</a:t>
            </a:r>
            <a:r>
              <a:rPr lang="en-GB" sz="1400" dirty="0"/>
              <a:t>' some (('</a:t>
            </a:r>
            <a:r>
              <a:rPr lang="en-GB" sz="1400" b="1" dirty="0"/>
              <a:t>finding site</a:t>
            </a:r>
            <a:r>
              <a:rPr lang="en-GB" sz="1400" dirty="0"/>
              <a:t>' some '</a:t>
            </a:r>
            <a:r>
              <a:rPr lang="en-GB" sz="1400" i="1" dirty="0"/>
              <a:t>Bone structure of radius</a:t>
            </a:r>
            <a:r>
              <a:rPr lang="en-GB" sz="1400" dirty="0"/>
              <a:t>') and ('</a:t>
            </a:r>
            <a:r>
              <a:rPr lang="en-GB" sz="1400" b="1" dirty="0"/>
              <a:t>associated morphology</a:t>
            </a:r>
            <a:r>
              <a:rPr lang="en-GB" sz="1400" dirty="0"/>
              <a:t>' some </a:t>
            </a:r>
            <a:r>
              <a:rPr lang="en-GB" sz="1400" i="1" dirty="0"/>
              <a:t>Fracture</a:t>
            </a:r>
            <a:r>
              <a:rPr lang="en-GB" sz="1400" dirty="0"/>
              <a:t>))</a:t>
            </a:r>
            <a:br>
              <a:rPr lang="en-GB" sz="1400" dirty="0"/>
            </a:br>
            <a:r>
              <a:rPr lang="en-GB" sz="1400" dirty="0"/>
              <a:t>      and '</a:t>
            </a:r>
            <a:r>
              <a:rPr lang="en-GB" sz="1400" b="1" dirty="0"/>
              <a:t>role group</a:t>
            </a:r>
            <a:r>
              <a:rPr lang="en-GB" sz="1400" dirty="0"/>
              <a:t>' some (('</a:t>
            </a:r>
            <a:r>
              <a:rPr lang="en-GB" sz="1400" b="1" dirty="0"/>
              <a:t>finding site</a:t>
            </a:r>
            <a:r>
              <a:rPr lang="en-GB" sz="1400" dirty="0"/>
              <a:t>' some '</a:t>
            </a:r>
            <a:r>
              <a:rPr lang="en-GB" sz="1400" i="1" dirty="0"/>
              <a:t>Bone structure of ulna</a:t>
            </a:r>
            <a:r>
              <a:rPr lang="en-GB" sz="1400" dirty="0"/>
              <a:t>')    and ('</a:t>
            </a:r>
            <a:r>
              <a:rPr lang="en-GB" sz="1400" b="1" dirty="0"/>
              <a:t>associated morphology</a:t>
            </a:r>
            <a:r>
              <a:rPr lang="en-GB" sz="1400" dirty="0"/>
              <a:t>' some </a:t>
            </a:r>
            <a:r>
              <a:rPr lang="en-GB" sz="1400" i="1" dirty="0"/>
              <a:t>Fracture</a:t>
            </a:r>
            <a:r>
              <a:rPr lang="en-GB" sz="1400" dirty="0"/>
              <a:t>))</a:t>
            </a:r>
          </a:p>
        </p:txBody>
      </p:sp>
      <p:pic>
        <p:nvPicPr>
          <p:cNvPr id="11" name="Grafik 10"/>
          <p:cNvPicPr>
            <a:picLocks noChangeAspect="1"/>
          </p:cNvPicPr>
          <p:nvPr/>
        </p:nvPicPr>
        <p:blipFill>
          <a:blip r:embed="rId9"/>
          <a:stretch>
            <a:fillRect/>
          </a:stretch>
        </p:blipFill>
        <p:spPr>
          <a:xfrm>
            <a:off x="4562929" y="1555450"/>
            <a:ext cx="3086100" cy="1285875"/>
          </a:xfrm>
          <a:prstGeom prst="rect">
            <a:avLst/>
          </a:prstGeom>
        </p:spPr>
      </p:pic>
      <p:cxnSp>
        <p:nvCxnSpPr>
          <p:cNvPr id="13" name="Gerade Verbindung mit Pfeil 12"/>
          <p:cNvCxnSpPr>
            <a:cxnSpLocks/>
            <a:stCxn id="20" idx="3"/>
            <a:endCxn id="11" idx="1"/>
          </p:cNvCxnSpPr>
          <p:nvPr/>
        </p:nvCxnSpPr>
        <p:spPr>
          <a:xfrm flipV="1">
            <a:off x="3424443" y="2198388"/>
            <a:ext cx="1138486" cy="372912"/>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p:cNvCxnSpPr>
            <a:cxnSpLocks/>
            <a:stCxn id="23" idx="1"/>
            <a:endCxn id="11" idx="3"/>
          </p:cNvCxnSpPr>
          <p:nvPr/>
        </p:nvCxnSpPr>
        <p:spPr>
          <a:xfrm flipH="1" flipV="1">
            <a:off x="7649029" y="2198388"/>
            <a:ext cx="1064039" cy="379397"/>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p:cNvCxnSpPr>
            <a:cxnSpLocks/>
            <a:stCxn id="8" idx="0"/>
          </p:cNvCxnSpPr>
          <p:nvPr/>
        </p:nvCxnSpPr>
        <p:spPr>
          <a:xfrm flipH="1" flipV="1">
            <a:off x="3458524" y="2858103"/>
            <a:ext cx="2661857" cy="752719"/>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p:cNvCxnSpPr>
            <a:cxnSpLocks/>
            <a:stCxn id="8" idx="0"/>
            <a:endCxn id="21" idx="1"/>
          </p:cNvCxnSpPr>
          <p:nvPr/>
        </p:nvCxnSpPr>
        <p:spPr>
          <a:xfrm flipV="1">
            <a:off x="6120381" y="2806142"/>
            <a:ext cx="2592687" cy="80468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3409928" y="2021970"/>
            <a:ext cx="851515" cy="276999"/>
          </a:xfrm>
          <a:prstGeom prst="rect">
            <a:avLst/>
          </a:prstGeom>
          <a:noFill/>
        </p:spPr>
        <p:txBody>
          <a:bodyPr wrap="none" rtlCol="0">
            <a:spAutoFit/>
          </a:bodyPr>
          <a:lstStyle/>
          <a:p>
            <a:r>
              <a:rPr lang="en-GB" sz="1200" dirty="0"/>
              <a:t>subclassOf</a:t>
            </a:r>
          </a:p>
        </p:txBody>
      </p:sp>
      <p:sp>
        <p:nvSpPr>
          <p:cNvPr id="29" name="Textfeld 28"/>
          <p:cNvSpPr txBox="1"/>
          <p:nvPr/>
        </p:nvSpPr>
        <p:spPr>
          <a:xfrm>
            <a:off x="7804303" y="1964880"/>
            <a:ext cx="851515" cy="276999"/>
          </a:xfrm>
          <a:prstGeom prst="rect">
            <a:avLst/>
          </a:prstGeom>
          <a:noFill/>
        </p:spPr>
        <p:txBody>
          <a:bodyPr wrap="none" rtlCol="0">
            <a:spAutoFit/>
          </a:bodyPr>
          <a:lstStyle/>
          <a:p>
            <a:r>
              <a:rPr lang="en-GB" sz="1200" dirty="0"/>
              <a:t>subclassOf</a:t>
            </a:r>
          </a:p>
        </p:txBody>
      </p:sp>
      <p:sp>
        <p:nvSpPr>
          <p:cNvPr id="30" name="Textfeld 29"/>
          <p:cNvSpPr txBox="1"/>
          <p:nvPr/>
        </p:nvSpPr>
        <p:spPr>
          <a:xfrm>
            <a:off x="6484798" y="3000646"/>
            <a:ext cx="851515" cy="276999"/>
          </a:xfrm>
          <a:prstGeom prst="rect">
            <a:avLst/>
          </a:prstGeom>
          <a:noFill/>
        </p:spPr>
        <p:txBody>
          <a:bodyPr wrap="none" rtlCol="0">
            <a:spAutoFit/>
          </a:bodyPr>
          <a:lstStyle/>
          <a:p>
            <a:r>
              <a:rPr lang="en-GB" sz="1200" dirty="0"/>
              <a:t>subclassOf</a:t>
            </a:r>
          </a:p>
        </p:txBody>
      </p:sp>
      <p:sp>
        <p:nvSpPr>
          <p:cNvPr id="31" name="Textfeld 30"/>
          <p:cNvSpPr txBox="1"/>
          <p:nvPr/>
        </p:nvSpPr>
        <p:spPr>
          <a:xfrm>
            <a:off x="4943750" y="3021383"/>
            <a:ext cx="851515" cy="276999"/>
          </a:xfrm>
          <a:prstGeom prst="rect">
            <a:avLst/>
          </a:prstGeom>
          <a:noFill/>
        </p:spPr>
        <p:txBody>
          <a:bodyPr wrap="none" rtlCol="0">
            <a:spAutoFit/>
          </a:bodyPr>
          <a:lstStyle/>
          <a:p>
            <a:r>
              <a:rPr lang="en-GB" sz="1200" dirty="0"/>
              <a:t>subclassOf</a:t>
            </a:r>
          </a:p>
        </p:txBody>
      </p:sp>
      <p:sp>
        <p:nvSpPr>
          <p:cNvPr id="33" name="Rechteck 32"/>
          <p:cNvSpPr/>
          <p:nvPr/>
        </p:nvSpPr>
        <p:spPr>
          <a:xfrm>
            <a:off x="7934374" y="3713117"/>
            <a:ext cx="4158316" cy="1169551"/>
          </a:xfrm>
          <a:prstGeom prst="rect">
            <a:avLst/>
          </a:prstGeom>
        </p:spPr>
        <p:txBody>
          <a:bodyPr wrap="square">
            <a:spAutoFit/>
          </a:bodyPr>
          <a:lstStyle/>
          <a:p>
            <a:r>
              <a:rPr lang="en-GB" sz="1400" dirty="0"/>
              <a:t>'</a:t>
            </a:r>
            <a:r>
              <a:rPr lang="en-GB" sz="1400" i="1" dirty="0"/>
              <a:t>Fracture of Radius</a:t>
            </a:r>
            <a:r>
              <a:rPr lang="en-GB" sz="1400" dirty="0"/>
              <a:t>' EquivalentTo:	   </a:t>
            </a:r>
            <a:br>
              <a:rPr lang="en-GB" sz="1400" dirty="0"/>
            </a:br>
            <a:r>
              <a:rPr lang="en-GB" sz="1400" dirty="0"/>
              <a:t>   '</a:t>
            </a:r>
            <a:r>
              <a:rPr lang="en-GB" sz="1400" i="1" dirty="0"/>
              <a:t>Clinical Finding</a:t>
            </a:r>
            <a:r>
              <a:rPr lang="en-GB" sz="1400" dirty="0"/>
              <a:t>'</a:t>
            </a:r>
            <a:br>
              <a:rPr lang="en-GB" sz="1400" dirty="0"/>
            </a:br>
            <a:r>
              <a:rPr lang="en-GB" sz="1400" dirty="0"/>
              <a:t>     and '</a:t>
            </a:r>
            <a:r>
              <a:rPr lang="en-GB" sz="1400" b="1" dirty="0"/>
              <a:t>role group</a:t>
            </a:r>
            <a:r>
              <a:rPr lang="en-GB" sz="1400" dirty="0"/>
              <a:t>' some  </a:t>
            </a:r>
          </a:p>
          <a:p>
            <a:r>
              <a:rPr lang="en-GB" sz="1400" dirty="0"/>
              <a:t>        (('</a:t>
            </a:r>
            <a:r>
              <a:rPr lang="en-GB" sz="1400" b="1" dirty="0"/>
              <a:t>finding site</a:t>
            </a:r>
            <a:r>
              <a:rPr lang="en-GB" sz="1400" dirty="0"/>
              <a:t>' some '</a:t>
            </a:r>
            <a:r>
              <a:rPr lang="en-GB" sz="1400" i="1" dirty="0"/>
              <a:t>Bone structure of radius</a:t>
            </a:r>
            <a:r>
              <a:rPr lang="en-GB" sz="1400" dirty="0"/>
              <a:t>') and</a:t>
            </a:r>
            <a:br>
              <a:rPr lang="en-GB" sz="1400" dirty="0"/>
            </a:br>
            <a:r>
              <a:rPr lang="en-GB" sz="1400" dirty="0"/>
              <a:t>         ('</a:t>
            </a:r>
            <a:r>
              <a:rPr lang="en-GB" sz="1400" b="1" dirty="0"/>
              <a:t>associated morphology</a:t>
            </a:r>
            <a:r>
              <a:rPr lang="en-GB" sz="1400" dirty="0"/>
              <a:t>' some </a:t>
            </a:r>
            <a:r>
              <a:rPr lang="en-GB" sz="1400" i="1" dirty="0"/>
              <a:t>Fracture</a:t>
            </a:r>
            <a:r>
              <a:rPr lang="en-GB" sz="1400" dirty="0"/>
              <a:t>))</a:t>
            </a:r>
          </a:p>
        </p:txBody>
      </p:sp>
      <p:sp>
        <p:nvSpPr>
          <p:cNvPr id="41" name="Rechteck 40"/>
          <p:cNvSpPr/>
          <p:nvPr/>
        </p:nvSpPr>
        <p:spPr>
          <a:xfrm>
            <a:off x="333828" y="3531284"/>
            <a:ext cx="6314205" cy="1169551"/>
          </a:xfrm>
          <a:prstGeom prst="rect">
            <a:avLst/>
          </a:prstGeom>
        </p:spPr>
        <p:txBody>
          <a:bodyPr wrap="square">
            <a:spAutoFit/>
          </a:bodyPr>
          <a:lstStyle/>
          <a:p>
            <a:r>
              <a:rPr lang="en-GB" sz="1400" dirty="0"/>
              <a:t>'</a:t>
            </a:r>
            <a:r>
              <a:rPr lang="en-GB" sz="1400" i="1" dirty="0"/>
              <a:t>Fracture of Ulna</a:t>
            </a:r>
            <a:r>
              <a:rPr lang="en-GB" sz="1400" dirty="0"/>
              <a:t>' EquivalentTo:	</a:t>
            </a:r>
            <a:br>
              <a:rPr lang="en-GB" sz="1400" dirty="0"/>
            </a:br>
            <a:r>
              <a:rPr lang="en-GB" sz="1400" dirty="0"/>
              <a:t>    '</a:t>
            </a:r>
            <a:r>
              <a:rPr lang="en-GB" sz="1400" i="1" dirty="0"/>
              <a:t>Clinical Finding</a:t>
            </a:r>
            <a:r>
              <a:rPr lang="en-GB" sz="1400" dirty="0"/>
              <a:t>'</a:t>
            </a:r>
            <a:br>
              <a:rPr lang="en-GB" sz="1400" dirty="0"/>
            </a:br>
            <a:r>
              <a:rPr lang="en-GB" sz="1400" dirty="0"/>
              <a:t>      and '</a:t>
            </a:r>
            <a:r>
              <a:rPr lang="en-GB" sz="1400" b="1" dirty="0"/>
              <a:t>role group</a:t>
            </a:r>
            <a:r>
              <a:rPr lang="en-GB" sz="1400" dirty="0"/>
              <a:t>' some </a:t>
            </a:r>
            <a:br>
              <a:rPr lang="en-GB" sz="1400" dirty="0"/>
            </a:br>
            <a:r>
              <a:rPr lang="en-GB" sz="1400" dirty="0"/>
              <a:t>         (('</a:t>
            </a:r>
            <a:r>
              <a:rPr lang="en-GB" sz="1400" b="1" dirty="0"/>
              <a:t>finding site</a:t>
            </a:r>
            <a:r>
              <a:rPr lang="en-GB" sz="1400" dirty="0"/>
              <a:t>' some '</a:t>
            </a:r>
            <a:r>
              <a:rPr lang="en-GB" sz="1400" i="1" dirty="0"/>
              <a:t>Bone structure of ulna</a:t>
            </a:r>
            <a:r>
              <a:rPr lang="en-GB" sz="1400" dirty="0"/>
              <a:t>') and</a:t>
            </a:r>
            <a:br>
              <a:rPr lang="en-GB" sz="1400" dirty="0"/>
            </a:br>
            <a:r>
              <a:rPr lang="en-GB" sz="1400" dirty="0"/>
              <a:t>         ('</a:t>
            </a:r>
            <a:r>
              <a:rPr lang="en-GB" sz="1400" b="1" dirty="0"/>
              <a:t>associated morphology</a:t>
            </a:r>
            <a:r>
              <a:rPr lang="en-GB" sz="1400" dirty="0"/>
              <a:t>' some </a:t>
            </a:r>
            <a:r>
              <a:rPr lang="en-GB" sz="1400" i="1" dirty="0"/>
              <a:t>Fracture</a:t>
            </a:r>
            <a:r>
              <a:rPr lang="en-GB" sz="1400" dirty="0"/>
              <a:t>))</a:t>
            </a:r>
          </a:p>
        </p:txBody>
      </p:sp>
      <p:sp>
        <p:nvSpPr>
          <p:cNvPr id="42" name="Abgerundetes Rechteck 41"/>
          <p:cNvSpPr/>
          <p:nvPr/>
        </p:nvSpPr>
        <p:spPr>
          <a:xfrm>
            <a:off x="243012" y="1511300"/>
            <a:ext cx="4237254" cy="3799114"/>
          </a:xfrm>
          <a:prstGeom prst="roundRect">
            <a:avLst>
              <a:gd name="adj" fmla="val 7012"/>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Abgerundetes Rechteck 42"/>
          <p:cNvSpPr/>
          <p:nvPr/>
        </p:nvSpPr>
        <p:spPr>
          <a:xfrm>
            <a:off x="7855436" y="1531740"/>
            <a:ext cx="4237254" cy="3799114"/>
          </a:xfrm>
          <a:prstGeom prst="roundRect">
            <a:avLst>
              <a:gd name="adj" fmla="val 7012"/>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Abgerundetes Rechteck 43"/>
          <p:cNvSpPr/>
          <p:nvPr/>
        </p:nvSpPr>
        <p:spPr>
          <a:xfrm>
            <a:off x="243013" y="5740999"/>
            <a:ext cx="10686246" cy="693394"/>
          </a:xfrm>
          <a:prstGeom prst="roundRect">
            <a:avLst>
              <a:gd name="adj" fmla="val 19660"/>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Abgerundetes Rechteck 44"/>
          <p:cNvSpPr/>
          <p:nvPr/>
        </p:nvSpPr>
        <p:spPr>
          <a:xfrm>
            <a:off x="4559205" y="3554483"/>
            <a:ext cx="3201292" cy="1960677"/>
          </a:xfrm>
          <a:prstGeom prst="roundRect">
            <a:avLst>
              <a:gd name="adj" fmla="val 7012"/>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hteck 18">
            <a:extLst>
              <a:ext uri="{FF2B5EF4-FFF2-40B4-BE49-F238E27FC236}">
                <a16:creationId xmlns:a16="http://schemas.microsoft.com/office/drawing/2014/main" id="{93E40D48-CF94-A0D9-E974-6293B0C416F9}"/>
              </a:ext>
            </a:extLst>
          </p:cNvPr>
          <p:cNvSpPr/>
          <p:nvPr/>
        </p:nvSpPr>
        <p:spPr>
          <a:xfrm>
            <a:off x="3268801" y="2687789"/>
            <a:ext cx="155642" cy="2237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hteck 19">
            <a:extLst>
              <a:ext uri="{FF2B5EF4-FFF2-40B4-BE49-F238E27FC236}">
                <a16:creationId xmlns:a16="http://schemas.microsoft.com/office/drawing/2014/main" id="{395BC1A3-4005-6C0D-F2F4-91A58C9F5D04}"/>
              </a:ext>
            </a:extLst>
          </p:cNvPr>
          <p:cNvSpPr/>
          <p:nvPr/>
        </p:nvSpPr>
        <p:spPr>
          <a:xfrm>
            <a:off x="3268801" y="2459432"/>
            <a:ext cx="155642" cy="2237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hteck 20">
            <a:extLst>
              <a:ext uri="{FF2B5EF4-FFF2-40B4-BE49-F238E27FC236}">
                <a16:creationId xmlns:a16="http://schemas.microsoft.com/office/drawing/2014/main" id="{DC6FE6F6-F2AE-D1E3-0365-B1028E6BF206}"/>
              </a:ext>
            </a:extLst>
          </p:cNvPr>
          <p:cNvSpPr/>
          <p:nvPr/>
        </p:nvSpPr>
        <p:spPr>
          <a:xfrm>
            <a:off x="8713068" y="2694274"/>
            <a:ext cx="155642" cy="2237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hteck 22">
            <a:extLst>
              <a:ext uri="{FF2B5EF4-FFF2-40B4-BE49-F238E27FC236}">
                <a16:creationId xmlns:a16="http://schemas.microsoft.com/office/drawing/2014/main" id="{F0C21226-C62F-2D07-13B0-F98CC2AD5981}"/>
              </a:ext>
            </a:extLst>
          </p:cNvPr>
          <p:cNvSpPr/>
          <p:nvPr/>
        </p:nvSpPr>
        <p:spPr>
          <a:xfrm>
            <a:off x="8713068" y="2465917"/>
            <a:ext cx="155642" cy="2237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054953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475895-F38A-E84A-1FCC-AD7520072E76}"/>
              </a:ext>
            </a:extLst>
          </p:cNvPr>
          <p:cNvSpPr>
            <a:spLocks noGrp="1"/>
          </p:cNvSpPr>
          <p:nvPr>
            <p:ph type="title"/>
          </p:nvPr>
        </p:nvSpPr>
        <p:spPr/>
        <p:txBody>
          <a:bodyPr/>
          <a:lstStyle/>
          <a:p>
            <a:r>
              <a:rPr lang="de-DE" dirty="0"/>
              <a:t>Special </a:t>
            </a:r>
            <a:r>
              <a:rPr lang="de-DE" dirty="0" err="1"/>
              <a:t>case</a:t>
            </a:r>
            <a:r>
              <a:rPr lang="de-DE" dirty="0"/>
              <a:t>: </a:t>
            </a:r>
            <a:r>
              <a:rPr lang="de-DE" dirty="0" err="1"/>
              <a:t>classification</a:t>
            </a:r>
            <a:r>
              <a:rPr lang="de-DE" dirty="0"/>
              <a:t> </a:t>
            </a:r>
            <a:r>
              <a:rPr lang="de-DE" dirty="0" err="1"/>
              <a:t>systems</a:t>
            </a:r>
            <a:endParaRPr lang="de-DE" dirty="0"/>
          </a:p>
        </p:txBody>
      </p:sp>
      <p:pic>
        <p:nvPicPr>
          <p:cNvPr id="7" name="Grafik 6">
            <a:extLst>
              <a:ext uri="{FF2B5EF4-FFF2-40B4-BE49-F238E27FC236}">
                <a16:creationId xmlns:a16="http://schemas.microsoft.com/office/drawing/2014/main" id="{13DF7FA8-A4F8-226B-7110-8E2EABEC4EE4}"/>
              </a:ext>
            </a:extLst>
          </p:cNvPr>
          <p:cNvPicPr>
            <a:picLocks noChangeAspect="1"/>
          </p:cNvPicPr>
          <p:nvPr/>
        </p:nvPicPr>
        <p:blipFill>
          <a:blip r:embed="rId2"/>
          <a:stretch>
            <a:fillRect/>
          </a:stretch>
        </p:blipFill>
        <p:spPr>
          <a:xfrm>
            <a:off x="0" y="2395127"/>
            <a:ext cx="7953829" cy="3386164"/>
          </a:xfrm>
          <a:prstGeom prst="rect">
            <a:avLst/>
          </a:prstGeom>
        </p:spPr>
      </p:pic>
      <p:sp>
        <p:nvSpPr>
          <p:cNvPr id="8" name="Textfeld 7">
            <a:extLst>
              <a:ext uri="{FF2B5EF4-FFF2-40B4-BE49-F238E27FC236}">
                <a16:creationId xmlns:a16="http://schemas.microsoft.com/office/drawing/2014/main" id="{5AB8107A-77A5-238A-D43A-851A7EAADC3F}"/>
              </a:ext>
            </a:extLst>
          </p:cNvPr>
          <p:cNvSpPr txBox="1"/>
          <p:nvPr/>
        </p:nvSpPr>
        <p:spPr>
          <a:xfrm>
            <a:off x="537029" y="1872343"/>
            <a:ext cx="5201552" cy="400110"/>
          </a:xfrm>
          <a:prstGeom prst="rect">
            <a:avLst/>
          </a:prstGeom>
          <a:noFill/>
        </p:spPr>
        <p:txBody>
          <a:bodyPr wrap="none" rtlCol="0">
            <a:spAutoFit/>
          </a:bodyPr>
          <a:lstStyle/>
          <a:p>
            <a:r>
              <a:rPr lang="de-DE" sz="2000" b="1" dirty="0"/>
              <a:t>International Classification </a:t>
            </a:r>
            <a:r>
              <a:rPr lang="de-DE" sz="2000" b="1" dirty="0" err="1"/>
              <a:t>of</a:t>
            </a:r>
            <a:r>
              <a:rPr lang="de-DE" sz="2000" b="1" dirty="0"/>
              <a:t> </a:t>
            </a:r>
            <a:r>
              <a:rPr lang="de-DE" sz="2000" b="1" dirty="0" err="1"/>
              <a:t>Diseases</a:t>
            </a:r>
            <a:r>
              <a:rPr lang="de-DE" sz="2000" b="1" dirty="0"/>
              <a:t> (ICD-10)</a:t>
            </a:r>
          </a:p>
        </p:txBody>
      </p:sp>
      <p:cxnSp>
        <p:nvCxnSpPr>
          <p:cNvPr id="11" name="Gerader Verbinder 10">
            <a:extLst>
              <a:ext uri="{FF2B5EF4-FFF2-40B4-BE49-F238E27FC236}">
                <a16:creationId xmlns:a16="http://schemas.microsoft.com/office/drawing/2014/main" id="{E4B5CD58-6206-52ED-2D20-5BF9460072EA}"/>
              </a:ext>
            </a:extLst>
          </p:cNvPr>
          <p:cNvCxnSpPr>
            <a:cxnSpLocks/>
          </p:cNvCxnSpPr>
          <p:nvPr/>
        </p:nvCxnSpPr>
        <p:spPr>
          <a:xfrm>
            <a:off x="2002972" y="3207657"/>
            <a:ext cx="53702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DFD0485B-0183-9CD3-28DF-E98BB8C5347D}"/>
              </a:ext>
            </a:extLst>
          </p:cNvPr>
          <p:cNvCxnSpPr>
            <a:cxnSpLocks/>
          </p:cNvCxnSpPr>
          <p:nvPr/>
        </p:nvCxnSpPr>
        <p:spPr>
          <a:xfrm>
            <a:off x="1988458" y="5384800"/>
            <a:ext cx="53702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ABBAEFE9-F6AD-238A-9B8C-256B00E39D40}"/>
              </a:ext>
            </a:extLst>
          </p:cNvPr>
          <p:cNvCxnSpPr>
            <a:cxnSpLocks/>
          </p:cNvCxnSpPr>
          <p:nvPr/>
        </p:nvCxnSpPr>
        <p:spPr>
          <a:xfrm>
            <a:off x="3788230" y="5781291"/>
            <a:ext cx="119017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735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475895-F38A-E84A-1FCC-AD7520072E76}"/>
              </a:ext>
            </a:extLst>
          </p:cNvPr>
          <p:cNvSpPr>
            <a:spLocks noGrp="1"/>
          </p:cNvSpPr>
          <p:nvPr>
            <p:ph type="title"/>
          </p:nvPr>
        </p:nvSpPr>
        <p:spPr/>
        <p:txBody>
          <a:bodyPr/>
          <a:lstStyle/>
          <a:p>
            <a:r>
              <a:rPr lang="de-DE" dirty="0"/>
              <a:t>"</a:t>
            </a:r>
            <a:r>
              <a:rPr lang="en-US" dirty="0"/>
              <a:t>Celestial Emporium of Benevolent Knowledge</a:t>
            </a:r>
            <a:r>
              <a:rPr lang="de-DE" dirty="0"/>
              <a:t>"</a:t>
            </a:r>
          </a:p>
        </p:txBody>
      </p:sp>
      <p:sp>
        <p:nvSpPr>
          <p:cNvPr id="3" name="Inhaltsplatzhalter 2">
            <a:extLst>
              <a:ext uri="{FF2B5EF4-FFF2-40B4-BE49-F238E27FC236}">
                <a16:creationId xmlns:a16="http://schemas.microsoft.com/office/drawing/2014/main" id="{E428BDED-B014-DEDA-0316-3EBDB13C53E7}"/>
              </a:ext>
            </a:extLst>
          </p:cNvPr>
          <p:cNvSpPr>
            <a:spLocks noGrp="1"/>
          </p:cNvSpPr>
          <p:nvPr>
            <p:ph idx="1"/>
          </p:nvPr>
        </p:nvSpPr>
        <p:spPr>
          <a:xfrm>
            <a:off x="150990" y="1514981"/>
            <a:ext cx="11425561" cy="4669655"/>
          </a:xfrm>
        </p:spPr>
        <p:txBody>
          <a:bodyPr/>
          <a:lstStyle/>
          <a:p>
            <a:pPr marL="0" indent="0">
              <a:buNone/>
            </a:pPr>
            <a:r>
              <a:rPr lang="en-US" sz="2400" b="1" dirty="0"/>
              <a:t>Satirical example of classification systems</a:t>
            </a:r>
            <a:r>
              <a:rPr lang="en-US" sz="2400" dirty="0"/>
              <a:t> by Jorge Luis Borges</a:t>
            </a:r>
          </a:p>
          <a:p>
            <a:pPr marL="0" indent="0">
              <a:buNone/>
            </a:pPr>
            <a:r>
              <a:rPr lang="en-US" sz="2000" dirty="0"/>
              <a:t>An ancient encyclopedia supposedly divides animals into the following 14 categories:</a:t>
            </a:r>
          </a:p>
          <a:p>
            <a:endParaRPr lang="de-DE" sz="2400" dirty="0"/>
          </a:p>
        </p:txBody>
      </p:sp>
      <p:sp>
        <p:nvSpPr>
          <p:cNvPr id="10" name="Textfeld 9">
            <a:extLst>
              <a:ext uri="{FF2B5EF4-FFF2-40B4-BE49-F238E27FC236}">
                <a16:creationId xmlns:a16="http://schemas.microsoft.com/office/drawing/2014/main" id="{048B3DC2-C0A6-716C-8E5B-21AAC9028CE5}"/>
              </a:ext>
            </a:extLst>
          </p:cNvPr>
          <p:cNvSpPr txBox="1"/>
          <p:nvPr/>
        </p:nvSpPr>
        <p:spPr>
          <a:xfrm>
            <a:off x="437966" y="2399622"/>
            <a:ext cx="5826723" cy="4370427"/>
          </a:xfrm>
          <a:prstGeom prst="rect">
            <a:avLst/>
          </a:prstGeom>
          <a:noFill/>
        </p:spPr>
        <p:txBody>
          <a:bodyPr wrap="none" rtlCol="0">
            <a:spAutoFit/>
          </a:bodyPr>
          <a:lstStyle/>
          <a:p>
            <a:pPr marL="342900" indent="-342900" fontAlgn="ctr">
              <a:buFont typeface="+mj-lt"/>
              <a:buAutoNum type="arabicPeriod"/>
            </a:pPr>
            <a:r>
              <a:rPr lang="es-ES" sz="2000" i="1" dirty="0"/>
              <a:t>pertenecientes al Emperador</a:t>
            </a:r>
            <a:endParaRPr lang="de-DE" sz="2000" dirty="0"/>
          </a:p>
          <a:p>
            <a:pPr marL="342900" indent="-342900" fontAlgn="ctr">
              <a:buFont typeface="+mj-lt"/>
              <a:buAutoNum type="arabicPeriod"/>
            </a:pPr>
            <a:r>
              <a:rPr lang="es-ES" sz="2000" i="1" dirty="0"/>
              <a:t>embalsamados</a:t>
            </a:r>
            <a:endParaRPr lang="de-DE" sz="2000" dirty="0"/>
          </a:p>
          <a:p>
            <a:pPr marL="342900" indent="-342900" fontAlgn="ctr">
              <a:buFont typeface="+mj-lt"/>
              <a:buAutoNum type="arabicPeriod"/>
            </a:pPr>
            <a:r>
              <a:rPr lang="es-ES" sz="2000" i="1" dirty="0"/>
              <a:t>amaestrados</a:t>
            </a:r>
            <a:endParaRPr lang="de-DE" sz="2000" dirty="0"/>
          </a:p>
          <a:p>
            <a:pPr marL="342900" indent="-342900" fontAlgn="ctr">
              <a:buFont typeface="+mj-lt"/>
              <a:buAutoNum type="arabicPeriod"/>
            </a:pPr>
            <a:r>
              <a:rPr lang="es-ES" sz="2000" i="1" dirty="0"/>
              <a:t>lechones</a:t>
            </a:r>
            <a:endParaRPr lang="de-DE" sz="2000" dirty="0"/>
          </a:p>
          <a:p>
            <a:pPr marL="342900" indent="-342900" fontAlgn="ctr">
              <a:buFont typeface="+mj-lt"/>
              <a:buAutoNum type="arabicPeriod"/>
            </a:pPr>
            <a:r>
              <a:rPr lang="es-ES" sz="2000" i="1" dirty="0"/>
              <a:t>sirenas</a:t>
            </a:r>
            <a:endParaRPr lang="de-DE" sz="2000" dirty="0"/>
          </a:p>
          <a:p>
            <a:pPr marL="342900" indent="-342900" fontAlgn="ctr">
              <a:buFont typeface="+mj-lt"/>
              <a:buAutoNum type="arabicPeriod"/>
            </a:pPr>
            <a:r>
              <a:rPr lang="es-ES" sz="2000" i="1" dirty="0"/>
              <a:t>fabulosos</a:t>
            </a:r>
            <a:endParaRPr lang="de-DE" sz="2000" dirty="0"/>
          </a:p>
          <a:p>
            <a:pPr marL="342900" indent="-342900" fontAlgn="ctr">
              <a:buFont typeface="+mj-lt"/>
              <a:buAutoNum type="arabicPeriod"/>
            </a:pPr>
            <a:r>
              <a:rPr lang="es-ES" sz="2000" i="1" dirty="0"/>
              <a:t>perros sueltos</a:t>
            </a:r>
            <a:endParaRPr lang="de-DE" sz="2000" dirty="0"/>
          </a:p>
          <a:p>
            <a:pPr marL="342900" indent="-342900" fontAlgn="ctr">
              <a:buFont typeface="+mj-lt"/>
              <a:buAutoNum type="arabicPeriod"/>
            </a:pPr>
            <a:r>
              <a:rPr lang="es-ES" sz="2000" i="1" dirty="0"/>
              <a:t>incluidos en esta clasificación</a:t>
            </a:r>
            <a:endParaRPr lang="de-DE" sz="2000" dirty="0"/>
          </a:p>
          <a:p>
            <a:pPr marL="342900" indent="-342900" fontAlgn="ctr">
              <a:buFont typeface="+mj-lt"/>
              <a:buAutoNum type="arabicPeriod"/>
            </a:pPr>
            <a:r>
              <a:rPr lang="es-ES" sz="2000" i="1" dirty="0"/>
              <a:t>que se agitan como locos</a:t>
            </a:r>
            <a:endParaRPr lang="de-DE" sz="2000" dirty="0"/>
          </a:p>
          <a:p>
            <a:pPr marL="342900" indent="-342900" fontAlgn="ctr">
              <a:buFont typeface="+mj-lt"/>
              <a:buAutoNum type="arabicPeriod"/>
            </a:pPr>
            <a:r>
              <a:rPr lang="es-ES" sz="2000" i="1" dirty="0"/>
              <a:t>innumerables</a:t>
            </a:r>
            <a:endParaRPr lang="de-DE" sz="2000" dirty="0"/>
          </a:p>
          <a:p>
            <a:pPr marL="342900" indent="-342900" fontAlgn="ctr">
              <a:buFont typeface="+mj-lt"/>
              <a:buAutoNum type="arabicPeriod"/>
            </a:pPr>
            <a:r>
              <a:rPr lang="es-ES" sz="2000" i="1" dirty="0"/>
              <a:t>dibujados con un pincel finísimo de pelo de camello</a:t>
            </a:r>
            <a:endParaRPr lang="de-DE" sz="2000" dirty="0"/>
          </a:p>
          <a:p>
            <a:pPr marL="342900" indent="-342900" fontAlgn="ctr">
              <a:buFont typeface="+mj-lt"/>
              <a:buAutoNum type="arabicPeriod"/>
            </a:pPr>
            <a:r>
              <a:rPr lang="es-ES" sz="2000" i="1" dirty="0"/>
              <a:t>etcétera</a:t>
            </a:r>
            <a:endParaRPr lang="de-DE" sz="2000" dirty="0"/>
          </a:p>
          <a:p>
            <a:pPr marL="342900" indent="-342900" fontAlgn="ctr">
              <a:buFont typeface="+mj-lt"/>
              <a:buAutoNum type="arabicPeriod"/>
            </a:pPr>
            <a:r>
              <a:rPr lang="es-ES" sz="2000" i="1" dirty="0"/>
              <a:t>que acaban de romper el jarrón</a:t>
            </a:r>
            <a:endParaRPr lang="de-DE" sz="2000" dirty="0"/>
          </a:p>
          <a:p>
            <a:pPr marL="342900" indent="-342900" fontAlgn="ctr">
              <a:buFont typeface="+mj-lt"/>
              <a:buAutoNum type="arabicPeriod"/>
            </a:pPr>
            <a:r>
              <a:rPr lang="es-ES" sz="2000" i="1" dirty="0"/>
              <a:t>que de lejos parecen moscas</a:t>
            </a:r>
            <a:endParaRPr lang="de-DE" sz="2000" dirty="0"/>
          </a:p>
        </p:txBody>
      </p:sp>
      <p:sp>
        <p:nvSpPr>
          <p:cNvPr id="12" name="Textfeld 11">
            <a:extLst>
              <a:ext uri="{FF2B5EF4-FFF2-40B4-BE49-F238E27FC236}">
                <a16:creationId xmlns:a16="http://schemas.microsoft.com/office/drawing/2014/main" id="{2FB370AB-6F5D-B8F2-3FE6-2FF4DE8EC6BE}"/>
              </a:ext>
            </a:extLst>
          </p:cNvPr>
          <p:cNvSpPr txBox="1"/>
          <p:nvPr/>
        </p:nvSpPr>
        <p:spPr>
          <a:xfrm>
            <a:off x="6183085" y="2399622"/>
            <a:ext cx="5890263" cy="4401205"/>
          </a:xfrm>
          <a:prstGeom prst="rect">
            <a:avLst/>
          </a:prstGeom>
          <a:noFill/>
        </p:spPr>
        <p:txBody>
          <a:bodyPr wrap="square" rtlCol="0">
            <a:spAutoFit/>
          </a:bodyPr>
          <a:lstStyle/>
          <a:p>
            <a:pPr marL="342900" indent="-342900">
              <a:buFont typeface="+mj-lt"/>
              <a:buAutoNum type="arabicPeriod"/>
            </a:pPr>
            <a:r>
              <a:rPr lang="en-US" sz="2000" i="1" dirty="0"/>
              <a:t>those belonging to the Emperor</a:t>
            </a:r>
          </a:p>
          <a:p>
            <a:pPr marL="342900" indent="-342900">
              <a:buFont typeface="+mj-lt"/>
              <a:buAutoNum type="arabicPeriod"/>
            </a:pPr>
            <a:r>
              <a:rPr lang="en-US" sz="2000" i="1" dirty="0"/>
              <a:t>embalmed ones</a:t>
            </a:r>
          </a:p>
          <a:p>
            <a:pPr marL="342900" indent="-342900">
              <a:buFont typeface="+mj-lt"/>
              <a:buAutoNum type="arabicPeriod"/>
            </a:pPr>
            <a:r>
              <a:rPr lang="en-US" sz="2000" i="1" dirty="0"/>
              <a:t>trained ones</a:t>
            </a:r>
          </a:p>
          <a:p>
            <a:pPr marL="342900" indent="-342900">
              <a:buFont typeface="+mj-lt"/>
              <a:buAutoNum type="arabicPeriod"/>
            </a:pPr>
            <a:r>
              <a:rPr lang="en-US" sz="2000" i="1" dirty="0"/>
              <a:t>suckling pigs</a:t>
            </a:r>
          </a:p>
          <a:p>
            <a:pPr marL="342900" indent="-342900">
              <a:buFont typeface="+mj-lt"/>
              <a:buAutoNum type="arabicPeriod"/>
            </a:pPr>
            <a:r>
              <a:rPr lang="en-US" sz="2000" i="1" dirty="0"/>
              <a:t>mermaids</a:t>
            </a:r>
          </a:p>
          <a:p>
            <a:pPr marL="342900" indent="-342900">
              <a:buFont typeface="+mj-lt"/>
              <a:buAutoNum type="arabicPeriod"/>
            </a:pPr>
            <a:r>
              <a:rPr lang="en-US" sz="2000" i="1" dirty="0"/>
              <a:t>fabulous ones</a:t>
            </a:r>
          </a:p>
          <a:p>
            <a:pPr marL="342900" indent="-342900">
              <a:buFont typeface="+mj-lt"/>
              <a:buAutoNum type="arabicPeriod"/>
            </a:pPr>
            <a:r>
              <a:rPr lang="en-US" sz="2000" i="1" dirty="0"/>
              <a:t>stray dogs</a:t>
            </a:r>
          </a:p>
          <a:p>
            <a:pPr marL="342900" indent="-342900">
              <a:buFont typeface="+mj-lt"/>
              <a:buAutoNum type="arabicPeriod"/>
            </a:pPr>
            <a:r>
              <a:rPr lang="en-US" sz="2000" i="1" dirty="0"/>
              <a:t>those included in this classification</a:t>
            </a:r>
          </a:p>
          <a:p>
            <a:pPr marL="342900" indent="-342900">
              <a:buFont typeface="+mj-lt"/>
              <a:buAutoNum type="arabicPeriod"/>
            </a:pPr>
            <a:r>
              <a:rPr lang="en-US" sz="2000" i="1" dirty="0"/>
              <a:t>those that tremble as if they were mad</a:t>
            </a:r>
          </a:p>
          <a:p>
            <a:pPr marL="342900" indent="-342900">
              <a:buFont typeface="+mj-lt"/>
              <a:buAutoNum type="arabicPeriod"/>
            </a:pPr>
            <a:r>
              <a:rPr lang="en-US" sz="2000" i="1" dirty="0"/>
              <a:t>innumerable ones</a:t>
            </a:r>
          </a:p>
          <a:p>
            <a:pPr marL="342900" indent="-342900">
              <a:buFont typeface="+mj-lt"/>
              <a:buAutoNum type="arabicPeriod"/>
            </a:pPr>
            <a:r>
              <a:rPr lang="en-US" sz="2000" i="1" dirty="0"/>
              <a:t>those drawn with a very fine camel hair brush</a:t>
            </a:r>
          </a:p>
          <a:p>
            <a:pPr marL="342900" indent="-342900">
              <a:buFont typeface="+mj-lt"/>
              <a:buAutoNum type="arabicPeriod"/>
            </a:pPr>
            <a:r>
              <a:rPr lang="en-US" sz="2000" i="1" dirty="0"/>
              <a:t>et cetera</a:t>
            </a:r>
          </a:p>
          <a:p>
            <a:pPr marL="342900" indent="-342900">
              <a:buFont typeface="+mj-lt"/>
              <a:buAutoNum type="arabicPeriod"/>
            </a:pPr>
            <a:r>
              <a:rPr lang="en-US" sz="2000" i="1" dirty="0"/>
              <a:t>those that have just broken the vase</a:t>
            </a:r>
          </a:p>
          <a:p>
            <a:pPr marL="342900" indent="-342900">
              <a:buFont typeface="+mj-lt"/>
              <a:buAutoNum type="arabicPeriod"/>
            </a:pPr>
            <a:r>
              <a:rPr lang="en-US" sz="2000" i="1" dirty="0"/>
              <a:t>those that from afar look like flies</a:t>
            </a:r>
          </a:p>
        </p:txBody>
      </p:sp>
    </p:spTree>
    <p:extLst>
      <p:ext uri="{BB962C8B-B14F-4D97-AF65-F5344CB8AC3E}">
        <p14:creationId xmlns:p14="http://schemas.microsoft.com/office/powerpoint/2010/main" val="211381769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1778</Words>
  <Application>Microsoft Office PowerPoint</Application>
  <PresentationFormat>Breitbild</PresentationFormat>
  <Paragraphs>258</Paragraphs>
  <Slides>21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Arial</vt:lpstr>
      <vt:lpstr>Calibri</vt:lpstr>
      <vt:lpstr>Calibri Light</vt:lpstr>
      <vt:lpstr>fkGroteskNeue</vt:lpstr>
      <vt:lpstr>Symbol</vt:lpstr>
      <vt:lpstr>Wingdings</vt:lpstr>
      <vt:lpstr>Office</vt:lpstr>
      <vt:lpstr>Ontology standardisation and interoperability </vt:lpstr>
      <vt:lpstr>Learning Objectives </vt:lpstr>
      <vt:lpstr>Some ontologies are recognised standards</vt:lpstr>
      <vt:lpstr>Example: aligning disease and related concepts (clinical conditions) with upper-level ontology</vt:lpstr>
      <vt:lpstr>Discussion of poll results</vt:lpstr>
      <vt:lpstr>Appendicitis in different biomedical ontologies</vt:lpstr>
      <vt:lpstr>Appendicitis in different biomedical ontologies</vt:lpstr>
      <vt:lpstr>Disease vs. Disorder</vt:lpstr>
      <vt:lpstr>Appendicitis in different biomedical ontologies</vt:lpstr>
      <vt:lpstr>Design pattern for diseases</vt:lpstr>
      <vt:lpstr>Logical polysemy</vt:lpstr>
      <vt:lpstr>Logical polysemy vs. real polysemy</vt:lpstr>
      <vt:lpstr>Scope of disease: extending and simplifying</vt:lpstr>
      <vt:lpstr>Disease vs. Diagnosis</vt:lpstr>
      <vt:lpstr>HL7-FHIR – Condition in context – framework for disease and related entities</vt:lpstr>
      <vt:lpstr>Conclusion</vt:lpstr>
      <vt:lpstr>Appendix</vt:lpstr>
      <vt:lpstr>Ontological clarity matters, particularly if used in healthcare and biomedical research</vt:lpstr>
      <vt:lpstr>Example - what is a clinical finding in SNOMED CT?</vt:lpstr>
      <vt:lpstr>Special case: classification systems</vt:lpstr>
      <vt:lpstr>"Celestial Emporium of Benevolent Knowledge"</vt:lpstr>
    </vt:vector>
  </TitlesOfParts>
  <Company>Medizinische Universitaet Graz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Aligning an administrative procedure coding system with SNOMED CT </dc:title>
  <dc:creator>Stefan Schulz</dc:creator>
  <cp:lastModifiedBy>Stefan Schulz</cp:lastModifiedBy>
  <cp:revision>133</cp:revision>
  <dcterms:created xsi:type="dcterms:W3CDTF">2019-09-22T09:30:36Z</dcterms:created>
  <dcterms:modified xsi:type="dcterms:W3CDTF">2025-09-18T06:30:20Z</dcterms:modified>
</cp:coreProperties>
</file>